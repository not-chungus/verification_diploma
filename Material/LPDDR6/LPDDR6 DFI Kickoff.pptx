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61" r:id="rId3"/>
    <p:sldId id="300" r:id="rId4"/>
    <p:sldId id="3461" r:id="rId5"/>
    <p:sldId id="302" r:id="rId6"/>
    <p:sldId id="303" r:id="rId7"/>
    <p:sldId id="3459" r:id="rId8"/>
    <p:sldId id="3462" r:id="rId9"/>
    <p:sldId id="304" r:id="rId10"/>
    <p:sldId id="305" r:id="rId11"/>
    <p:sldId id="3463" r:id="rId12"/>
    <p:sldId id="3464" r:id="rId13"/>
    <p:sldId id="306" r:id="rId14"/>
    <p:sldId id="3456" r:id="rId15"/>
    <p:sldId id="3439" r:id="rId16"/>
    <p:sldId id="3458" r:id="rId17"/>
    <p:sldId id="425" r:id="rId18"/>
    <p:sldId id="414" r:id="rId19"/>
    <p:sldId id="429" r:id="rId20"/>
    <p:sldId id="430" r:id="rId21"/>
    <p:sldId id="431" r:id="rId22"/>
    <p:sldId id="432" r:id="rId23"/>
    <p:sldId id="3465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EF"/>
    <a:srgbClr val="CBDEDE"/>
    <a:srgbClr val="FF0000"/>
    <a:srgbClr val="FFC400"/>
    <a:srgbClr val="002A3E"/>
    <a:srgbClr val="FFC000"/>
    <a:srgbClr val="1414FF"/>
    <a:srgbClr val="EF0137"/>
    <a:srgbClr val="AA32BE"/>
    <a:srgbClr val="CB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5607" autoAdjust="0"/>
  </p:normalViewPr>
  <p:slideViewPr>
    <p:cSldViewPr snapToGrid="0">
      <p:cViewPr>
        <p:scale>
          <a:sx n="75" d="100"/>
          <a:sy n="75" d="100"/>
        </p:scale>
        <p:origin x="9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8D8FB-B59A-4EC4-A531-C693C05B5FF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2F197-20A5-44C4-9817-4E7206BA3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73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2F197-20A5-44C4-9817-4E7206BA3E1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83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2F197-20A5-44C4-9817-4E7206BA3E1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90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2F197-20A5-44C4-9817-4E7206BA3E1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67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2F197-20A5-44C4-9817-4E7206BA3E1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3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2F197-20A5-44C4-9817-4E7206BA3E1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99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2F197-20A5-44C4-9817-4E7206BA3E1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98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00000"/>
                </a:solidFill>
                <a:latin typeface="Corbel" panose="020B0503020204020204" pitchFamily="34" charset="0"/>
              </a:rPr>
              <a:t>LP6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-DFI _driver hands to Driver BFM not from ???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rbel" panose="020B0503020204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	Hands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LP6 config was moved to be inside agent, as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each config per SC’s agent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2F197-20A5-44C4-9817-4E7206BA3E1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2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14"/>
            <a:ext cx="12192000" cy="6854572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16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24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>
            <a:extLst>
              <a:ext uri="{FF2B5EF4-FFF2-40B4-BE49-F238E27FC236}">
                <a16:creationId xmlns:a16="http://schemas.microsoft.com/office/drawing/2014/main" id="{AA220E05-4C1E-4F58-BFC0-57C07A95F70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74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8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99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7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light 80p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28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light 60p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81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14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14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15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404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96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5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58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249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73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14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 f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  <a:solidFill>
                  <a:schemeClr val="bg1"/>
                </a:solidFill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  <a:solidFill>
                  <a:schemeClr val="bg1"/>
                </a:solidFill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vert="horz" lIns="216000" tIns="144000" rIns="216000" bIns="144000" rtlCol="0">
            <a:noAutofit/>
          </a:bodyPr>
          <a:lstStyle>
            <a:lvl1pPr>
              <a:defRPr lang="en-US" dirty="0">
                <a:ln>
                  <a:noFill/>
                </a:ln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2" name="Title">
            <a:extLst>
              <a:ext uri="{FF2B5EF4-FFF2-40B4-BE49-F238E27FC236}">
                <a16:creationId xmlns:a16="http://schemas.microsoft.com/office/drawing/2014/main" id="{9ADC0F91-444B-0C47-804B-CA575449F4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478800"/>
            <a:ext cx="9863997" cy="576000"/>
          </a:xfrm>
        </p:spPr>
        <p:txBody>
          <a:bodyPr anchor="t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pic>
        <p:nvPicPr>
          <p:cNvPr id="15" name="Siemens Logo">
            <a:extLst>
              <a:ext uri="{FF2B5EF4-FFF2-40B4-BE49-F238E27FC236}">
                <a16:creationId xmlns:a16="http://schemas.microsoft.com/office/drawing/2014/main" id="{D1311A97-A00C-B34A-B9C0-D0F40110448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4472" y="6419088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78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91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30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lang="en-US" sz="8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Tx/>
              <a:buNone/>
              <a:defRPr sz="1400" b="1">
                <a:solidFill>
                  <a:schemeClr val="bg1"/>
                </a:solidFill>
              </a:defRPr>
            </a:lvl2pPr>
            <a:lvl3pPr marL="180000" indent="-180000" algn="l">
              <a:spcAft>
                <a:spcPts val="0"/>
              </a:spcAft>
              <a:buFontTx/>
              <a:buNone/>
              <a:defRPr sz="1400" b="0"/>
            </a:lvl3pPr>
            <a:lvl4pPr marL="360000" indent="-180000" algn="l">
              <a:spcAft>
                <a:spcPts val="0"/>
              </a:spcAft>
              <a:buFontTx/>
              <a:buNone/>
              <a:defRPr sz="1400"/>
            </a:lvl4pPr>
            <a:lvl5pPr marL="360000" indent="-180000" algn="l">
              <a:spcAft>
                <a:spcPts val="0"/>
              </a:spcAft>
              <a:buFontTx/>
              <a:buNone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agenda</a:t>
            </a:r>
            <a:br>
              <a:rPr lang="en-US" dirty="0"/>
            </a:br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  <a:p>
            <a:pPr lvl="1"/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Siemens Logo">
            <a:extLst>
              <a:ext uri="{FF2B5EF4-FFF2-40B4-BE49-F238E27FC236}">
                <a16:creationId xmlns:a16="http://schemas.microsoft.com/office/drawing/2014/main" id="{ECEAA6E3-1B84-5F4F-AA15-65CC04A1F3F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4472" y="6419088"/>
            <a:ext cx="1152144" cy="18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8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lang="en-US" sz="1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2pPr>
            <a:lvl3pPr marL="180000" indent="-180000" algn="l"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3pPr>
            <a:lvl4pPr marL="360000" indent="-180000" algn="l"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</a:defRPr>
            </a:lvl4pPr>
            <a:lvl5pPr marL="360000" indent="-180000" algn="l">
              <a:spcAft>
                <a:spcPts val="0"/>
              </a:spcAft>
              <a:buFontTx/>
              <a:buNone/>
              <a:defRPr sz="1400" b="1">
                <a:solidFill>
                  <a:schemeClr val="bg1"/>
                </a:solidFill>
              </a:defRPr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marL="0" lvl="1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Department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CAF3A8F5-231C-C244-A601-14611686B1C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9088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22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0467-6126-4A49-817D-63D003C91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7D7DD-1F75-45F2-8CD0-E87C55D28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DC11A-4FCC-4ABC-BB4A-DA1C5454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D9297-D804-45CD-8245-9320D071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1CAE5-B4FE-4C41-BEDC-B874ACEE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A47D-D1AE-4870-AB76-F89D0F0A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653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A380-A441-487E-BC28-F02DD89A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B55C-FE35-42F7-BEA8-861514378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61CCF-BE08-4A58-97D7-AC1AB722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929DF-5550-4B13-AF58-329F14C5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863D8-0406-49DF-8EA6-A7A8DAF8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A47D-D1AE-4870-AB76-F89D0F0A0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45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7CA37-4BA5-487C-B0D4-851034F8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518EE-DE53-4F91-84BE-DCE22EAE1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DD79A-990A-44D0-A31D-DAEE542A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1BCB-7B2A-4B12-B784-4699C03E1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79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13AF-A08F-9CA1-F89F-BF8F80EE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4"/>
            <a:ext cx="11376788" cy="923330"/>
          </a:xfrm>
        </p:spPr>
        <p:txBody>
          <a:bodyPr/>
          <a:lstStyle/>
          <a:p>
            <a:r>
              <a:rPr lang="en-US" sz="6000" dirty="0"/>
              <a:t>LPDDR6 DFI Kickoff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4F45F-1A09-EC48-3901-91C8747A67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Kerollos Aweida</a:t>
            </a:r>
          </a:p>
          <a:p>
            <a:r>
              <a:rPr lang="en-US"/>
              <a:t>Moamen Hussein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7C4F0-EB29-509A-5B47-0B90FD0E59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60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9E12-0E77-56C5-13E1-C5CF2FEE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31E7B-0BA9-CBDC-8803-C47712ACD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514" y="2397324"/>
            <a:ext cx="9370886" cy="340975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LPDDR6 DFI interface.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Frequency Ratios (</a:t>
            </a:r>
            <a:r>
              <a:rPr lang="en-US" dirty="0" err="1"/>
              <a:t>Cmd</a:t>
            </a:r>
            <a:r>
              <a:rPr lang="en-US" dirty="0"/>
              <a:t> ratio , Data ratio)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Main features</a:t>
            </a:r>
          </a:p>
          <a:p>
            <a:pPr marL="465750" lvl="2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DBI inversion</a:t>
            </a:r>
          </a:p>
          <a:p>
            <a:pPr marL="465750" lvl="2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Even Cycle command only</a:t>
            </a:r>
          </a:p>
          <a:p>
            <a:pPr marL="465750" lvl="2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Read data rotation</a:t>
            </a:r>
          </a:p>
          <a:p>
            <a:pPr marL="465750" lvl="2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Low power control</a:t>
            </a:r>
          </a:p>
          <a:p>
            <a:pPr marL="465750" lvl="2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lvl="2" indent="0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2B0CB-DD69-2D64-16E9-7AF182A570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238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15E1-B58F-00C6-8B2D-C7BAA7649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3"/>
            <a:ext cx="9288000" cy="615553"/>
          </a:xfrm>
        </p:spPr>
        <p:txBody>
          <a:bodyPr/>
          <a:lstStyle/>
          <a:p>
            <a:r>
              <a:rPr lang="en-US" dirty="0"/>
              <a:t>LPDDR6 DFI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DB659-E885-0BBB-52E5-FB15D87B65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77904-FA61-E422-EE3D-C7B1730526A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2025-11-10 | LPDDR6 DFI </a:t>
            </a:r>
            <a:r>
              <a:rPr lang="en-US" dirty="0" err="1"/>
              <a:t>Softmodel</a:t>
            </a:r>
            <a:r>
              <a:rPr lang="en-US" dirty="0"/>
              <a:t> | Siemens Digital Industries Software | Where today meets tomorrow.</a:t>
            </a:r>
          </a:p>
        </p:txBody>
      </p:sp>
    </p:spTree>
    <p:extLst>
      <p:ext uri="{BB962C8B-B14F-4D97-AF65-F5344CB8AC3E}">
        <p14:creationId xmlns:p14="http://schemas.microsoft.com/office/powerpoint/2010/main" val="4050351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9D0C1-3E6C-83C2-9D54-EEC6B14C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A4A190-F4D0-7E94-8694-FD2BCE4797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1495E61-F4A5-C76E-3FB6-5AAFFA35627F}"/>
              </a:ext>
            </a:extLst>
          </p:cNvPr>
          <p:cNvSpPr/>
          <p:nvPr/>
        </p:nvSpPr>
        <p:spPr>
          <a:xfrm>
            <a:off x="3312344" y="305099"/>
            <a:ext cx="7050770" cy="5984146"/>
          </a:xfrm>
          <a:prstGeom prst="rect">
            <a:avLst/>
          </a:prstGeom>
          <a:solidFill>
            <a:srgbClr val="CADAA9"/>
          </a:solidFill>
          <a:ln w="19050">
            <a:solidFill>
              <a:srgbClr val="94A9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00" b="1" dirty="0">
              <a:solidFill>
                <a:srgbClr val="59673B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0EEED7-DDA4-63D4-83E6-3910AA7511E7}"/>
              </a:ext>
            </a:extLst>
          </p:cNvPr>
          <p:cNvSpPr txBox="1"/>
          <p:nvPr/>
        </p:nvSpPr>
        <p:spPr>
          <a:xfrm>
            <a:off x="8116929" y="370549"/>
            <a:ext cx="1929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LPDDR6_dfi_phy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6C6619E-3E77-4C09-350F-2C64ED6391B9}"/>
              </a:ext>
            </a:extLst>
          </p:cNvPr>
          <p:cNvCxnSpPr>
            <a:cxnSpLocks/>
          </p:cNvCxnSpPr>
          <p:nvPr/>
        </p:nvCxnSpPr>
        <p:spPr>
          <a:xfrm>
            <a:off x="2272853" y="569078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7FF1D3E-308C-90FB-5F13-3E4E556F2807}"/>
              </a:ext>
            </a:extLst>
          </p:cNvPr>
          <p:cNvSpPr txBox="1"/>
          <p:nvPr/>
        </p:nvSpPr>
        <p:spPr>
          <a:xfrm>
            <a:off x="2446757" y="491913"/>
            <a:ext cx="7042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dfi_sc0_cs_p_N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77B0C9B-EABC-BA9B-27B1-0BD03C3E77BD}"/>
              </a:ext>
            </a:extLst>
          </p:cNvPr>
          <p:cNvCxnSpPr>
            <a:cxnSpLocks/>
          </p:cNvCxnSpPr>
          <p:nvPr/>
        </p:nvCxnSpPr>
        <p:spPr>
          <a:xfrm>
            <a:off x="2279791" y="655387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613A63A-4F29-A2F1-091C-EDC7E7373004}"/>
              </a:ext>
            </a:extLst>
          </p:cNvPr>
          <p:cNvSpPr txBox="1">
            <a:spLocks/>
          </p:cNvSpPr>
          <p:nvPr/>
        </p:nvSpPr>
        <p:spPr>
          <a:xfrm>
            <a:off x="2336595" y="578222"/>
            <a:ext cx="8213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dfi_sc0_address_p_N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9EEA594-DEFE-E244-B762-7432FCA90E3F}"/>
              </a:ext>
            </a:extLst>
          </p:cNvPr>
          <p:cNvCxnSpPr>
            <a:cxnSpLocks/>
          </p:cNvCxnSpPr>
          <p:nvPr/>
        </p:nvCxnSpPr>
        <p:spPr>
          <a:xfrm>
            <a:off x="2292247" y="910476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A82FCD9F-8C70-8E63-2201-4A1E93AA0D03}"/>
              </a:ext>
            </a:extLst>
          </p:cNvPr>
          <p:cNvSpPr txBox="1"/>
          <p:nvPr/>
        </p:nvSpPr>
        <p:spPr>
          <a:xfrm>
            <a:off x="2349051" y="833311"/>
            <a:ext cx="8213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dfi_sc0_wrdata_p_N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9E3E79A-C7AC-C49D-04F7-AB4F202E2643}"/>
              </a:ext>
            </a:extLst>
          </p:cNvPr>
          <p:cNvCxnSpPr>
            <a:cxnSpLocks/>
          </p:cNvCxnSpPr>
          <p:nvPr/>
        </p:nvCxnSpPr>
        <p:spPr>
          <a:xfrm>
            <a:off x="2292245" y="1031005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6E29F77-1A9D-DFDE-AE2D-11F88B0BEA33}"/>
              </a:ext>
            </a:extLst>
          </p:cNvPr>
          <p:cNvSpPr txBox="1">
            <a:spLocks/>
          </p:cNvSpPr>
          <p:nvPr/>
        </p:nvSpPr>
        <p:spPr>
          <a:xfrm>
            <a:off x="2298253" y="953840"/>
            <a:ext cx="87218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dfi_sc0_wrdata_en_p_N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3AD70EC-1CCC-4254-3519-D589FF2063C3}"/>
              </a:ext>
            </a:extLst>
          </p:cNvPr>
          <p:cNvCxnSpPr>
            <a:cxnSpLocks/>
          </p:cNvCxnSpPr>
          <p:nvPr/>
        </p:nvCxnSpPr>
        <p:spPr>
          <a:xfrm>
            <a:off x="2262885" y="1245955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43FD959F-F628-C36C-5AE9-18A6739745FC}"/>
              </a:ext>
            </a:extLst>
          </p:cNvPr>
          <p:cNvSpPr txBox="1"/>
          <p:nvPr/>
        </p:nvSpPr>
        <p:spPr>
          <a:xfrm>
            <a:off x="2268893" y="1168790"/>
            <a:ext cx="87218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dfi_sc0_rddata_en_p_N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3A3BCE7-DAB6-8379-7E6E-BF0900D9FD5C}"/>
              </a:ext>
            </a:extLst>
          </p:cNvPr>
          <p:cNvCxnSpPr>
            <a:cxnSpLocks/>
          </p:cNvCxnSpPr>
          <p:nvPr/>
        </p:nvCxnSpPr>
        <p:spPr>
          <a:xfrm flipH="1">
            <a:off x="2264873" y="1377648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B8038A45-3A9B-696C-6A8F-EB0F5C3CB2F2}"/>
              </a:ext>
            </a:extLst>
          </p:cNvPr>
          <p:cNvSpPr txBox="1"/>
          <p:nvPr/>
        </p:nvSpPr>
        <p:spPr>
          <a:xfrm>
            <a:off x="2225022" y="1286818"/>
            <a:ext cx="94344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dfi_sc0_rddata_valid_w_N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A93C05E-A64B-BAA7-77EA-F9F7BCEDB232}"/>
              </a:ext>
            </a:extLst>
          </p:cNvPr>
          <p:cNvCxnSpPr>
            <a:cxnSpLocks/>
          </p:cNvCxnSpPr>
          <p:nvPr/>
        </p:nvCxnSpPr>
        <p:spPr>
          <a:xfrm flipH="1">
            <a:off x="2264547" y="1506347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C86587F-90CE-618D-59C0-ACA37548F9C4}"/>
              </a:ext>
            </a:extLst>
          </p:cNvPr>
          <p:cNvSpPr txBox="1"/>
          <p:nvPr/>
        </p:nvSpPr>
        <p:spPr>
          <a:xfrm>
            <a:off x="2405587" y="1432366"/>
            <a:ext cx="94344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dfi_sc0_rddata_w_N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ADDBE79-E334-5B40-C871-8E293FAB5904}"/>
              </a:ext>
            </a:extLst>
          </p:cNvPr>
          <p:cNvCxnSpPr>
            <a:cxnSpLocks/>
          </p:cNvCxnSpPr>
          <p:nvPr/>
        </p:nvCxnSpPr>
        <p:spPr>
          <a:xfrm>
            <a:off x="2270539" y="1701554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18FF7F66-95AF-6AAB-4983-6B1C49A72690}"/>
              </a:ext>
            </a:extLst>
          </p:cNvPr>
          <p:cNvSpPr txBox="1"/>
          <p:nvPr/>
        </p:nvSpPr>
        <p:spPr>
          <a:xfrm>
            <a:off x="2327343" y="1624389"/>
            <a:ext cx="8213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dfi_sc0_cmd_freq_ratio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B17EB65-F814-26C7-2147-0CD96D5C584D}"/>
              </a:ext>
            </a:extLst>
          </p:cNvPr>
          <p:cNvCxnSpPr>
            <a:cxnSpLocks/>
          </p:cNvCxnSpPr>
          <p:nvPr/>
        </p:nvCxnSpPr>
        <p:spPr>
          <a:xfrm>
            <a:off x="2292245" y="1809266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68A6297-85A3-479E-0536-FEC74B3D5C3D}"/>
              </a:ext>
            </a:extLst>
          </p:cNvPr>
          <p:cNvSpPr txBox="1"/>
          <p:nvPr/>
        </p:nvSpPr>
        <p:spPr>
          <a:xfrm>
            <a:off x="2298253" y="1732101"/>
            <a:ext cx="87218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dfi_sc0_data_freq_ratio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0F49F93-5BE9-6F22-51E5-864E8B70985D}"/>
              </a:ext>
            </a:extLst>
          </p:cNvPr>
          <p:cNvCxnSpPr>
            <a:cxnSpLocks/>
          </p:cNvCxnSpPr>
          <p:nvPr/>
        </p:nvCxnSpPr>
        <p:spPr>
          <a:xfrm>
            <a:off x="2298607" y="1926849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5AADDEE-40BD-2862-68E2-14D1272160A7}"/>
              </a:ext>
            </a:extLst>
          </p:cNvPr>
          <p:cNvSpPr txBox="1"/>
          <p:nvPr/>
        </p:nvSpPr>
        <p:spPr>
          <a:xfrm>
            <a:off x="2677901" y="1849685"/>
            <a:ext cx="4989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 err="1"/>
              <a:t>dfi_freq_ratio</a:t>
            </a:r>
            <a:endParaRPr lang="en-US" sz="600" dirty="0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5465FB6-5967-3047-4BD0-2F8260D3D1FB}"/>
              </a:ext>
            </a:extLst>
          </p:cNvPr>
          <p:cNvCxnSpPr>
            <a:cxnSpLocks/>
          </p:cNvCxnSpPr>
          <p:nvPr/>
        </p:nvCxnSpPr>
        <p:spPr>
          <a:xfrm>
            <a:off x="2289486" y="2047881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75EEEF9C-71A1-B950-4CFA-2800C36A7A8E}"/>
              </a:ext>
            </a:extLst>
          </p:cNvPr>
          <p:cNvSpPr txBox="1"/>
          <p:nvPr/>
        </p:nvSpPr>
        <p:spPr>
          <a:xfrm>
            <a:off x="2571644" y="1970717"/>
            <a:ext cx="59603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dfi_sc0_init_start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0ABA784B-F237-3082-138F-CB5D4C3620FC}"/>
              </a:ext>
            </a:extLst>
          </p:cNvPr>
          <p:cNvCxnSpPr>
            <a:cxnSpLocks/>
          </p:cNvCxnSpPr>
          <p:nvPr/>
        </p:nvCxnSpPr>
        <p:spPr>
          <a:xfrm flipH="1">
            <a:off x="2273319" y="2173632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2582DC7B-1BF1-7E91-EE00-22AE43FD6DBF}"/>
              </a:ext>
            </a:extLst>
          </p:cNvPr>
          <p:cNvSpPr txBox="1"/>
          <p:nvPr/>
        </p:nvSpPr>
        <p:spPr>
          <a:xfrm>
            <a:off x="2431714" y="2096770"/>
            <a:ext cx="745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dfi_sc0_init_complete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DACA43B-4FB3-83C1-3D0F-B83C645CE777}"/>
              </a:ext>
            </a:extLst>
          </p:cNvPr>
          <p:cNvCxnSpPr>
            <a:cxnSpLocks/>
          </p:cNvCxnSpPr>
          <p:nvPr/>
        </p:nvCxnSpPr>
        <p:spPr>
          <a:xfrm>
            <a:off x="2275428" y="2389249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6A95E041-5DD1-E844-A913-2D531B192832}"/>
              </a:ext>
            </a:extLst>
          </p:cNvPr>
          <p:cNvSpPr txBox="1"/>
          <p:nvPr/>
        </p:nvSpPr>
        <p:spPr>
          <a:xfrm>
            <a:off x="2504535" y="2312085"/>
            <a:ext cx="64908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dfi_sc0_lp_ctrl_req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E7ABC93-3E27-3339-8D96-630CF22044FF}"/>
              </a:ext>
            </a:extLst>
          </p:cNvPr>
          <p:cNvCxnSpPr>
            <a:cxnSpLocks/>
          </p:cNvCxnSpPr>
          <p:nvPr/>
        </p:nvCxnSpPr>
        <p:spPr>
          <a:xfrm flipH="1">
            <a:off x="2281488" y="2605930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523F308-D200-D6C9-B39D-A79074546689}"/>
              </a:ext>
            </a:extLst>
          </p:cNvPr>
          <p:cNvSpPr txBox="1"/>
          <p:nvPr/>
        </p:nvSpPr>
        <p:spPr>
          <a:xfrm>
            <a:off x="2439883" y="2529068"/>
            <a:ext cx="745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dfi_sc0_lp_ctrl_ack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0F2B651-30E5-B3CC-3E84-8DC41E15477A}"/>
              </a:ext>
            </a:extLst>
          </p:cNvPr>
          <p:cNvCxnSpPr>
            <a:cxnSpLocks/>
          </p:cNvCxnSpPr>
          <p:nvPr/>
        </p:nvCxnSpPr>
        <p:spPr>
          <a:xfrm>
            <a:off x="2299185" y="2507739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A8D16672-F85C-6292-D8FB-6D685543B34A}"/>
              </a:ext>
            </a:extLst>
          </p:cNvPr>
          <p:cNvSpPr txBox="1"/>
          <p:nvPr/>
        </p:nvSpPr>
        <p:spPr>
          <a:xfrm>
            <a:off x="2349051" y="2430575"/>
            <a:ext cx="82832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dfi_sc0_lp_ctrl_wakeup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4B86C45-C6C9-EA77-6DB2-10685C601D1C}"/>
              </a:ext>
            </a:extLst>
          </p:cNvPr>
          <p:cNvCxnSpPr>
            <a:cxnSpLocks/>
          </p:cNvCxnSpPr>
          <p:nvPr/>
        </p:nvCxnSpPr>
        <p:spPr>
          <a:xfrm>
            <a:off x="2289486" y="2795758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F3940B1E-E9C6-616A-818C-DAE7F27A47CF}"/>
              </a:ext>
            </a:extLst>
          </p:cNvPr>
          <p:cNvSpPr txBox="1"/>
          <p:nvPr/>
        </p:nvSpPr>
        <p:spPr>
          <a:xfrm>
            <a:off x="2752085" y="2709087"/>
            <a:ext cx="388993" cy="953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dfi_sc0_clk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7B2DDFE-3032-CE3A-C318-23196754A0B4}"/>
              </a:ext>
            </a:extLst>
          </p:cNvPr>
          <p:cNvCxnSpPr>
            <a:cxnSpLocks/>
          </p:cNvCxnSpPr>
          <p:nvPr/>
        </p:nvCxnSpPr>
        <p:spPr>
          <a:xfrm>
            <a:off x="2284591" y="2896940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4D8D7BB6-9204-017D-0939-090EC821D235}"/>
              </a:ext>
            </a:extLst>
          </p:cNvPr>
          <p:cNvSpPr txBox="1"/>
          <p:nvPr/>
        </p:nvSpPr>
        <p:spPr>
          <a:xfrm>
            <a:off x="2571643" y="2819775"/>
            <a:ext cx="59114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dfi_sc0_phy_clk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9056597B-00C8-D280-6229-DEEB0A39A2D0}"/>
              </a:ext>
            </a:extLst>
          </p:cNvPr>
          <p:cNvCxnSpPr>
            <a:cxnSpLocks/>
          </p:cNvCxnSpPr>
          <p:nvPr/>
        </p:nvCxnSpPr>
        <p:spPr>
          <a:xfrm>
            <a:off x="2290953" y="3014523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EE555B38-6E15-021B-E5C5-2599AC1242D1}"/>
              </a:ext>
            </a:extLst>
          </p:cNvPr>
          <p:cNvSpPr txBox="1"/>
          <p:nvPr/>
        </p:nvSpPr>
        <p:spPr>
          <a:xfrm>
            <a:off x="2670247" y="2937359"/>
            <a:ext cx="4989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dfi_sc0_wck</a:t>
            </a:r>
          </a:p>
        </p:txBody>
      </p:sp>
      <p:sp>
        <p:nvSpPr>
          <p:cNvPr id="135" name="Left Brace 134">
            <a:extLst>
              <a:ext uri="{FF2B5EF4-FFF2-40B4-BE49-F238E27FC236}">
                <a16:creationId xmlns:a16="http://schemas.microsoft.com/office/drawing/2014/main" id="{ECCE67F9-861D-547E-E65D-0443EECDF331}"/>
              </a:ext>
            </a:extLst>
          </p:cNvPr>
          <p:cNvSpPr/>
          <p:nvPr/>
        </p:nvSpPr>
        <p:spPr>
          <a:xfrm>
            <a:off x="2145899" y="511946"/>
            <a:ext cx="136568" cy="240427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Left Brace 135">
            <a:extLst>
              <a:ext uri="{FF2B5EF4-FFF2-40B4-BE49-F238E27FC236}">
                <a16:creationId xmlns:a16="http://schemas.microsoft.com/office/drawing/2014/main" id="{E609032A-D5E8-DAF5-2999-75EF96010BD7}"/>
              </a:ext>
            </a:extLst>
          </p:cNvPr>
          <p:cNvSpPr/>
          <p:nvPr/>
        </p:nvSpPr>
        <p:spPr>
          <a:xfrm>
            <a:off x="2140108" y="889941"/>
            <a:ext cx="136568" cy="240427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Left Brace 136">
            <a:extLst>
              <a:ext uri="{FF2B5EF4-FFF2-40B4-BE49-F238E27FC236}">
                <a16:creationId xmlns:a16="http://schemas.microsoft.com/office/drawing/2014/main" id="{8DA3713E-EE46-A921-B78F-C397A03E97CD}"/>
              </a:ext>
            </a:extLst>
          </p:cNvPr>
          <p:cNvSpPr/>
          <p:nvPr/>
        </p:nvSpPr>
        <p:spPr>
          <a:xfrm>
            <a:off x="2087444" y="1225420"/>
            <a:ext cx="175896" cy="397154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Left Brace 137">
            <a:extLst>
              <a:ext uri="{FF2B5EF4-FFF2-40B4-BE49-F238E27FC236}">
                <a16:creationId xmlns:a16="http://schemas.microsoft.com/office/drawing/2014/main" id="{49D78D91-E41D-A4FB-DE9A-87C9E5C183D9}"/>
              </a:ext>
            </a:extLst>
          </p:cNvPr>
          <p:cNvSpPr/>
          <p:nvPr/>
        </p:nvSpPr>
        <p:spPr>
          <a:xfrm>
            <a:off x="2083919" y="1650206"/>
            <a:ext cx="158982" cy="622428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Left Brace 138">
            <a:extLst>
              <a:ext uri="{FF2B5EF4-FFF2-40B4-BE49-F238E27FC236}">
                <a16:creationId xmlns:a16="http://schemas.microsoft.com/office/drawing/2014/main" id="{17FEE536-4F0F-608F-CD28-E806FE6BF5FB}"/>
              </a:ext>
            </a:extLst>
          </p:cNvPr>
          <p:cNvSpPr/>
          <p:nvPr/>
        </p:nvSpPr>
        <p:spPr>
          <a:xfrm>
            <a:off x="2088961" y="2350984"/>
            <a:ext cx="153939" cy="397153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Left Brace 139">
            <a:extLst>
              <a:ext uri="{FF2B5EF4-FFF2-40B4-BE49-F238E27FC236}">
                <a16:creationId xmlns:a16="http://schemas.microsoft.com/office/drawing/2014/main" id="{3D3CD70F-A8B1-3EF5-B1DF-7544C985A8A7}"/>
              </a:ext>
            </a:extLst>
          </p:cNvPr>
          <p:cNvSpPr/>
          <p:nvPr/>
        </p:nvSpPr>
        <p:spPr>
          <a:xfrm>
            <a:off x="2105086" y="2768203"/>
            <a:ext cx="141904" cy="335063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DBFC3C2-9678-8973-D17B-0E6AAB5D598D}"/>
              </a:ext>
            </a:extLst>
          </p:cNvPr>
          <p:cNvSpPr txBox="1"/>
          <p:nvPr/>
        </p:nvSpPr>
        <p:spPr>
          <a:xfrm>
            <a:off x="1114838" y="569078"/>
            <a:ext cx="102990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Command interface SC0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8AF27F3-0964-F68A-7A33-91B7CE1366D9}"/>
              </a:ext>
            </a:extLst>
          </p:cNvPr>
          <p:cNvSpPr txBox="1"/>
          <p:nvPr/>
        </p:nvSpPr>
        <p:spPr>
          <a:xfrm>
            <a:off x="1059160" y="943744"/>
            <a:ext cx="102990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Write Data interface  SC0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F15007F-0F97-CE9C-4F29-B4E80D2CF378}"/>
              </a:ext>
            </a:extLst>
          </p:cNvPr>
          <p:cNvSpPr txBox="1"/>
          <p:nvPr/>
        </p:nvSpPr>
        <p:spPr>
          <a:xfrm>
            <a:off x="1059160" y="1336942"/>
            <a:ext cx="102990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Read Data interface  SC0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DA7B916-9AD5-A15C-62EF-9C77967477B8}"/>
              </a:ext>
            </a:extLst>
          </p:cNvPr>
          <p:cNvSpPr txBox="1"/>
          <p:nvPr/>
        </p:nvSpPr>
        <p:spPr>
          <a:xfrm>
            <a:off x="1209211" y="1912041"/>
            <a:ext cx="93625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Status interface  SC0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1594F5E-8E06-E06A-EC21-240AD1C05FDC}"/>
              </a:ext>
            </a:extLst>
          </p:cNvPr>
          <p:cNvSpPr txBox="1"/>
          <p:nvPr/>
        </p:nvSpPr>
        <p:spPr>
          <a:xfrm>
            <a:off x="1071033" y="2500335"/>
            <a:ext cx="108840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Low power  interface  SC0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98C0900-040F-EC31-FE6F-98D5963EE4FE}"/>
              </a:ext>
            </a:extLst>
          </p:cNvPr>
          <p:cNvSpPr txBox="1"/>
          <p:nvPr/>
        </p:nvSpPr>
        <p:spPr>
          <a:xfrm>
            <a:off x="1494502" y="2959097"/>
            <a:ext cx="93625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clocking  SC0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89C54502-BADD-2605-B61A-12FA39FB8FEF}"/>
              </a:ext>
            </a:extLst>
          </p:cNvPr>
          <p:cNvCxnSpPr>
            <a:cxnSpLocks/>
          </p:cNvCxnSpPr>
          <p:nvPr/>
        </p:nvCxnSpPr>
        <p:spPr>
          <a:xfrm>
            <a:off x="2272853" y="3546748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85D263BB-AE29-933A-0556-B8C20ED8A84C}"/>
              </a:ext>
            </a:extLst>
          </p:cNvPr>
          <p:cNvSpPr txBox="1"/>
          <p:nvPr/>
        </p:nvSpPr>
        <p:spPr>
          <a:xfrm>
            <a:off x="2446757" y="3469583"/>
            <a:ext cx="7042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dfi_sc1_cs_p_N</a:t>
            </a: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FCA4AF6B-9408-232F-7203-EBA0DA983ED7}"/>
              </a:ext>
            </a:extLst>
          </p:cNvPr>
          <p:cNvCxnSpPr>
            <a:cxnSpLocks/>
          </p:cNvCxnSpPr>
          <p:nvPr/>
        </p:nvCxnSpPr>
        <p:spPr>
          <a:xfrm>
            <a:off x="2279791" y="3633057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4C4ABD89-BE88-1DA9-65CC-4C92283B21B2}"/>
              </a:ext>
            </a:extLst>
          </p:cNvPr>
          <p:cNvSpPr txBox="1">
            <a:spLocks/>
          </p:cNvSpPr>
          <p:nvPr/>
        </p:nvSpPr>
        <p:spPr>
          <a:xfrm>
            <a:off x="2336595" y="3555892"/>
            <a:ext cx="8213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dfi_sc1_address_p_N</a:t>
            </a:r>
          </a:p>
        </p:txBody>
      </p: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49ECEA16-C410-E3AB-C2D1-4A135F9A9E61}"/>
              </a:ext>
            </a:extLst>
          </p:cNvPr>
          <p:cNvCxnSpPr>
            <a:cxnSpLocks/>
          </p:cNvCxnSpPr>
          <p:nvPr/>
        </p:nvCxnSpPr>
        <p:spPr>
          <a:xfrm>
            <a:off x="2292247" y="3888146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218CD81B-3409-B6D8-7D47-D0AAE43F9A3C}"/>
              </a:ext>
            </a:extLst>
          </p:cNvPr>
          <p:cNvSpPr txBox="1"/>
          <p:nvPr/>
        </p:nvSpPr>
        <p:spPr>
          <a:xfrm>
            <a:off x="2349051" y="3810981"/>
            <a:ext cx="8213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dfi_sc1_wrdata_p_N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DB763B86-E0C7-9D78-6C10-021C6D09C925}"/>
              </a:ext>
            </a:extLst>
          </p:cNvPr>
          <p:cNvCxnSpPr>
            <a:cxnSpLocks/>
          </p:cNvCxnSpPr>
          <p:nvPr/>
        </p:nvCxnSpPr>
        <p:spPr>
          <a:xfrm>
            <a:off x="2292245" y="4008675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9BB068BE-5C89-8251-A0A5-B40C4AC17FB1}"/>
              </a:ext>
            </a:extLst>
          </p:cNvPr>
          <p:cNvSpPr txBox="1">
            <a:spLocks/>
          </p:cNvSpPr>
          <p:nvPr/>
        </p:nvSpPr>
        <p:spPr>
          <a:xfrm>
            <a:off x="2298253" y="3931510"/>
            <a:ext cx="87218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dfi_sc1_wrdata_en_p_N</a:t>
            </a: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A261EF34-B93D-2A25-0657-205CCA0E7C70}"/>
              </a:ext>
            </a:extLst>
          </p:cNvPr>
          <p:cNvCxnSpPr>
            <a:cxnSpLocks/>
          </p:cNvCxnSpPr>
          <p:nvPr/>
        </p:nvCxnSpPr>
        <p:spPr>
          <a:xfrm>
            <a:off x="2262885" y="4223625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A8457D0D-6B64-4DE8-AA52-37C819A3D4BE}"/>
              </a:ext>
            </a:extLst>
          </p:cNvPr>
          <p:cNvSpPr txBox="1"/>
          <p:nvPr/>
        </p:nvSpPr>
        <p:spPr>
          <a:xfrm>
            <a:off x="2268893" y="4146460"/>
            <a:ext cx="87218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dfi_sc1_rddata_en_p_N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A4747452-1FE5-6C60-870B-3D719A93F4BF}"/>
              </a:ext>
            </a:extLst>
          </p:cNvPr>
          <p:cNvCxnSpPr>
            <a:cxnSpLocks/>
          </p:cNvCxnSpPr>
          <p:nvPr/>
        </p:nvCxnSpPr>
        <p:spPr>
          <a:xfrm flipH="1">
            <a:off x="2264873" y="4355318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611F8B25-D028-54AD-090A-74477E002A58}"/>
              </a:ext>
            </a:extLst>
          </p:cNvPr>
          <p:cNvSpPr txBox="1"/>
          <p:nvPr/>
        </p:nvSpPr>
        <p:spPr>
          <a:xfrm>
            <a:off x="2225022" y="4264488"/>
            <a:ext cx="94344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dfi_sc1_rddata_valid_w_N</a:t>
            </a: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444090DC-A35F-8D02-17C8-2F9F22B24283}"/>
              </a:ext>
            </a:extLst>
          </p:cNvPr>
          <p:cNvCxnSpPr>
            <a:cxnSpLocks/>
          </p:cNvCxnSpPr>
          <p:nvPr/>
        </p:nvCxnSpPr>
        <p:spPr>
          <a:xfrm flipH="1">
            <a:off x="2264547" y="4484017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DABEE957-80F5-C8EC-601B-5CBE4B679180}"/>
              </a:ext>
            </a:extLst>
          </p:cNvPr>
          <p:cNvCxnSpPr>
            <a:cxnSpLocks/>
          </p:cNvCxnSpPr>
          <p:nvPr/>
        </p:nvCxnSpPr>
        <p:spPr>
          <a:xfrm>
            <a:off x="2270539" y="4679224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F6D94C7F-2471-CBF2-F605-1CF5D82B8815}"/>
              </a:ext>
            </a:extLst>
          </p:cNvPr>
          <p:cNvSpPr txBox="1"/>
          <p:nvPr/>
        </p:nvSpPr>
        <p:spPr>
          <a:xfrm>
            <a:off x="2327343" y="4602059"/>
            <a:ext cx="8213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dfi_sc1_cmd_freq_ratio</a:t>
            </a:r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0E001ED-10E7-D1EE-4F9B-BA56B784E151}"/>
              </a:ext>
            </a:extLst>
          </p:cNvPr>
          <p:cNvCxnSpPr>
            <a:cxnSpLocks/>
          </p:cNvCxnSpPr>
          <p:nvPr/>
        </p:nvCxnSpPr>
        <p:spPr>
          <a:xfrm>
            <a:off x="2292245" y="4786936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DA83D632-48AB-80A5-3786-662301D1E90B}"/>
              </a:ext>
            </a:extLst>
          </p:cNvPr>
          <p:cNvSpPr txBox="1"/>
          <p:nvPr/>
        </p:nvSpPr>
        <p:spPr>
          <a:xfrm>
            <a:off x="2298253" y="4709771"/>
            <a:ext cx="87218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dfi_sc1_data_freq_ratio</a:t>
            </a:r>
          </a:p>
        </p:txBody>
      </p: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CC1927AC-0F01-4AC5-D541-1947FED5A4E2}"/>
              </a:ext>
            </a:extLst>
          </p:cNvPr>
          <p:cNvCxnSpPr>
            <a:cxnSpLocks/>
          </p:cNvCxnSpPr>
          <p:nvPr/>
        </p:nvCxnSpPr>
        <p:spPr>
          <a:xfrm>
            <a:off x="2298607" y="4904519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CAA76E53-7A47-6741-E219-26F974DB4058}"/>
              </a:ext>
            </a:extLst>
          </p:cNvPr>
          <p:cNvSpPr txBox="1"/>
          <p:nvPr/>
        </p:nvSpPr>
        <p:spPr>
          <a:xfrm>
            <a:off x="2677901" y="4827355"/>
            <a:ext cx="4989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 err="1"/>
              <a:t>dfi_freq_ratio</a:t>
            </a:r>
            <a:endParaRPr lang="en-US" sz="600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26092564-BCDF-4152-34E1-8BEB80399171}"/>
              </a:ext>
            </a:extLst>
          </p:cNvPr>
          <p:cNvCxnSpPr>
            <a:cxnSpLocks/>
          </p:cNvCxnSpPr>
          <p:nvPr/>
        </p:nvCxnSpPr>
        <p:spPr>
          <a:xfrm>
            <a:off x="2289486" y="5025551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842FE81A-65C0-C849-A013-FB1CD6F784D1}"/>
              </a:ext>
            </a:extLst>
          </p:cNvPr>
          <p:cNvSpPr txBox="1"/>
          <p:nvPr/>
        </p:nvSpPr>
        <p:spPr>
          <a:xfrm>
            <a:off x="2571644" y="4948387"/>
            <a:ext cx="59603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dfi_sc1_init_start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A51FD855-4EEA-EE77-9772-585F7DA9BD3B}"/>
              </a:ext>
            </a:extLst>
          </p:cNvPr>
          <p:cNvCxnSpPr>
            <a:cxnSpLocks/>
          </p:cNvCxnSpPr>
          <p:nvPr/>
        </p:nvCxnSpPr>
        <p:spPr>
          <a:xfrm flipH="1">
            <a:off x="2273319" y="5151302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CE7C3B8F-99C0-D436-2B3E-D908FB762370}"/>
              </a:ext>
            </a:extLst>
          </p:cNvPr>
          <p:cNvSpPr txBox="1"/>
          <p:nvPr/>
        </p:nvSpPr>
        <p:spPr>
          <a:xfrm>
            <a:off x="2431714" y="5074440"/>
            <a:ext cx="745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dfi_sc1_init_complete</a:t>
            </a:r>
          </a:p>
        </p:txBody>
      </p: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9E4DCED1-2B67-8CEF-167C-0AFF3086F932}"/>
              </a:ext>
            </a:extLst>
          </p:cNvPr>
          <p:cNvCxnSpPr>
            <a:cxnSpLocks/>
          </p:cNvCxnSpPr>
          <p:nvPr/>
        </p:nvCxnSpPr>
        <p:spPr>
          <a:xfrm>
            <a:off x="2275428" y="5366919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40EBD91B-D4C9-58E4-6325-817A4AE82ACF}"/>
              </a:ext>
            </a:extLst>
          </p:cNvPr>
          <p:cNvSpPr txBox="1"/>
          <p:nvPr/>
        </p:nvSpPr>
        <p:spPr>
          <a:xfrm>
            <a:off x="2504535" y="5289755"/>
            <a:ext cx="64908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dfi_sc1_lp_ctrl_req</a:t>
            </a:r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5B4FD8A1-4EBA-C1AD-8DF7-7EFB7C55AAFB}"/>
              </a:ext>
            </a:extLst>
          </p:cNvPr>
          <p:cNvCxnSpPr>
            <a:cxnSpLocks/>
          </p:cNvCxnSpPr>
          <p:nvPr/>
        </p:nvCxnSpPr>
        <p:spPr>
          <a:xfrm flipH="1">
            <a:off x="2281488" y="5583600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E5727000-35ED-90AF-1BF3-3EFA94835B3F}"/>
              </a:ext>
            </a:extLst>
          </p:cNvPr>
          <p:cNvSpPr txBox="1"/>
          <p:nvPr/>
        </p:nvSpPr>
        <p:spPr>
          <a:xfrm>
            <a:off x="2439883" y="5506738"/>
            <a:ext cx="745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dfi_sc1_lp_ctrl_ack</a:t>
            </a:r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B62EE1B0-5573-7BD1-3660-CA1C34720724}"/>
              </a:ext>
            </a:extLst>
          </p:cNvPr>
          <p:cNvCxnSpPr>
            <a:cxnSpLocks/>
          </p:cNvCxnSpPr>
          <p:nvPr/>
        </p:nvCxnSpPr>
        <p:spPr>
          <a:xfrm>
            <a:off x="2299185" y="5485409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2349F17B-CF2D-D83E-BC0D-CF3A74816024}"/>
              </a:ext>
            </a:extLst>
          </p:cNvPr>
          <p:cNvSpPr txBox="1"/>
          <p:nvPr/>
        </p:nvSpPr>
        <p:spPr>
          <a:xfrm>
            <a:off x="2349051" y="5408245"/>
            <a:ext cx="82832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dfi_sc1_lp_ctrl_wakeup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DAEA10A1-E85A-15E2-DA3A-AE84A34432D7}"/>
              </a:ext>
            </a:extLst>
          </p:cNvPr>
          <p:cNvCxnSpPr>
            <a:cxnSpLocks/>
          </p:cNvCxnSpPr>
          <p:nvPr/>
        </p:nvCxnSpPr>
        <p:spPr>
          <a:xfrm>
            <a:off x="2279791" y="5766898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7F338FE5-2EC6-7360-87DB-424F501B421D}"/>
              </a:ext>
            </a:extLst>
          </p:cNvPr>
          <p:cNvSpPr txBox="1"/>
          <p:nvPr/>
        </p:nvSpPr>
        <p:spPr>
          <a:xfrm>
            <a:off x="2752085" y="5686757"/>
            <a:ext cx="388993" cy="953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dfi_sc1_clk</a:t>
            </a:r>
          </a:p>
        </p:txBody>
      </p: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CE71A010-D84C-4290-9071-3B60B38CFE04}"/>
              </a:ext>
            </a:extLst>
          </p:cNvPr>
          <p:cNvCxnSpPr>
            <a:cxnSpLocks/>
          </p:cNvCxnSpPr>
          <p:nvPr/>
        </p:nvCxnSpPr>
        <p:spPr>
          <a:xfrm>
            <a:off x="2284591" y="5874610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3DC7BE9C-2F20-71AB-8EBA-EA45D80ED89A}"/>
              </a:ext>
            </a:extLst>
          </p:cNvPr>
          <p:cNvSpPr txBox="1"/>
          <p:nvPr/>
        </p:nvSpPr>
        <p:spPr>
          <a:xfrm>
            <a:off x="2571643" y="5797445"/>
            <a:ext cx="59114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dfi_sc1_phy_clk</a:t>
            </a:r>
          </a:p>
        </p:txBody>
      </p: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3C5C382B-60EA-F8A8-53C7-66BF8D02846F}"/>
              </a:ext>
            </a:extLst>
          </p:cNvPr>
          <p:cNvCxnSpPr>
            <a:cxnSpLocks/>
          </p:cNvCxnSpPr>
          <p:nvPr/>
        </p:nvCxnSpPr>
        <p:spPr>
          <a:xfrm>
            <a:off x="2290953" y="5992193"/>
            <a:ext cx="1005840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0D8D3F45-D873-61F3-63A4-6D9F304B08FC}"/>
              </a:ext>
            </a:extLst>
          </p:cNvPr>
          <p:cNvSpPr txBox="1"/>
          <p:nvPr/>
        </p:nvSpPr>
        <p:spPr>
          <a:xfrm>
            <a:off x="2670247" y="5915029"/>
            <a:ext cx="4989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/>
              <a:t>dfi_sc1_wck</a:t>
            </a:r>
          </a:p>
        </p:txBody>
      </p:sp>
      <p:sp>
        <p:nvSpPr>
          <p:cNvPr id="236" name="Left Brace 235">
            <a:extLst>
              <a:ext uri="{FF2B5EF4-FFF2-40B4-BE49-F238E27FC236}">
                <a16:creationId xmlns:a16="http://schemas.microsoft.com/office/drawing/2014/main" id="{FB118588-A460-8465-A84B-013F42BFD13F}"/>
              </a:ext>
            </a:extLst>
          </p:cNvPr>
          <p:cNvSpPr/>
          <p:nvPr/>
        </p:nvSpPr>
        <p:spPr>
          <a:xfrm>
            <a:off x="2145899" y="3489616"/>
            <a:ext cx="136568" cy="240427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Left Brace 236">
            <a:extLst>
              <a:ext uri="{FF2B5EF4-FFF2-40B4-BE49-F238E27FC236}">
                <a16:creationId xmlns:a16="http://schemas.microsoft.com/office/drawing/2014/main" id="{49135871-1A39-A61D-778F-76353A6BAB39}"/>
              </a:ext>
            </a:extLst>
          </p:cNvPr>
          <p:cNvSpPr/>
          <p:nvPr/>
        </p:nvSpPr>
        <p:spPr>
          <a:xfrm>
            <a:off x="2140108" y="3867611"/>
            <a:ext cx="136568" cy="240427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Left Brace 237">
            <a:extLst>
              <a:ext uri="{FF2B5EF4-FFF2-40B4-BE49-F238E27FC236}">
                <a16:creationId xmlns:a16="http://schemas.microsoft.com/office/drawing/2014/main" id="{9C7C768F-B2F0-C96A-E5F4-19AC8731B9B6}"/>
              </a:ext>
            </a:extLst>
          </p:cNvPr>
          <p:cNvSpPr/>
          <p:nvPr/>
        </p:nvSpPr>
        <p:spPr>
          <a:xfrm>
            <a:off x="2087444" y="4203090"/>
            <a:ext cx="175896" cy="397154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Left Brace 238">
            <a:extLst>
              <a:ext uri="{FF2B5EF4-FFF2-40B4-BE49-F238E27FC236}">
                <a16:creationId xmlns:a16="http://schemas.microsoft.com/office/drawing/2014/main" id="{1E71F4D0-25BF-BF7B-58C9-3EAB3DA05192}"/>
              </a:ext>
            </a:extLst>
          </p:cNvPr>
          <p:cNvSpPr/>
          <p:nvPr/>
        </p:nvSpPr>
        <p:spPr>
          <a:xfrm>
            <a:off x="2083919" y="4627876"/>
            <a:ext cx="158982" cy="622428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Left Brace 239">
            <a:extLst>
              <a:ext uri="{FF2B5EF4-FFF2-40B4-BE49-F238E27FC236}">
                <a16:creationId xmlns:a16="http://schemas.microsoft.com/office/drawing/2014/main" id="{E2F55A66-9D54-A83E-F7F5-B0FE5DC21149}"/>
              </a:ext>
            </a:extLst>
          </p:cNvPr>
          <p:cNvSpPr/>
          <p:nvPr/>
        </p:nvSpPr>
        <p:spPr>
          <a:xfrm>
            <a:off x="2088961" y="5328654"/>
            <a:ext cx="153939" cy="397153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1049B33-2B3C-1666-B1B9-891A171708CF}"/>
              </a:ext>
            </a:extLst>
          </p:cNvPr>
          <p:cNvSpPr txBox="1"/>
          <p:nvPr/>
        </p:nvSpPr>
        <p:spPr>
          <a:xfrm>
            <a:off x="1114838" y="3546748"/>
            <a:ext cx="102990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Command interface SC1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BD0CC59-6A5F-E7AC-3274-120FDBF4229A}"/>
              </a:ext>
            </a:extLst>
          </p:cNvPr>
          <p:cNvSpPr txBox="1"/>
          <p:nvPr/>
        </p:nvSpPr>
        <p:spPr>
          <a:xfrm>
            <a:off x="1059160" y="3921414"/>
            <a:ext cx="102990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Write Data interface  SC1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9C65279-4887-8971-C41B-927739617750}"/>
              </a:ext>
            </a:extLst>
          </p:cNvPr>
          <p:cNvSpPr txBox="1"/>
          <p:nvPr/>
        </p:nvSpPr>
        <p:spPr>
          <a:xfrm>
            <a:off x="1059160" y="4314612"/>
            <a:ext cx="102990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Read Data interface  SC1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1954012C-0B33-16AF-3E39-49140BB4DF37}"/>
              </a:ext>
            </a:extLst>
          </p:cNvPr>
          <p:cNvSpPr txBox="1"/>
          <p:nvPr/>
        </p:nvSpPr>
        <p:spPr>
          <a:xfrm>
            <a:off x="1209211" y="4889711"/>
            <a:ext cx="93625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Status interface  SC1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667868E7-F76B-5285-9E70-82BD9468FE0B}"/>
              </a:ext>
            </a:extLst>
          </p:cNvPr>
          <p:cNvSpPr txBox="1"/>
          <p:nvPr/>
        </p:nvSpPr>
        <p:spPr>
          <a:xfrm>
            <a:off x="1071033" y="5478005"/>
            <a:ext cx="108840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Low power  interface  SC1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50202C27-5E79-F9A4-1982-B0DB736535D4}"/>
              </a:ext>
            </a:extLst>
          </p:cNvPr>
          <p:cNvSpPr txBox="1"/>
          <p:nvPr/>
        </p:nvSpPr>
        <p:spPr>
          <a:xfrm>
            <a:off x="1494502" y="5936767"/>
            <a:ext cx="93625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dirty="0"/>
              <a:t>clocking  SC1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075F9981-471C-716D-A01E-932B1D01C251}"/>
              </a:ext>
            </a:extLst>
          </p:cNvPr>
          <p:cNvSpPr txBox="1"/>
          <p:nvPr/>
        </p:nvSpPr>
        <p:spPr>
          <a:xfrm>
            <a:off x="2418023" y="4389619"/>
            <a:ext cx="94344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" dirty="0"/>
              <a:t>dfi_sc0_rddata_w_N</a:t>
            </a:r>
          </a:p>
        </p:txBody>
      </p:sp>
      <p:sp>
        <p:nvSpPr>
          <p:cNvPr id="253" name="Left Brace 252">
            <a:extLst>
              <a:ext uri="{FF2B5EF4-FFF2-40B4-BE49-F238E27FC236}">
                <a16:creationId xmlns:a16="http://schemas.microsoft.com/office/drawing/2014/main" id="{CA9B0CFE-28AA-43AC-7049-A5665AF76F89}"/>
              </a:ext>
            </a:extLst>
          </p:cNvPr>
          <p:cNvSpPr/>
          <p:nvPr/>
        </p:nvSpPr>
        <p:spPr>
          <a:xfrm>
            <a:off x="2094978" y="5745057"/>
            <a:ext cx="141904" cy="335063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itle 4">
            <a:extLst>
              <a:ext uri="{FF2B5EF4-FFF2-40B4-BE49-F238E27FC236}">
                <a16:creationId xmlns:a16="http://schemas.microsoft.com/office/drawing/2014/main" id="{146AAB90-70C4-FCE5-473E-56B75631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9" y="35421"/>
            <a:ext cx="3379568" cy="248124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LPDDR6 DFI interface.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C1358-B3CE-A167-F7CD-C7F7908D9944}"/>
              </a:ext>
            </a:extLst>
          </p:cNvPr>
          <p:cNvSpPr/>
          <p:nvPr/>
        </p:nvSpPr>
        <p:spPr>
          <a:xfrm>
            <a:off x="7600270" y="1089495"/>
            <a:ext cx="1736533" cy="4718924"/>
          </a:xfrm>
          <a:prstGeom prst="rect">
            <a:avLst/>
          </a:prstGeom>
          <a:solidFill>
            <a:srgbClr val="FBD7BB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1BF59B-E280-B776-ED27-DFD4621A917C}"/>
              </a:ext>
            </a:extLst>
          </p:cNvPr>
          <p:cNvSpPr txBox="1"/>
          <p:nvPr/>
        </p:nvSpPr>
        <p:spPr>
          <a:xfrm>
            <a:off x="7866819" y="1156035"/>
            <a:ext cx="122711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/>
              <a:t>LPDDR6 </a:t>
            </a:r>
            <a:r>
              <a:rPr lang="en-US" sz="1000" dirty="0" err="1"/>
              <a:t>Softmodel</a:t>
            </a:r>
            <a:endParaRPr lang="en-US" sz="1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5E6319-66CE-DFC2-0F16-E3ADB6DCCEF0}"/>
              </a:ext>
            </a:extLst>
          </p:cNvPr>
          <p:cNvSpPr/>
          <p:nvPr/>
        </p:nvSpPr>
        <p:spPr>
          <a:xfrm>
            <a:off x="7719032" y="1422795"/>
            <a:ext cx="1313954" cy="1634578"/>
          </a:xfrm>
          <a:prstGeom prst="rect">
            <a:avLst/>
          </a:prstGeom>
          <a:solidFill>
            <a:srgbClr val="CADAA9"/>
          </a:solidFill>
          <a:ln w="19050">
            <a:solidFill>
              <a:srgbClr val="94A9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59673B"/>
                </a:solidFill>
              </a:rPr>
              <a:t>LPDDR6 </a:t>
            </a:r>
            <a:r>
              <a:rPr lang="en-US" sz="700" b="1" dirty="0" err="1">
                <a:solidFill>
                  <a:srgbClr val="59673B"/>
                </a:solidFill>
              </a:rPr>
              <a:t>Sub_channel</a:t>
            </a:r>
            <a:r>
              <a:rPr lang="en-US" sz="700" b="1" dirty="0">
                <a:solidFill>
                  <a:srgbClr val="59673B"/>
                </a:solidFill>
              </a:rPr>
              <a:t> 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C03615B-0198-A438-BB86-D5545F6733D1}"/>
              </a:ext>
            </a:extLst>
          </p:cNvPr>
          <p:cNvSpPr/>
          <p:nvPr/>
        </p:nvSpPr>
        <p:spPr>
          <a:xfrm>
            <a:off x="7719032" y="3684335"/>
            <a:ext cx="1313954" cy="1634578"/>
          </a:xfrm>
          <a:prstGeom prst="rect">
            <a:avLst/>
          </a:prstGeom>
          <a:solidFill>
            <a:srgbClr val="CADAA9"/>
          </a:solidFill>
          <a:ln w="19050">
            <a:solidFill>
              <a:srgbClr val="94A9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59673B"/>
                </a:solidFill>
              </a:rPr>
              <a:t>LPDDR6 </a:t>
            </a:r>
            <a:r>
              <a:rPr lang="en-US" sz="700" b="1" dirty="0" err="1">
                <a:solidFill>
                  <a:srgbClr val="59673B"/>
                </a:solidFill>
              </a:rPr>
              <a:t>Sub_channel</a:t>
            </a:r>
            <a:r>
              <a:rPr lang="en-US" sz="700" b="1" dirty="0">
                <a:solidFill>
                  <a:srgbClr val="59673B"/>
                </a:solidFill>
              </a:rPr>
              <a:t> 1</a:t>
            </a: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C7409184-FB81-104B-7E7D-FC2658D9A981}"/>
              </a:ext>
            </a:extLst>
          </p:cNvPr>
          <p:cNvSpPr/>
          <p:nvPr/>
        </p:nvSpPr>
        <p:spPr>
          <a:xfrm>
            <a:off x="5422521" y="1097711"/>
            <a:ext cx="2199782" cy="39981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sz="700" dirty="0">
                <a:solidFill>
                  <a:schemeClr val="bg1"/>
                </a:solidFill>
              </a:rPr>
              <a:t>CK0-CA0-CS0</a:t>
            </a:r>
          </a:p>
        </p:txBody>
      </p:sp>
      <p:sp>
        <p:nvSpPr>
          <p:cNvPr id="68" name="Arrow: Left-Right 67">
            <a:extLst>
              <a:ext uri="{FF2B5EF4-FFF2-40B4-BE49-F238E27FC236}">
                <a16:creationId xmlns:a16="http://schemas.microsoft.com/office/drawing/2014/main" id="{81A52DCD-7E4E-2735-7F0E-522090250C0B}"/>
              </a:ext>
            </a:extLst>
          </p:cNvPr>
          <p:cNvSpPr/>
          <p:nvPr/>
        </p:nvSpPr>
        <p:spPr>
          <a:xfrm>
            <a:off x="5435363" y="1752689"/>
            <a:ext cx="2178697" cy="41797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sz="700" dirty="0"/>
              <a:t>DQ0-RDQS0</a:t>
            </a: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93609F01-5AFD-EFF2-6FBD-2EEB08160CA9}"/>
              </a:ext>
            </a:extLst>
          </p:cNvPr>
          <p:cNvSpPr/>
          <p:nvPr/>
        </p:nvSpPr>
        <p:spPr>
          <a:xfrm>
            <a:off x="5488704" y="3761706"/>
            <a:ext cx="2209728" cy="39981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sz="700" dirty="0">
                <a:solidFill>
                  <a:schemeClr val="bg1"/>
                </a:solidFill>
              </a:rPr>
              <a:t>CK1-CA1-CS1</a:t>
            </a:r>
          </a:p>
        </p:txBody>
      </p:sp>
      <p:sp>
        <p:nvSpPr>
          <p:cNvPr id="71" name="Arrow: Left-Right 70">
            <a:extLst>
              <a:ext uri="{FF2B5EF4-FFF2-40B4-BE49-F238E27FC236}">
                <a16:creationId xmlns:a16="http://schemas.microsoft.com/office/drawing/2014/main" id="{2549889F-9136-D62B-F821-254ED2BD24CB}"/>
              </a:ext>
            </a:extLst>
          </p:cNvPr>
          <p:cNvSpPr/>
          <p:nvPr/>
        </p:nvSpPr>
        <p:spPr>
          <a:xfrm>
            <a:off x="5473463" y="4439494"/>
            <a:ext cx="2171543" cy="417970"/>
          </a:xfrm>
          <a:prstGeom prst="left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sz="700" dirty="0"/>
              <a:t>DQ1-RDQS1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E3C6FA-1240-2DA6-71CA-680536E0EB27}"/>
              </a:ext>
            </a:extLst>
          </p:cNvPr>
          <p:cNvSpPr/>
          <p:nvPr/>
        </p:nvSpPr>
        <p:spPr>
          <a:xfrm>
            <a:off x="4307603" y="1022364"/>
            <a:ext cx="1127760" cy="60021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94A9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59673B"/>
                </a:solidFill>
              </a:rPr>
              <a:t>lpddr6_dfi_ctrl_sc0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DCE771-599D-7BDE-9BF7-74EAF57397E0}"/>
              </a:ext>
            </a:extLst>
          </p:cNvPr>
          <p:cNvSpPr/>
          <p:nvPr/>
        </p:nvSpPr>
        <p:spPr>
          <a:xfrm>
            <a:off x="4315223" y="1728248"/>
            <a:ext cx="1112520" cy="59486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94A9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59673B"/>
                </a:solidFill>
              </a:rPr>
              <a:t>lpddr6_dfi_data_sc0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38FAC0-B78D-A45E-34E1-0BF30E9C60AE}"/>
              </a:ext>
            </a:extLst>
          </p:cNvPr>
          <p:cNvSpPr/>
          <p:nvPr/>
        </p:nvSpPr>
        <p:spPr>
          <a:xfrm>
            <a:off x="4307603" y="2426898"/>
            <a:ext cx="1127760" cy="60021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94A9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59673B"/>
                </a:solidFill>
              </a:rPr>
              <a:t>lpddr6_dfi_error_sc0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57FD75-6DCB-31CE-8A5B-E5510B02EBAA}"/>
              </a:ext>
            </a:extLst>
          </p:cNvPr>
          <p:cNvSpPr/>
          <p:nvPr/>
        </p:nvSpPr>
        <p:spPr>
          <a:xfrm>
            <a:off x="4315223" y="3641827"/>
            <a:ext cx="1127760" cy="60021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94A9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59673B"/>
                </a:solidFill>
              </a:rPr>
              <a:t>lpddr6_dfi_ctrl_sc1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4CF726-B18F-F1AB-F4AF-D0485B2E1A21}"/>
              </a:ext>
            </a:extLst>
          </p:cNvPr>
          <p:cNvSpPr/>
          <p:nvPr/>
        </p:nvSpPr>
        <p:spPr>
          <a:xfrm>
            <a:off x="4322843" y="4347711"/>
            <a:ext cx="1112520" cy="59486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94A9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59673B"/>
                </a:solidFill>
              </a:rPr>
              <a:t>lpddr6_dfi_data_sc1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6E50A1-FA40-B2DD-BC3E-FECC1D47E6F6}"/>
              </a:ext>
            </a:extLst>
          </p:cNvPr>
          <p:cNvSpPr/>
          <p:nvPr/>
        </p:nvSpPr>
        <p:spPr>
          <a:xfrm>
            <a:off x="4315223" y="5046361"/>
            <a:ext cx="1127760" cy="60021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rgbClr val="94A96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59673B"/>
                </a:solidFill>
              </a:rPr>
              <a:t>lpddr6_dfi_error_sc1</a:t>
            </a:r>
          </a:p>
        </p:txBody>
      </p:sp>
    </p:spTree>
    <p:extLst>
      <p:ext uri="{BB962C8B-B14F-4D97-AF65-F5344CB8AC3E}">
        <p14:creationId xmlns:p14="http://schemas.microsoft.com/office/powerpoint/2010/main" val="259668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9B55C-7D75-5D7E-99C9-45473767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2570-8ABC-F976-B418-FA1D4AB4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99" y="1414463"/>
            <a:ext cx="11485427" cy="1231106"/>
          </a:xfrm>
        </p:spPr>
        <p:txBody>
          <a:bodyPr/>
          <a:lstStyle/>
          <a:p>
            <a:pPr marL="0"/>
            <a:r>
              <a:rPr lang="en-US" dirty="0"/>
              <a:t>Frequency Ratios (</a:t>
            </a:r>
            <a:r>
              <a:rPr lang="en-US" dirty="0" err="1"/>
              <a:t>Cmd</a:t>
            </a:r>
            <a:r>
              <a:rPr lang="en-US" dirty="0"/>
              <a:t> </a:t>
            </a:r>
            <a:r>
              <a:rPr lang="en-US" dirty="0" err="1"/>
              <a:t>freq</a:t>
            </a:r>
            <a:r>
              <a:rPr lang="en-US" dirty="0"/>
              <a:t> ratio , Data </a:t>
            </a:r>
            <a:r>
              <a:rPr lang="en-US" dirty="0" err="1"/>
              <a:t>freq</a:t>
            </a:r>
            <a:r>
              <a:rPr lang="en-US" dirty="0"/>
              <a:t> ratio)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D0D16-D5DB-4B2B-E779-6E1CB52C5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69944-7216-363C-47BF-DD33861FA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2025-11-10 | LPDDR6 DFI </a:t>
            </a:r>
            <a:r>
              <a:rPr lang="en-US" dirty="0" err="1"/>
              <a:t>Softmodel</a:t>
            </a:r>
            <a:r>
              <a:rPr lang="en-US" dirty="0"/>
              <a:t> | Siemens Digital Industries Software | Where today meets tomorrow.</a:t>
            </a:r>
          </a:p>
        </p:txBody>
      </p:sp>
    </p:spTree>
    <p:extLst>
      <p:ext uri="{BB962C8B-B14F-4D97-AF65-F5344CB8AC3E}">
        <p14:creationId xmlns:p14="http://schemas.microsoft.com/office/powerpoint/2010/main" val="21930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2FCF9-2508-FC46-C642-4ACF82B4EA1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D9472A-8BBE-1E67-BE2C-D3DD038B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Ratios (</a:t>
            </a:r>
            <a:r>
              <a:rPr lang="en-US" dirty="0" err="1"/>
              <a:t>Cmd</a:t>
            </a:r>
            <a:r>
              <a:rPr lang="en-US" dirty="0"/>
              <a:t> </a:t>
            </a:r>
            <a:r>
              <a:rPr lang="en-US" dirty="0" err="1"/>
              <a:t>freq</a:t>
            </a:r>
            <a:r>
              <a:rPr lang="en-US" dirty="0"/>
              <a:t> ratio , Data </a:t>
            </a:r>
            <a:r>
              <a:rPr lang="en-US" dirty="0" err="1"/>
              <a:t>freq</a:t>
            </a:r>
            <a:r>
              <a:rPr lang="en-US" dirty="0"/>
              <a:t> ratio)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3B10F2-B7E1-4DD9-61C2-B7E2B0BD8B12}"/>
                  </a:ext>
                </a:extLst>
              </p:cNvPr>
              <p:cNvSpPr txBox="1"/>
              <p:nvPr/>
            </p:nvSpPr>
            <p:spPr>
              <a:xfrm>
                <a:off x="410400" y="1302589"/>
                <a:ext cx="6533864" cy="36490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400" dirty="0">
                    <a:solidFill>
                      <a:schemeClr val="bg1"/>
                    </a:solidFill>
                  </a:rPr>
                  <a:t>in DFI 5.1 , we used to treat the frequency ratio as the ratio between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DFI_clk</a:t>
                </a:r>
                <a:r>
                  <a:rPr lang="en-US" sz="1400" dirty="0">
                    <a:solidFill>
                      <a:schemeClr val="bg1"/>
                    </a:solidFill>
                  </a:rPr>
                  <a:t> and data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clk</a:t>
                </a:r>
                <a:r>
                  <a:rPr lang="en-US" sz="1400" dirty="0">
                    <a:solidFill>
                      <a:schemeClr val="bg1"/>
                    </a:solidFill>
                  </a:rPr>
                  <a:t> and the ratio between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DFI_clk</a:t>
                </a:r>
                <a:r>
                  <a:rPr lang="en-US" sz="1400" dirty="0">
                    <a:solidFill>
                      <a:schemeClr val="bg1"/>
                    </a:solidFill>
                  </a:rPr>
                  <a:t> and command clock is always 1:1 (ex:lpddr5)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sz="1400" dirty="0">
                  <a:solidFill>
                    <a:schemeClr val="bg1"/>
                  </a:solidFill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400" dirty="0">
                    <a:solidFill>
                      <a:schemeClr val="bg1"/>
                    </a:solidFill>
                  </a:rPr>
                  <a:t>In DFI 5.2, it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Differentiates between 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cmd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ratio and data ratio, HOW?</a:t>
                </a:r>
                <a:endParaRPr lang="en-US" sz="1400" noProof="0" dirty="0">
                  <a:solidFill>
                    <a:prstClr val="black"/>
                  </a:solidFill>
                  <a:latin typeface="Aptos" panose="02110004020202020204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1400" dirty="0">
                    <a:solidFill>
                      <a:prstClr val="black"/>
                    </a:solidFill>
                    <a:latin typeface="Aptos" panose="02110004020202020204"/>
                  </a:rPr>
                  <a:t>        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DFI_clk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= 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Phy_clk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      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cmd_clk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= 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lackadder ITC" panose="04020505051007020D02" pitchFamily="82" charset="0"/>
                    <a:ea typeface="+mn-ea"/>
                    <a:cs typeface="+mn-cs"/>
                  </a:rPr>
                  <a:t>x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 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Phy_clk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       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data_clk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= 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lackadder ITC" panose="04020505051007020D02" pitchFamily="82" charset="0"/>
                    <a:ea typeface="+mn-ea"/>
                    <a:cs typeface="+mn-cs"/>
                  </a:rPr>
                  <a:t>y</a:t>
                </a: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 </a:t>
                </a: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Phy_clk</a:t>
                </a:r>
                <a:endParaRPr lang="en-US" sz="1400" dirty="0">
                  <a:solidFill>
                    <a:schemeClr val="bg1"/>
                  </a:solidFill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sz="1400" dirty="0">
                  <a:solidFill>
                    <a:schemeClr val="bg1"/>
                  </a:solidFill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400" dirty="0">
                    <a:solidFill>
                      <a:schemeClr val="bg1"/>
                    </a:solidFill>
                  </a:rPr>
                  <a:t>In LPDDR6 we have a defined relation between CK(command clock) and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wck</a:t>
                </a:r>
                <a:r>
                  <a:rPr lang="en-US" sz="1400" dirty="0">
                    <a:solidFill>
                      <a:schemeClr val="bg1"/>
                    </a:solidFill>
                  </a:rPr>
                  <a:t>(data clock) </a:t>
                </a:r>
                <a:r>
                  <a:rPr lang="en-US" sz="14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WC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𝑓𝑟𝑒𝑞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𝑓𝑟𝑒𝑞</m:t>
                        </m:r>
                      </m:sub>
                    </m:sSub>
                  </m:oMath>
                </a14:m>
                <a:endParaRPr lang="en-US" sz="1400" dirty="0">
                  <a:solidFill>
                    <a:schemeClr val="bg1"/>
                  </a:solidFill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sz="1400" dirty="0">
                  <a:solidFill>
                    <a:schemeClr val="bg1"/>
                  </a:solidFill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400" dirty="0">
                    <a:solidFill>
                      <a:schemeClr val="bg1"/>
                    </a:solidFill>
                  </a:rPr>
                  <a:t>New configurations will appear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sz="1600" dirty="0">
                  <a:solidFill>
                    <a:schemeClr val="bg1"/>
                  </a:solidFill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3B10F2-B7E1-4DD9-61C2-B7E2B0BD8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0" y="1302589"/>
                <a:ext cx="6533864" cy="3649012"/>
              </a:xfrm>
              <a:prstGeom prst="rect">
                <a:avLst/>
              </a:prstGeom>
              <a:blipFill>
                <a:blip r:embed="rId2"/>
                <a:stretch>
                  <a:fillRect l="-1493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24F908F-AC44-EA7B-6BBD-9789ABDB3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37296"/>
              </p:ext>
            </p:extLst>
          </p:nvPr>
        </p:nvGraphicFramePr>
        <p:xfrm>
          <a:off x="655607" y="4259844"/>
          <a:ext cx="2924249" cy="142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214">
                  <a:extLst>
                    <a:ext uri="{9D8B030D-6E8A-4147-A177-3AD203B41FA5}">
                      <a16:colId xmlns:a16="http://schemas.microsoft.com/office/drawing/2014/main" val="638270108"/>
                    </a:ext>
                  </a:extLst>
                </a:gridCol>
                <a:gridCol w="782285">
                  <a:extLst>
                    <a:ext uri="{9D8B030D-6E8A-4147-A177-3AD203B41FA5}">
                      <a16:colId xmlns:a16="http://schemas.microsoft.com/office/drawing/2014/main" val="496852330"/>
                    </a:ext>
                  </a:extLst>
                </a:gridCol>
                <a:gridCol w="974750">
                  <a:extLst>
                    <a:ext uri="{9D8B030D-6E8A-4147-A177-3AD203B41FA5}">
                      <a16:colId xmlns:a16="http://schemas.microsoft.com/office/drawing/2014/main" val="497510549"/>
                    </a:ext>
                  </a:extLst>
                </a:gridCol>
              </a:tblGrid>
              <a:tr h="428498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Cmd</a:t>
                      </a:r>
                      <a:endParaRPr lang="en-US" sz="1100" dirty="0"/>
                    </a:p>
                    <a:p>
                      <a:r>
                        <a:rPr lang="en-US" sz="1100" dirty="0"/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Data</a:t>
                      </a:r>
                    </a:p>
                    <a:p>
                      <a:r>
                        <a:rPr lang="en-US" sz="1100" dirty="0"/>
                        <a:t>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08642"/>
                  </a:ext>
                </a:extLst>
              </a:tr>
              <a:tr h="322280">
                <a:tc>
                  <a:txBody>
                    <a:bodyPr/>
                    <a:lstStyle/>
                    <a:p>
                      <a:r>
                        <a:rPr lang="en-US" sz="1100" dirty="0"/>
                        <a:t>Original configurations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1:1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1:2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47016"/>
                  </a:ext>
                </a:extLst>
              </a:tr>
              <a:tr h="244856">
                <a:tc rowSpan="2">
                  <a:txBody>
                    <a:bodyPr/>
                    <a:lstStyle/>
                    <a:p>
                      <a:r>
                        <a:rPr lang="en-US" sz="1100" dirty="0"/>
                        <a:t>New valid configurations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1:2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1:4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477777"/>
                  </a:ext>
                </a:extLst>
              </a:tr>
              <a:tr h="30607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1:4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1:8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6114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84A7867-BCF7-5141-D675-690FEBCC1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861" y="573707"/>
            <a:ext cx="5414140" cy="29427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D67BF0-F221-8C72-13F0-04B89799D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862" y="3636240"/>
            <a:ext cx="5196884" cy="260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78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B872-2F02-5087-7AEF-2A16E90B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F7B6B-68AB-397D-3F62-3FA4E1DA432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23FC09-038D-F155-4F8D-DEE33CC7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Ratios (</a:t>
            </a:r>
            <a:r>
              <a:rPr lang="en-US" dirty="0" err="1"/>
              <a:t>Cmd</a:t>
            </a:r>
            <a:r>
              <a:rPr lang="en-US" dirty="0"/>
              <a:t> </a:t>
            </a:r>
            <a:r>
              <a:rPr lang="en-US" dirty="0" err="1"/>
              <a:t>freq</a:t>
            </a:r>
            <a:r>
              <a:rPr lang="en-US" dirty="0"/>
              <a:t> ratio , Data </a:t>
            </a:r>
            <a:r>
              <a:rPr lang="en-US" dirty="0" err="1"/>
              <a:t>freq</a:t>
            </a:r>
            <a:r>
              <a:rPr lang="en-US" dirty="0"/>
              <a:t> ratio)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7D35D-A5F0-7D71-A806-4D02F7EC55A7}"/>
              </a:ext>
            </a:extLst>
          </p:cNvPr>
          <p:cNvSpPr txBox="1"/>
          <p:nvPr/>
        </p:nvSpPr>
        <p:spPr>
          <a:xfrm>
            <a:off x="410400" y="1302589"/>
            <a:ext cx="6533864" cy="60016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1"/>
                </a:solidFill>
              </a:rPr>
              <a:t>Old models had only one ratio (Data ratio)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1"/>
                </a:solidFill>
              </a:rPr>
              <a:t>In LPDDR5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 err="1">
                <a:solidFill>
                  <a:schemeClr val="bg1"/>
                </a:solidFill>
              </a:rPr>
              <a:t>dfi_CLK</a:t>
            </a:r>
            <a:r>
              <a:rPr lang="en-US" sz="1400" dirty="0">
                <a:solidFill>
                  <a:schemeClr val="bg1"/>
                </a:solidFill>
              </a:rPr>
              <a:t> is treated as CK 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 err="1">
                <a:solidFill>
                  <a:schemeClr val="bg1"/>
                </a:solidFill>
              </a:rPr>
              <a:t>dfi_phy_clk</a:t>
            </a:r>
            <a:r>
              <a:rPr lang="en-US" sz="1400" dirty="0">
                <a:solidFill>
                  <a:schemeClr val="bg1"/>
                </a:solidFill>
              </a:rPr>
              <a:t> and lpddr5_wck are the same.</a:t>
            </a:r>
          </a:p>
          <a:p>
            <a:pPr lvl="1">
              <a:defRPr/>
            </a:pPr>
            <a:endParaRPr lang="en-US" sz="1400" dirty="0">
              <a:solidFill>
                <a:schemeClr val="bg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Common code models generates data according to this concept that </a:t>
            </a:r>
            <a:r>
              <a:rPr lang="en-US" sz="1400" dirty="0" err="1">
                <a:solidFill>
                  <a:prstClr val="black"/>
                </a:solidFill>
                <a:latin typeface="Aptos" panose="02110004020202020204"/>
              </a:rPr>
              <a:t>dfi_phy_clk</a:t>
            </a: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=lpddr5_wck , so data is generated with </a:t>
            </a:r>
            <a:r>
              <a:rPr lang="en-US" sz="1400" dirty="0" err="1">
                <a:solidFill>
                  <a:prstClr val="black"/>
                </a:solidFill>
                <a:latin typeface="Aptos" panose="02110004020202020204"/>
              </a:rPr>
              <a:t>dfi_phy_clk</a:t>
            </a: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 rate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dirty="0">
              <a:solidFill>
                <a:prstClr val="black"/>
              </a:solidFill>
              <a:latin typeface="Aptos" panose="0211000402020202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In LPDDR6 case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 err="1">
                <a:solidFill>
                  <a:schemeClr val="bg1"/>
                </a:solidFill>
              </a:rPr>
              <a:t>dfi_CLK</a:t>
            </a:r>
            <a:r>
              <a:rPr lang="en-US" sz="1400" dirty="0">
                <a:solidFill>
                  <a:schemeClr val="bg1"/>
                </a:solidFill>
              </a:rPr>
              <a:t> is used to sample the data from the MC.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 err="1">
                <a:solidFill>
                  <a:schemeClr val="bg1"/>
                </a:solidFill>
              </a:rPr>
              <a:t>dfi_phy_clk</a:t>
            </a:r>
            <a:r>
              <a:rPr lang="en-US" sz="1400" dirty="0">
                <a:solidFill>
                  <a:schemeClr val="bg1"/>
                </a:solidFill>
              </a:rPr>
              <a:t> is treated as a ratio from </a:t>
            </a:r>
            <a:r>
              <a:rPr lang="en-US" sz="1400" dirty="0" err="1">
                <a:solidFill>
                  <a:schemeClr val="bg1"/>
                </a:solidFill>
              </a:rPr>
              <a:t>dfi_CLK</a:t>
            </a:r>
            <a:r>
              <a:rPr lang="en-US" sz="1400" dirty="0">
                <a:solidFill>
                  <a:schemeClr val="bg1"/>
                </a:solidFill>
              </a:rPr>
              <a:t> so it would be CK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1"/>
                </a:solidFill>
                <a:latin typeface="Aptos" panose="02110004020202020204"/>
              </a:rPr>
              <a:t>lpddr6_wck is treated </a:t>
            </a:r>
            <a:r>
              <a:rPr lang="en-US" sz="1400" dirty="0">
                <a:solidFill>
                  <a:schemeClr val="bg1"/>
                </a:solidFill>
              </a:rPr>
              <a:t>as double the ratio of  </a:t>
            </a:r>
            <a:r>
              <a:rPr lang="en-US" sz="1400" dirty="0" err="1">
                <a:solidFill>
                  <a:schemeClr val="bg1"/>
                </a:solidFill>
              </a:rPr>
              <a:t>dfi_CLK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1"/>
                </a:solidFill>
              </a:rPr>
              <a:t>If we used the same concept as all models write </a:t>
            </a:r>
            <a:r>
              <a:rPr lang="en-US" sz="1400" dirty="0" err="1">
                <a:solidFill>
                  <a:schemeClr val="bg1"/>
                </a:solidFill>
              </a:rPr>
              <a:t>mcs</a:t>
            </a:r>
            <a:r>
              <a:rPr lang="en-US" sz="1400" dirty="0">
                <a:solidFill>
                  <a:schemeClr val="bg1"/>
                </a:solidFill>
              </a:rPr>
              <a:t> will generate data in half the data rate needed for the model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1"/>
                </a:solidFill>
              </a:rPr>
              <a:t>Same for read </a:t>
            </a:r>
            <a:r>
              <a:rPr lang="en-US" sz="1400" dirty="0" err="1">
                <a:solidFill>
                  <a:schemeClr val="bg1"/>
                </a:solidFill>
              </a:rPr>
              <a:t>mcs</a:t>
            </a:r>
            <a:r>
              <a:rPr lang="en-US" sz="1400" dirty="0">
                <a:solidFill>
                  <a:schemeClr val="bg1"/>
                </a:solidFill>
              </a:rPr>
              <a:t> but in sampling the data from the model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Aptos" panose="02110004020202020204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dirty="0">
              <a:solidFill>
                <a:schemeClr val="bg1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dirty="0">
              <a:solidFill>
                <a:schemeClr val="bg1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chemeClr val="bg1"/>
                </a:solidFill>
              </a:rPr>
              <a:t>Proposal: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1"/>
                </a:solidFill>
              </a:rPr>
              <a:t>Use lpddr6_wck inside write/read </a:t>
            </a:r>
            <a:r>
              <a:rPr lang="en-US" sz="1400" dirty="0" err="1">
                <a:solidFill>
                  <a:schemeClr val="bg1"/>
                </a:solidFill>
              </a:rPr>
              <a:t>mcs</a:t>
            </a:r>
            <a:r>
              <a:rPr lang="en-US" sz="1400" dirty="0">
                <a:solidFill>
                  <a:schemeClr val="bg1"/>
                </a:solidFill>
              </a:rPr>
              <a:t> model to delay data in </a:t>
            </a:r>
            <a:r>
              <a:rPr lang="en-US" sz="1400" dirty="0" err="1">
                <a:solidFill>
                  <a:schemeClr val="bg1"/>
                </a:solidFill>
              </a:rPr>
              <a:t>wck</a:t>
            </a:r>
            <a:r>
              <a:rPr lang="en-US" sz="1400" dirty="0">
                <a:solidFill>
                  <a:schemeClr val="bg1"/>
                </a:solidFill>
              </a:rPr>
              <a:t> rate</a:t>
            </a:r>
          </a:p>
          <a:p>
            <a:pPr marL="341313" lvl="1" indent="-341313"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chemeClr val="bg1"/>
                </a:solidFill>
              </a:rPr>
              <a:t>Requirement: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1"/>
                </a:solidFill>
              </a:rPr>
              <a:t> lpddr6_wck  should be free running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sz="1400" b="1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sz="1400" b="1" dirty="0">
              <a:solidFill>
                <a:schemeClr val="bg1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ley Hand ITC" panose="03070402050302030203" pitchFamily="66" charset="0"/>
              <a:ea typeface="+mn-ea"/>
              <a:cs typeface="+mn-c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18057-E21B-7116-9320-8C13DFBA4E72}"/>
              </a:ext>
            </a:extLst>
          </p:cNvPr>
          <p:cNvSpPr/>
          <p:nvPr/>
        </p:nvSpPr>
        <p:spPr>
          <a:xfrm>
            <a:off x="8399340" y="261567"/>
            <a:ext cx="3298417" cy="3494646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BF284E-465F-628D-F816-72E671DB4143}"/>
              </a:ext>
            </a:extLst>
          </p:cNvPr>
          <p:cNvSpPr/>
          <p:nvPr/>
        </p:nvSpPr>
        <p:spPr>
          <a:xfrm>
            <a:off x="9654988" y="726354"/>
            <a:ext cx="1228164" cy="106680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605536-6D06-0D70-5B41-7C3371CB0928}"/>
              </a:ext>
            </a:extLst>
          </p:cNvPr>
          <p:cNvSpPr/>
          <p:nvPr/>
        </p:nvSpPr>
        <p:spPr>
          <a:xfrm>
            <a:off x="9654988" y="2304142"/>
            <a:ext cx="1228164" cy="1066800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F902F3-C9DB-B6EB-B11A-C3DBD6BBE699}"/>
              </a:ext>
            </a:extLst>
          </p:cNvPr>
          <p:cNvSpPr txBox="1"/>
          <p:nvPr/>
        </p:nvSpPr>
        <p:spPr>
          <a:xfrm>
            <a:off x="9860585" y="786071"/>
            <a:ext cx="816379" cy="155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 err="1">
                <a:solidFill>
                  <a:schemeClr val="bg1"/>
                </a:solidFill>
              </a:rPr>
              <a:t>dfi_read_mcs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4609C1-0DAD-D630-4CA7-0A00E77DA148}"/>
              </a:ext>
            </a:extLst>
          </p:cNvPr>
          <p:cNvSpPr txBox="1"/>
          <p:nvPr/>
        </p:nvSpPr>
        <p:spPr>
          <a:xfrm>
            <a:off x="9860585" y="2319778"/>
            <a:ext cx="816379" cy="155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 err="1">
                <a:solidFill>
                  <a:schemeClr val="bg1"/>
                </a:solidFill>
              </a:rPr>
              <a:t>dfi_write_mcs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3AA691-3525-2C57-91EA-F9ED90F909D0}"/>
              </a:ext>
            </a:extLst>
          </p:cNvPr>
          <p:cNvCxnSpPr>
            <a:cxnSpLocks/>
          </p:cNvCxnSpPr>
          <p:nvPr/>
        </p:nvCxnSpPr>
        <p:spPr>
          <a:xfrm>
            <a:off x="8364070" y="863789"/>
            <a:ext cx="1290918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870FAC6-42C2-228D-E542-127A86A1B46E}"/>
              </a:ext>
            </a:extLst>
          </p:cNvPr>
          <p:cNvSpPr txBox="1"/>
          <p:nvPr/>
        </p:nvSpPr>
        <p:spPr>
          <a:xfrm>
            <a:off x="8516470" y="682450"/>
            <a:ext cx="47512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</a:rPr>
              <a:t>dfi_clk</a:t>
            </a:r>
            <a:endParaRPr lang="en-US" sz="110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C5DFD1-6339-2B60-A1BD-9BF5834D77AC}"/>
              </a:ext>
            </a:extLst>
          </p:cNvPr>
          <p:cNvCxnSpPr>
            <a:cxnSpLocks/>
          </p:cNvCxnSpPr>
          <p:nvPr/>
        </p:nvCxnSpPr>
        <p:spPr>
          <a:xfrm>
            <a:off x="8381705" y="1033066"/>
            <a:ext cx="1290918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6E39C64-35B1-281C-1878-98CAE3756871}"/>
              </a:ext>
            </a:extLst>
          </p:cNvPr>
          <p:cNvSpPr txBox="1"/>
          <p:nvPr/>
        </p:nvSpPr>
        <p:spPr>
          <a:xfrm>
            <a:off x="8534105" y="851727"/>
            <a:ext cx="81578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</a:rPr>
              <a:t>dfi_phy_clk</a:t>
            </a:r>
            <a:endParaRPr lang="en-US" sz="1100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9ED983-B523-DD1D-F671-C2F5199C0298}"/>
              </a:ext>
            </a:extLst>
          </p:cNvPr>
          <p:cNvCxnSpPr>
            <a:cxnSpLocks/>
          </p:cNvCxnSpPr>
          <p:nvPr/>
        </p:nvCxnSpPr>
        <p:spPr>
          <a:xfrm>
            <a:off x="8381705" y="2468294"/>
            <a:ext cx="1290918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D9088F7-0D83-0043-5984-67635A2D6CA9}"/>
              </a:ext>
            </a:extLst>
          </p:cNvPr>
          <p:cNvSpPr txBox="1"/>
          <p:nvPr/>
        </p:nvSpPr>
        <p:spPr>
          <a:xfrm>
            <a:off x="8534105" y="2286955"/>
            <a:ext cx="47512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</a:rPr>
              <a:t>dfi_clk</a:t>
            </a:r>
            <a:endParaRPr lang="en-US" sz="11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EDCF67-8291-B857-EF14-951973654D5B}"/>
              </a:ext>
            </a:extLst>
          </p:cNvPr>
          <p:cNvCxnSpPr>
            <a:cxnSpLocks/>
          </p:cNvCxnSpPr>
          <p:nvPr/>
        </p:nvCxnSpPr>
        <p:spPr>
          <a:xfrm>
            <a:off x="8381705" y="2667538"/>
            <a:ext cx="1290918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47E692A-42A7-9C63-09DF-755D9D1EA2C5}"/>
              </a:ext>
            </a:extLst>
          </p:cNvPr>
          <p:cNvSpPr txBox="1"/>
          <p:nvPr/>
        </p:nvSpPr>
        <p:spPr>
          <a:xfrm>
            <a:off x="8534105" y="2486199"/>
            <a:ext cx="81578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</a:rPr>
              <a:t>dfi_phy_clk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A8A640-D6D8-13AE-2268-8992EBA17B6D}"/>
              </a:ext>
            </a:extLst>
          </p:cNvPr>
          <p:cNvSpPr txBox="1"/>
          <p:nvPr/>
        </p:nvSpPr>
        <p:spPr>
          <a:xfrm>
            <a:off x="9821680" y="267495"/>
            <a:ext cx="9102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lpddr5_dfi_data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4B72CF6-E084-A146-3121-31B06B665886}"/>
              </a:ext>
            </a:extLst>
          </p:cNvPr>
          <p:cNvCxnSpPr>
            <a:cxnSpLocks/>
          </p:cNvCxnSpPr>
          <p:nvPr/>
        </p:nvCxnSpPr>
        <p:spPr>
          <a:xfrm>
            <a:off x="8381705" y="2866782"/>
            <a:ext cx="1290918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1489D96-7C79-0A90-1325-E279BD43429B}"/>
              </a:ext>
            </a:extLst>
          </p:cNvPr>
          <p:cNvSpPr txBox="1"/>
          <p:nvPr/>
        </p:nvSpPr>
        <p:spPr>
          <a:xfrm>
            <a:off x="8278550" y="2702746"/>
            <a:ext cx="142609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>
                <a:solidFill>
                  <a:schemeClr val="bg1"/>
                </a:solidFill>
              </a:rPr>
              <a:t>dfi_sc0_wrdata_p_N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17604D-70D0-982E-659C-21B8346A6B49}"/>
              </a:ext>
            </a:extLst>
          </p:cNvPr>
          <p:cNvCxnSpPr>
            <a:cxnSpLocks/>
          </p:cNvCxnSpPr>
          <p:nvPr/>
        </p:nvCxnSpPr>
        <p:spPr>
          <a:xfrm>
            <a:off x="8399340" y="1250214"/>
            <a:ext cx="1290918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933C0BB-5CA0-51BC-248A-B34CF07DDAB6}"/>
              </a:ext>
            </a:extLst>
          </p:cNvPr>
          <p:cNvSpPr txBox="1"/>
          <p:nvPr/>
        </p:nvSpPr>
        <p:spPr>
          <a:xfrm>
            <a:off x="8542125" y="1065954"/>
            <a:ext cx="22028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>
                <a:solidFill>
                  <a:schemeClr val="bg1"/>
                </a:solidFill>
              </a:rPr>
              <a:t>DQ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457108E-8A46-E021-FEA3-EFB1F0924B8F}"/>
              </a:ext>
            </a:extLst>
          </p:cNvPr>
          <p:cNvCxnSpPr>
            <a:cxnSpLocks/>
          </p:cNvCxnSpPr>
          <p:nvPr/>
        </p:nvCxnSpPr>
        <p:spPr>
          <a:xfrm>
            <a:off x="10883447" y="2717729"/>
            <a:ext cx="1290918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756B2E1-C10A-1BE2-B484-B020295DB03D}"/>
              </a:ext>
            </a:extLst>
          </p:cNvPr>
          <p:cNvSpPr txBox="1"/>
          <p:nvPr/>
        </p:nvSpPr>
        <p:spPr>
          <a:xfrm>
            <a:off x="11026232" y="2533469"/>
            <a:ext cx="22028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>
                <a:solidFill>
                  <a:schemeClr val="bg1"/>
                </a:solidFill>
              </a:rPr>
              <a:t>DQ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49DE9D-490B-C5B2-0EE5-E827C460C850}"/>
              </a:ext>
            </a:extLst>
          </p:cNvPr>
          <p:cNvSpPr txBox="1"/>
          <p:nvPr/>
        </p:nvSpPr>
        <p:spPr>
          <a:xfrm>
            <a:off x="10901082" y="882905"/>
            <a:ext cx="129091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>
                <a:solidFill>
                  <a:schemeClr val="bg1"/>
                </a:solidFill>
              </a:rPr>
              <a:t>dfi_sc0_rddata_w_N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E5B1E52-80AF-C334-CAF0-7C9CA075DBEF}"/>
              </a:ext>
            </a:extLst>
          </p:cNvPr>
          <p:cNvCxnSpPr>
            <a:cxnSpLocks/>
          </p:cNvCxnSpPr>
          <p:nvPr/>
        </p:nvCxnSpPr>
        <p:spPr>
          <a:xfrm>
            <a:off x="10883152" y="1067165"/>
            <a:ext cx="1290918" cy="0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9801EAB9-6C15-4307-C807-0DD2910C6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077" y="4236127"/>
            <a:ext cx="6283993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6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8117D-4100-8268-D56C-C8479EFF133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FA22AE-D24E-CC1A-8EA0-5107FB8E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Ratios (</a:t>
            </a:r>
            <a:r>
              <a:rPr lang="en-US" dirty="0" err="1"/>
              <a:t>Cmd</a:t>
            </a:r>
            <a:r>
              <a:rPr lang="en-US" dirty="0"/>
              <a:t> </a:t>
            </a:r>
            <a:r>
              <a:rPr lang="en-US" dirty="0" err="1"/>
              <a:t>freq</a:t>
            </a:r>
            <a:r>
              <a:rPr lang="en-US" dirty="0"/>
              <a:t> ratio , Data </a:t>
            </a:r>
            <a:r>
              <a:rPr lang="en-US" dirty="0" err="1"/>
              <a:t>freq</a:t>
            </a:r>
            <a:r>
              <a:rPr lang="en-US" dirty="0"/>
              <a:t> ratio)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F38E1-C0A6-173A-C5EB-659EF13FC9F0}"/>
              </a:ext>
            </a:extLst>
          </p:cNvPr>
          <p:cNvSpPr txBox="1"/>
          <p:nvPr/>
        </p:nvSpPr>
        <p:spPr>
          <a:xfrm>
            <a:off x="410399" y="1302589"/>
            <a:ext cx="7935741" cy="40318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schemeClr val="bg1"/>
                </a:solidFill>
              </a:rPr>
              <a:t>In order to support two independent ratios and 1:8 frequency ratio configuration, the following common modules will be impacted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 err="1">
                <a:solidFill>
                  <a:schemeClr val="bg1"/>
                </a:solidFill>
              </a:rPr>
              <a:t>dfi_read_mcs</a:t>
            </a: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 err="1">
                <a:solidFill>
                  <a:schemeClr val="bg1"/>
                </a:solidFill>
              </a:rPr>
              <a:t>dfi_write_mcs</a:t>
            </a: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 err="1">
                <a:solidFill>
                  <a:schemeClr val="bg1"/>
                </a:solidFill>
              </a:rPr>
              <a:t>dfi_ctrl_dly</a:t>
            </a: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bg1"/>
                </a:solidFill>
              </a:rPr>
              <a:t>dfi5_clk_gen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1600" dirty="0" err="1">
                <a:solidFill>
                  <a:schemeClr val="bg1"/>
                </a:solidFill>
              </a:rPr>
              <a:t>dfi_alrt_rprt</a:t>
            </a:r>
            <a:endParaRPr lang="en-US" sz="1600" dirty="0">
              <a:solidFill>
                <a:schemeClr val="bg1"/>
              </a:solidFill>
            </a:endParaRPr>
          </a:p>
          <a:p>
            <a:pPr marL="0" lvl="1" indent="457200"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bg1"/>
                </a:solidFill>
              </a:rPr>
              <a:t>So, our proposal is do the same as DDR5 , implement new version of these modules for LPDDR6 specifically , and update </a:t>
            </a:r>
            <a:r>
              <a:rPr lang="en-US" sz="1600" dirty="0" err="1">
                <a:solidFill>
                  <a:schemeClr val="bg1"/>
                </a:solidFill>
              </a:rPr>
              <a:t>dfi_generics</a:t>
            </a:r>
            <a:r>
              <a:rPr lang="en-US" sz="1600" dirty="0">
                <a:solidFill>
                  <a:schemeClr val="bg1"/>
                </a:solidFill>
              </a:rPr>
              <a:t> consequently</a:t>
            </a:r>
          </a:p>
          <a:p>
            <a:pPr lvl="1"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lvl="1"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ley Hand ITC" panose="03070402050302030203" pitchFamily="66" charset="0"/>
              <a:ea typeface="+mn-ea"/>
              <a:cs typeface="+mn-c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241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4DC9-4B4A-D4C4-96E9-BDC00B51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7B65-D6DC-737C-5425-54776628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99" y="1414463"/>
            <a:ext cx="11485427" cy="615553"/>
          </a:xfrm>
        </p:spPr>
        <p:txBody>
          <a:bodyPr/>
          <a:lstStyle/>
          <a:p>
            <a:pPr marL="0"/>
            <a:r>
              <a:rPr lang="en-US" dirty="0"/>
              <a:t>DBI Inversion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6FA83-E9CA-980A-6E2C-60F203EF2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6F503-8316-B063-537E-55D5DBE5437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2025-11-10 | LPDDR6 DFI </a:t>
            </a:r>
            <a:r>
              <a:rPr lang="en-US" dirty="0" err="1"/>
              <a:t>Softmodel</a:t>
            </a:r>
            <a:r>
              <a:rPr lang="en-US" dirty="0"/>
              <a:t> | Siemens Digital Industries Software | Where today meets tomorrow.</a:t>
            </a:r>
          </a:p>
        </p:txBody>
      </p:sp>
    </p:spTree>
    <p:extLst>
      <p:ext uri="{BB962C8B-B14F-4D97-AF65-F5344CB8AC3E}">
        <p14:creationId xmlns:p14="http://schemas.microsoft.com/office/powerpoint/2010/main" val="3704450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FDC9-9407-DF82-3E7C-04E02FC0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FFE45-B093-59B3-481D-D849CA9BB7C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4ED0F7-84B2-AE12-71D9-E887B77A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DBI Inversion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0AEE-58BE-32E4-DEE2-792082DB4EC3}"/>
              </a:ext>
            </a:extLst>
          </p:cNvPr>
          <p:cNvSpPr txBox="1"/>
          <p:nvPr/>
        </p:nvSpPr>
        <p:spPr>
          <a:xfrm>
            <a:off x="410399" y="1302589"/>
            <a:ext cx="6930680" cy="46320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500" dirty="0">
              <a:solidFill>
                <a:schemeClr val="bg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schemeClr val="bg1"/>
                </a:solidFill>
              </a:rPr>
              <a:t>As discussed before LPDDR6 has the inversion bits within the data packet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schemeClr val="bg1"/>
                </a:solidFill>
              </a:rPr>
              <a:t>We won’t have neither </a:t>
            </a:r>
            <a:r>
              <a:rPr lang="en-US" sz="1500" dirty="0" err="1">
                <a:solidFill>
                  <a:schemeClr val="bg1"/>
                </a:solidFill>
              </a:rPr>
              <a:t>dfi_wrdata_mask</a:t>
            </a:r>
            <a:r>
              <a:rPr lang="en-US" sz="1500" dirty="0">
                <a:solidFill>
                  <a:schemeClr val="bg1"/>
                </a:solidFill>
              </a:rPr>
              <a:t>  nor </a:t>
            </a:r>
            <a:r>
              <a:rPr lang="en-US" sz="1500" dirty="0" err="1">
                <a:solidFill>
                  <a:schemeClr val="bg1"/>
                </a:solidFill>
              </a:rPr>
              <a:t>dfi_rddata_dbi</a:t>
            </a:r>
            <a:r>
              <a:rPr lang="en-US" sz="1500" dirty="0">
                <a:solidFill>
                  <a:schemeClr val="bg1"/>
                </a:solidFill>
              </a:rPr>
              <a:t> signals on the interface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 err="1">
                <a:solidFill>
                  <a:schemeClr val="bg1"/>
                </a:solidFill>
              </a:rPr>
              <a:t>Phy_dbi_mode</a:t>
            </a:r>
            <a:r>
              <a:rPr lang="en-US" sz="1500" dirty="0">
                <a:solidFill>
                  <a:schemeClr val="bg1"/>
                </a:solidFill>
              </a:rPr>
              <a:t> will be considered as parameter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1"/>
                </a:solidFill>
              </a:rPr>
              <a:t>Case1: </a:t>
            </a:r>
            <a:r>
              <a:rPr lang="en-US" sz="1400" b="1" i="1" dirty="0" err="1">
                <a:solidFill>
                  <a:schemeClr val="bg1"/>
                </a:solidFill>
              </a:rPr>
              <a:t>Phy_dbi_mode</a:t>
            </a:r>
            <a:r>
              <a:rPr lang="en-US" sz="1400" b="1" i="1" dirty="0">
                <a:solidFill>
                  <a:schemeClr val="bg1"/>
                </a:solidFill>
              </a:rPr>
              <a:t> = 0 </a:t>
            </a:r>
            <a:r>
              <a:rPr lang="en-US" sz="1400" dirty="0">
                <a:solidFill>
                  <a:schemeClr val="bg1"/>
                </a:solidFill>
              </a:rPr>
              <a:t>, the controller will handle the </a:t>
            </a:r>
            <a:r>
              <a:rPr lang="en-US" sz="1400" dirty="0" err="1">
                <a:solidFill>
                  <a:schemeClr val="bg1"/>
                </a:solidFill>
              </a:rPr>
              <a:t>dbi</a:t>
            </a:r>
            <a:r>
              <a:rPr lang="en-US" sz="1400" dirty="0">
                <a:solidFill>
                  <a:schemeClr val="bg1"/>
                </a:solidFill>
              </a:rPr>
              <a:t> inversion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schemeClr val="bg1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solidFill>
                  <a:schemeClr val="bg1"/>
                </a:solidFill>
              </a:rPr>
              <a:t>The Read/Write data will be by passed by the </a:t>
            </a:r>
            <a:r>
              <a:rPr lang="en-US" sz="1400" dirty="0" err="1">
                <a:solidFill>
                  <a:schemeClr val="bg1"/>
                </a:solidFill>
              </a:rPr>
              <a:t>phy</a:t>
            </a:r>
            <a:r>
              <a:rPr lang="en-US" sz="1400" dirty="0">
                <a:solidFill>
                  <a:schemeClr val="bg1"/>
                </a:solidFill>
              </a:rPr>
              <a:t> to the MC/</a:t>
            </a:r>
            <a:r>
              <a:rPr lang="en-US" sz="1400" dirty="0" err="1">
                <a:solidFill>
                  <a:schemeClr val="bg1"/>
                </a:solidFill>
              </a:rPr>
              <a:t>softmodel</a:t>
            </a:r>
            <a:endParaRPr lang="en-US" sz="1400" dirty="0">
              <a:solidFill>
                <a:schemeClr val="bg1"/>
              </a:solidFill>
            </a:endParaRPr>
          </a:p>
          <a:p>
            <a:pPr marL="742950" lvl="2" indent="-285750">
              <a:buFont typeface="Arial" panose="020B0604020202020204" pitchFamily="34" charset="0"/>
              <a:buChar char="•"/>
              <a:tabLst>
                <a:tab pos="744538" algn="l"/>
              </a:tabLst>
              <a:defRPr/>
            </a:pPr>
            <a:endParaRPr lang="en-US" sz="1400" dirty="0">
              <a:solidFill>
                <a:schemeClr val="bg1"/>
              </a:solidFill>
            </a:endParaRPr>
          </a:p>
          <a:p>
            <a:pPr marL="742950" lvl="2" indent="-285750">
              <a:buFont typeface="Arial" panose="020B0604020202020204" pitchFamily="34" charset="0"/>
              <a:buChar char="•"/>
              <a:tabLst>
                <a:tab pos="744538" algn="l"/>
              </a:tabLst>
              <a:defRPr/>
            </a:pPr>
            <a:r>
              <a:rPr lang="en-US" sz="1400" dirty="0">
                <a:solidFill>
                  <a:schemeClr val="bg1"/>
                </a:solidFill>
              </a:rPr>
              <a:t>Case2 :</a:t>
            </a:r>
            <a:r>
              <a:rPr lang="en-US" sz="1400" b="1" i="1" dirty="0" err="1">
                <a:solidFill>
                  <a:schemeClr val="bg1"/>
                </a:solidFill>
              </a:rPr>
              <a:t>Phy_dbi_mode</a:t>
            </a:r>
            <a:r>
              <a:rPr lang="en-US" sz="1400" b="1" i="1" dirty="0">
                <a:solidFill>
                  <a:schemeClr val="bg1"/>
                </a:solidFill>
              </a:rPr>
              <a:t>=1 </a:t>
            </a:r>
            <a:r>
              <a:rPr lang="en-US" sz="1400" dirty="0">
                <a:solidFill>
                  <a:schemeClr val="bg1"/>
                </a:solidFill>
              </a:rPr>
              <a:t>, the </a:t>
            </a:r>
            <a:r>
              <a:rPr lang="en-US" sz="1400" dirty="0" err="1">
                <a:solidFill>
                  <a:schemeClr val="bg1"/>
                </a:solidFill>
              </a:rPr>
              <a:t>phy</a:t>
            </a:r>
            <a:r>
              <a:rPr lang="en-US" sz="1400" dirty="0">
                <a:solidFill>
                  <a:schemeClr val="bg1"/>
                </a:solidFill>
              </a:rPr>
              <a:t> should handle the inversion</a:t>
            </a:r>
          </a:p>
          <a:p>
            <a:pPr marL="1200150" lvl="3" indent="-285750">
              <a:buFont typeface="Arial" panose="020B0604020202020204" pitchFamily="34" charset="0"/>
              <a:buChar char="•"/>
              <a:tabLst>
                <a:tab pos="744538" algn="l"/>
              </a:tabLst>
              <a:defRPr/>
            </a:pPr>
            <a:endParaRPr lang="en-US" sz="1400" dirty="0">
              <a:solidFill>
                <a:schemeClr val="bg1"/>
              </a:solidFill>
            </a:endParaRPr>
          </a:p>
          <a:p>
            <a:pPr marL="1200150" lvl="3" indent="-285750">
              <a:buFont typeface="Wingdings" panose="05000000000000000000" pitchFamily="2" charset="2"/>
              <a:buChar char="Ø"/>
              <a:tabLst>
                <a:tab pos="744538" algn="l"/>
              </a:tabLst>
              <a:defRPr/>
            </a:pPr>
            <a:r>
              <a:rPr lang="en-US" sz="1400" dirty="0" err="1">
                <a:solidFill>
                  <a:schemeClr val="bg1"/>
                </a:solidFill>
              </a:rPr>
              <a:t>Phy_dbi_mode</a:t>
            </a:r>
            <a:r>
              <a:rPr lang="en-US" sz="1400" dirty="0">
                <a:solidFill>
                  <a:schemeClr val="bg1"/>
                </a:solidFill>
              </a:rPr>
              <a:t> will be bypassed to the model to turn-off the </a:t>
            </a:r>
            <a:r>
              <a:rPr lang="en-US" sz="1400" dirty="0" err="1">
                <a:solidFill>
                  <a:schemeClr val="bg1"/>
                </a:solidFill>
              </a:rPr>
              <a:t>dbi</a:t>
            </a:r>
            <a:r>
              <a:rPr lang="en-US" sz="1400" dirty="0">
                <a:solidFill>
                  <a:schemeClr val="bg1"/>
                </a:solidFill>
              </a:rPr>
              <a:t> feature inside the LP6 , so the </a:t>
            </a:r>
            <a:r>
              <a:rPr lang="en-US" sz="1400" dirty="0" err="1">
                <a:solidFill>
                  <a:schemeClr val="bg1"/>
                </a:solidFill>
              </a:rPr>
              <a:t>phy</a:t>
            </a:r>
            <a:r>
              <a:rPr lang="en-US" sz="1400" dirty="0">
                <a:solidFill>
                  <a:schemeClr val="bg1"/>
                </a:solidFill>
              </a:rPr>
              <a:t> can bypass the read and write data without any processing.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lvl="2"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ley Hand ITC" panose="03070402050302030203" pitchFamily="66" charset="0"/>
              <a:ea typeface="+mn-ea"/>
              <a:cs typeface="+mn-c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err="1">
              <a:solidFill>
                <a:schemeClr val="bg1"/>
              </a:solidFill>
            </a:endParaRPr>
          </a:p>
        </p:txBody>
      </p:sp>
      <p:pic>
        <p:nvPicPr>
          <p:cNvPr id="2" name="Content Placeholder 6">
            <a:extLst>
              <a:ext uri="{FF2B5EF4-FFF2-40B4-BE49-F238E27FC236}">
                <a16:creationId xmlns:a16="http://schemas.microsoft.com/office/drawing/2014/main" id="{251CA036-9570-DA89-D05D-69D7AE275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3824"/>
          <a:stretch>
            <a:fillRect/>
          </a:stretch>
        </p:blipFill>
        <p:spPr>
          <a:xfrm>
            <a:off x="7341079" y="871229"/>
            <a:ext cx="4773284" cy="3658111"/>
          </a:xfr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202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C4F86-728B-7B2C-C74E-367A6278C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EDE4-41D2-A125-FF49-0A1B9AE9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99" y="1414463"/>
            <a:ext cx="11485427" cy="615553"/>
          </a:xfrm>
        </p:spPr>
        <p:txBody>
          <a:bodyPr/>
          <a:lstStyle/>
          <a:p>
            <a:pPr marL="0"/>
            <a:r>
              <a:rPr lang="en-US" dirty="0"/>
              <a:t>Even Cycle command only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82918-5E9F-87C6-5014-044B3B8B52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66B86-6E24-837D-48C5-5E9510F28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2025-11-10 | LPDDR6 DFI </a:t>
            </a:r>
            <a:r>
              <a:rPr lang="en-US" dirty="0" err="1"/>
              <a:t>Softmodel</a:t>
            </a:r>
            <a:r>
              <a:rPr lang="en-US" dirty="0"/>
              <a:t> | Siemens Digital Industries Software | Where today meets tomorrow.</a:t>
            </a:r>
          </a:p>
        </p:txBody>
      </p:sp>
    </p:spTree>
    <p:extLst>
      <p:ext uri="{BB962C8B-B14F-4D97-AF65-F5344CB8AC3E}">
        <p14:creationId xmlns:p14="http://schemas.microsoft.com/office/powerpoint/2010/main" val="1718176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1040-BA7E-A223-2972-8C4DB576A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D3B82-4AE0-9682-454B-F37B0D51DFB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A7AF84-6954-5BAF-5B0B-61A3712C9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Cycle command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7F5ED-E8D2-0682-881D-498D45F52240}"/>
              </a:ext>
            </a:extLst>
          </p:cNvPr>
          <p:cNvSpPr txBox="1"/>
          <p:nvPr/>
        </p:nvSpPr>
        <p:spPr>
          <a:xfrm>
            <a:off x="410398" y="1302589"/>
            <a:ext cx="7254425" cy="40780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7338" lvl="2" indent="-171450">
              <a:buFont typeface="Arial" panose="020B0604020202020204" pitchFamily="34" charset="0"/>
              <a:buChar char="•"/>
              <a:tabLst>
                <a:tab pos="287338" algn="l"/>
              </a:tabLst>
              <a:defRPr/>
            </a:pPr>
            <a:r>
              <a:rPr lang="en-US" sz="1500" dirty="0">
                <a:solidFill>
                  <a:schemeClr val="bg1"/>
                </a:solidFill>
              </a:rPr>
              <a:t>This Feature emphasizes the importance of receiving command in Even cycles only , after doing CK sync sequence.</a:t>
            </a:r>
          </a:p>
          <a:p>
            <a:pPr marL="287338" lvl="2" indent="-171450">
              <a:buFont typeface="Arial" panose="020B0604020202020204" pitchFamily="34" charset="0"/>
              <a:buChar char="•"/>
              <a:tabLst>
                <a:tab pos="287338" algn="l"/>
              </a:tabLst>
              <a:defRPr/>
            </a:pPr>
            <a:endParaRPr lang="en-US" sz="1500" dirty="0">
              <a:solidFill>
                <a:schemeClr val="bg1"/>
              </a:solidFill>
            </a:endParaRPr>
          </a:p>
          <a:p>
            <a:pPr marL="287338" lvl="2" indent="-171450">
              <a:buFont typeface="Arial" panose="020B0604020202020204" pitchFamily="34" charset="0"/>
              <a:buChar char="•"/>
              <a:tabLst>
                <a:tab pos="287338" algn="l"/>
              </a:tabLst>
              <a:defRPr/>
            </a:pPr>
            <a:endParaRPr lang="en-US" sz="1500" dirty="0">
              <a:solidFill>
                <a:schemeClr val="bg1"/>
              </a:solidFill>
            </a:endParaRPr>
          </a:p>
          <a:p>
            <a:pPr marL="287338" lvl="2" indent="-171450">
              <a:buFont typeface="Arial" panose="020B0604020202020204" pitchFamily="34" charset="0"/>
              <a:buChar char="•"/>
              <a:tabLst>
                <a:tab pos="287338" algn="l"/>
              </a:tabLst>
              <a:defRPr/>
            </a:pPr>
            <a:r>
              <a:rPr lang="en-US" sz="1500" dirty="0">
                <a:solidFill>
                  <a:schemeClr val="bg1"/>
                </a:solidFill>
              </a:rPr>
              <a:t>This feature is enabled in LPDDR6 through a parameter EVEN_CYCLE_CMD_ONLY.</a:t>
            </a:r>
          </a:p>
          <a:p>
            <a:pPr marL="287338" lvl="2" indent="-171450">
              <a:buFont typeface="Arial" panose="020B0604020202020204" pitchFamily="34" charset="0"/>
              <a:buChar char="•"/>
              <a:tabLst>
                <a:tab pos="287338" algn="l"/>
              </a:tabLst>
              <a:defRPr/>
            </a:pPr>
            <a:endParaRPr lang="en-US" sz="1500" dirty="0">
              <a:solidFill>
                <a:schemeClr val="bg1"/>
              </a:solidFill>
            </a:endParaRPr>
          </a:p>
          <a:p>
            <a:pPr marL="115888" lvl="2">
              <a:tabLst>
                <a:tab pos="287338" algn="l"/>
              </a:tabLst>
              <a:defRPr/>
            </a:pPr>
            <a:endParaRPr lang="en-US" sz="1500" dirty="0">
              <a:solidFill>
                <a:schemeClr val="bg1"/>
              </a:solidFill>
            </a:endParaRPr>
          </a:p>
          <a:p>
            <a:pPr marL="287338" lvl="2" indent="-171450">
              <a:buFont typeface="Arial" panose="020B0604020202020204" pitchFamily="34" charset="0"/>
              <a:buChar char="•"/>
              <a:tabLst>
                <a:tab pos="287338" algn="l"/>
              </a:tabLst>
              <a:defRPr/>
            </a:pPr>
            <a:r>
              <a:rPr lang="en-US" sz="1500" dirty="0">
                <a:solidFill>
                  <a:schemeClr val="bg1"/>
                </a:solidFill>
              </a:rPr>
              <a:t>I suggest that the DFI sets this parameter to zero to enable the user to send commands any time without the headache of syncing and defining even and odd cycles.</a:t>
            </a:r>
          </a:p>
          <a:p>
            <a:pPr marL="287338" lvl="2" indent="-171450">
              <a:buFont typeface="Arial" panose="020B0604020202020204" pitchFamily="34" charset="0"/>
              <a:buChar char="•"/>
              <a:tabLst>
                <a:tab pos="287338" algn="l"/>
              </a:tabLst>
              <a:defRPr/>
            </a:pPr>
            <a:endParaRPr lang="en-US" sz="1500" dirty="0">
              <a:solidFill>
                <a:schemeClr val="bg1"/>
              </a:solidFill>
            </a:endParaRPr>
          </a:p>
          <a:p>
            <a:pPr marL="115888" lvl="2">
              <a:tabLst>
                <a:tab pos="287338" algn="l"/>
              </a:tabLst>
              <a:defRPr/>
            </a:pPr>
            <a:r>
              <a:rPr lang="en-US" sz="1500" dirty="0">
                <a:solidFill>
                  <a:schemeClr val="bg1"/>
                </a:solidFill>
              </a:rPr>
              <a:t>  </a:t>
            </a:r>
            <a:endParaRPr lang="en-US" sz="1600" dirty="0">
              <a:solidFill>
                <a:schemeClr val="bg1"/>
              </a:solidFill>
            </a:endParaRPr>
          </a:p>
          <a:p>
            <a:pPr lvl="2"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adley Hand ITC" panose="03070402050302030203" pitchFamily="66" charset="0"/>
              <a:ea typeface="+mn-ea"/>
              <a:cs typeface="+mn-c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167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8597-3235-BCBC-073D-F726FE27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DBB1-B800-71B1-BB44-52D0AFC8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99" y="1414463"/>
            <a:ext cx="11485427" cy="615553"/>
          </a:xfrm>
        </p:spPr>
        <p:txBody>
          <a:bodyPr/>
          <a:lstStyle/>
          <a:p>
            <a:pPr marL="0"/>
            <a:r>
              <a:rPr lang="en-US" dirty="0"/>
              <a:t>Read data rotation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BCA4B-D9B6-DE3E-F1CB-3D5205146C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87A65-3C89-CE7E-B6A2-83A6095AA0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2025-11-10 | LPDDR6 DFI </a:t>
            </a:r>
            <a:r>
              <a:rPr lang="en-US" dirty="0" err="1"/>
              <a:t>Softmodel</a:t>
            </a:r>
            <a:r>
              <a:rPr lang="en-US" dirty="0"/>
              <a:t> | Siemens Digital Industries Software | Where today meets tomorrow.</a:t>
            </a:r>
          </a:p>
        </p:txBody>
      </p:sp>
    </p:spTree>
    <p:extLst>
      <p:ext uri="{BB962C8B-B14F-4D97-AF65-F5344CB8AC3E}">
        <p14:creationId xmlns:p14="http://schemas.microsoft.com/office/powerpoint/2010/main" val="235787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5441E-1C1D-0BC3-8B94-776D0081F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418"/>
            <a:ext cx="10515600" cy="1325563"/>
          </a:xfrm>
        </p:spPr>
        <p:txBody>
          <a:bodyPr/>
          <a:lstStyle/>
          <a:p>
            <a:r>
              <a:rPr lang="en-US" dirty="0"/>
              <a:t>Read Data Rotation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CA31B-A304-DCCE-410F-62FDEFDDE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09" y="1053000"/>
            <a:ext cx="4604107" cy="4752000"/>
          </a:xfrm>
        </p:spPr>
        <p:txBody>
          <a:bodyPr/>
          <a:lstStyle/>
          <a:p>
            <a:r>
              <a:rPr lang="en-US" dirty="0"/>
              <a:t>DFI 5.2 formulated rules for data rotation for large frequency ratio systems 1:4 and 1:8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840C6-EA05-0704-C91C-B3B59DDA34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305300" cy="365125"/>
          </a:xfrm>
        </p:spPr>
        <p:txBody>
          <a:bodyPr/>
          <a:lstStyle/>
          <a:p>
            <a:r>
              <a:rPr lang="en-US" dirty="0" err="1"/>
              <a:t>Softmodel</a:t>
            </a:r>
            <a:r>
              <a:rPr lang="en-US" dirty="0"/>
              <a:t> Memories – DFI 5.2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E670E-1CAE-411E-8991-985A6D1334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457776"/>
            <a:ext cx="791309" cy="365125"/>
          </a:xfrm>
        </p:spPr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414B4C-5678-2702-C228-7DE5238377EF}"/>
              </a:ext>
            </a:extLst>
          </p:cNvPr>
          <p:cNvGrpSpPr/>
          <p:nvPr/>
        </p:nvGrpSpPr>
        <p:grpSpPr>
          <a:xfrm>
            <a:off x="4661452" y="953114"/>
            <a:ext cx="7645825" cy="2923147"/>
            <a:chOff x="4766734" y="1996907"/>
            <a:chExt cx="7425265" cy="263696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6A07E6D-6BAA-872F-6886-FE828A201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0113" y="1996907"/>
              <a:ext cx="6985631" cy="71647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E421A40-CE17-91CA-0A6F-7D9C32FE6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66734" y="2812838"/>
              <a:ext cx="7425265" cy="61616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0B53A99-0B74-C669-7D5A-232CE52AE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0113" y="3623914"/>
              <a:ext cx="6981454" cy="38155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103ADA2-45F0-0242-E0D8-51E089A17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66734" y="4195021"/>
              <a:ext cx="7209670" cy="438850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64EDB4C-C5C9-D1F1-AABA-B72C93B284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8516" y="3944423"/>
            <a:ext cx="4408514" cy="27526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286646-B1D6-5CFB-0D1F-C2C4EE337B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8757" y="3951124"/>
            <a:ext cx="3947416" cy="27344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6155E58-BFC5-2F18-7163-78F83A7C4C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509" y="4175888"/>
            <a:ext cx="3394761" cy="168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95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6C18-69F5-79BC-7854-CAA26E9AC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43" y="7206"/>
            <a:ext cx="11386586" cy="1325563"/>
          </a:xfrm>
        </p:spPr>
        <p:txBody>
          <a:bodyPr/>
          <a:lstStyle/>
          <a:p>
            <a:r>
              <a:rPr lang="en-US" dirty="0"/>
              <a:t>Read Data Rotation: </a:t>
            </a:r>
            <a:r>
              <a:rPr lang="en-US" sz="4000" dirty="0"/>
              <a:t>Simple, Moderate, and Extreme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DC4D56C-2726-0C2E-E773-6389B8120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81533" y="3718892"/>
            <a:ext cx="5952205" cy="263745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A1C4C-16EC-3DC5-2CF7-9DB40CB710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848619" y="6512217"/>
            <a:ext cx="4639408" cy="365125"/>
          </a:xfrm>
        </p:spPr>
        <p:txBody>
          <a:bodyPr/>
          <a:lstStyle/>
          <a:p>
            <a:r>
              <a:rPr lang="en-US" dirty="0" err="1"/>
              <a:t>Softmodel</a:t>
            </a:r>
            <a:r>
              <a:rPr lang="en-US" dirty="0"/>
              <a:t> Memories – DFI 5.2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A2E65-0FFD-DDA2-B8CB-99E3DD5E2E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588" y="6485669"/>
            <a:ext cx="806816" cy="365125"/>
          </a:xfrm>
        </p:spPr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879859-8D2C-29DF-378F-044D7D9E0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61" y="1188832"/>
            <a:ext cx="5723676" cy="26374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A04AC6-A02C-03A3-A71A-4F6BDA53B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065" y="1188832"/>
            <a:ext cx="5616427" cy="25300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7F0640-E990-BB85-42BE-CACEB4A93B1D}"/>
              </a:ext>
            </a:extLst>
          </p:cNvPr>
          <p:cNvSpPr txBox="1"/>
          <p:nvPr/>
        </p:nvSpPr>
        <p:spPr>
          <a:xfrm>
            <a:off x="216118" y="3991439"/>
            <a:ext cx="5665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DFI </a:t>
            </a:r>
            <a:r>
              <a:rPr lang="en-US" dirty="0" err="1"/>
              <a:t>softmodels</a:t>
            </a:r>
            <a:r>
              <a:rPr lang="en-US" dirty="0"/>
              <a:t>, so far, follow simple read data rotation with RDLAT_MODE=0 with no gaps during burst beats on read DFI.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RDLAT_MODE =1 , we also don’t have gaps but we start on the phase based on the </a:t>
            </a:r>
            <a:r>
              <a:rPr lang="en-US" dirty="0" err="1"/>
              <a:t>t_phy_rdlat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7583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4084B-9653-36CB-A51E-BAB4B20B3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3913-690D-79AB-6100-3D72AFC1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99" y="1414463"/>
            <a:ext cx="11485427" cy="615553"/>
          </a:xfrm>
        </p:spPr>
        <p:txBody>
          <a:bodyPr/>
          <a:lstStyle/>
          <a:p>
            <a:pPr marL="0"/>
            <a:r>
              <a:rPr lang="en-US" dirty="0"/>
              <a:t>LPDDR6 DFI UVM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D976A-3EF5-3B90-FE06-2482ED91CD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44DC-77A0-247E-41B8-0E8079E910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2025-11-10 | LPDDR6 DFI </a:t>
            </a:r>
            <a:r>
              <a:rPr lang="en-US" dirty="0" err="1"/>
              <a:t>Softmodel</a:t>
            </a:r>
            <a:r>
              <a:rPr lang="en-US" dirty="0"/>
              <a:t> | Siemens Digital Industries Software | Where today meets tomorrow.</a:t>
            </a:r>
          </a:p>
        </p:txBody>
      </p:sp>
    </p:spTree>
    <p:extLst>
      <p:ext uri="{BB962C8B-B14F-4D97-AF65-F5344CB8AC3E}">
        <p14:creationId xmlns:p14="http://schemas.microsoft.com/office/powerpoint/2010/main" val="1523931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73660-AAF3-4003-BF3B-2BEB6502C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3"/>
            <a:ext cx="11376788" cy="1015663"/>
          </a:xfrm>
        </p:spPr>
        <p:txBody>
          <a:bodyPr/>
          <a:lstStyle/>
          <a:p>
            <a:r>
              <a:rPr lang="en-US" sz="6600" dirty="0"/>
              <a:t>UVM Unified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855FF-0313-C58B-2530-1F73FF29C0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489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4">
            <a:extLst>
              <a:ext uri="{FF2B5EF4-FFF2-40B4-BE49-F238E27FC236}">
                <a16:creationId xmlns:a16="http://schemas.microsoft.com/office/drawing/2014/main" id="{04EB125B-597A-1B87-B4A2-F0268C8C7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3015" y="3865809"/>
            <a:ext cx="1158818" cy="1432549"/>
          </a:xfrm>
          <a:prstGeom prst="rect">
            <a:avLst/>
          </a:prstGeom>
          <a:solidFill>
            <a:srgbClr val="90AADB"/>
          </a:solidFill>
          <a:ln w="14288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162" y="1414800"/>
            <a:ext cx="11613198" cy="5149902"/>
          </a:xfrm>
        </p:spPr>
        <p:txBody>
          <a:bodyPr/>
          <a:lstStyle/>
          <a:p>
            <a:pPr lvl="2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FE7838D9-3EFD-49AE-A1F7-F0E4DA3E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62" y="73252"/>
            <a:ext cx="9863997" cy="576000"/>
          </a:xfrm>
        </p:spPr>
        <p:txBody>
          <a:bodyPr/>
          <a:lstStyle/>
          <a:p>
            <a:r>
              <a:rPr lang="en-US" dirty="0"/>
              <a:t>LPDDR6 DFI Architecture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C9E283-3B80-4BAF-993F-1328EC4F8939}"/>
              </a:ext>
            </a:extLst>
          </p:cNvPr>
          <p:cNvGrpSpPr/>
          <p:nvPr/>
        </p:nvGrpSpPr>
        <p:grpSpPr>
          <a:xfrm>
            <a:off x="167640" y="640282"/>
            <a:ext cx="11263801" cy="6026262"/>
            <a:chOff x="477012" y="668782"/>
            <a:chExt cx="10906125" cy="5729801"/>
          </a:xfrm>
        </p:grpSpPr>
        <p:sp>
          <p:nvSpPr>
            <p:cNvPr id="42" name="AutoShape 3">
              <a:extLst>
                <a:ext uri="{FF2B5EF4-FFF2-40B4-BE49-F238E27FC236}">
                  <a16:creationId xmlns:a16="http://schemas.microsoft.com/office/drawing/2014/main" id="{30B5E3F8-2755-4162-8E6F-6D819231538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77012" y="684351"/>
              <a:ext cx="10906125" cy="5429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B1450B77-41F0-4922-9D97-A583EE56EE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712" y="944701"/>
              <a:ext cx="5308600" cy="4379913"/>
            </a:xfrm>
            <a:custGeom>
              <a:avLst/>
              <a:gdLst>
                <a:gd name="T0" fmla="*/ 0 w 3344"/>
                <a:gd name="T1" fmla="*/ 222 h 2759"/>
                <a:gd name="T2" fmla="*/ 6 w 3344"/>
                <a:gd name="T3" fmla="*/ 397 h 2759"/>
                <a:gd name="T4" fmla="*/ 0 w 3344"/>
                <a:gd name="T5" fmla="*/ 528 h 2759"/>
                <a:gd name="T6" fmla="*/ 6 w 3344"/>
                <a:gd name="T7" fmla="*/ 879 h 2759"/>
                <a:gd name="T8" fmla="*/ 6 w 3344"/>
                <a:gd name="T9" fmla="*/ 923 h 2759"/>
                <a:gd name="T10" fmla="*/ 0 w 3344"/>
                <a:gd name="T11" fmla="*/ 1274 h 2759"/>
                <a:gd name="T12" fmla="*/ 6 w 3344"/>
                <a:gd name="T13" fmla="*/ 1450 h 2759"/>
                <a:gd name="T14" fmla="*/ 0 w 3344"/>
                <a:gd name="T15" fmla="*/ 1582 h 2759"/>
                <a:gd name="T16" fmla="*/ 6 w 3344"/>
                <a:gd name="T17" fmla="*/ 1932 h 2759"/>
                <a:gd name="T18" fmla="*/ 6 w 3344"/>
                <a:gd name="T19" fmla="*/ 1976 h 2759"/>
                <a:gd name="T20" fmla="*/ 0 w 3344"/>
                <a:gd name="T21" fmla="*/ 2327 h 2759"/>
                <a:gd name="T22" fmla="*/ 6 w 3344"/>
                <a:gd name="T23" fmla="*/ 2503 h 2759"/>
                <a:gd name="T24" fmla="*/ 0 w 3344"/>
                <a:gd name="T25" fmla="*/ 2634 h 2759"/>
                <a:gd name="T26" fmla="*/ 232 w 3344"/>
                <a:gd name="T27" fmla="*/ 2753 h 2759"/>
                <a:gd name="T28" fmla="*/ 276 w 3344"/>
                <a:gd name="T29" fmla="*/ 2753 h 2759"/>
                <a:gd name="T30" fmla="*/ 627 w 3344"/>
                <a:gd name="T31" fmla="*/ 2759 h 2759"/>
                <a:gd name="T32" fmla="*/ 802 w 3344"/>
                <a:gd name="T33" fmla="*/ 2753 h 2759"/>
                <a:gd name="T34" fmla="*/ 934 w 3344"/>
                <a:gd name="T35" fmla="*/ 2759 h 2759"/>
                <a:gd name="T36" fmla="*/ 1285 w 3344"/>
                <a:gd name="T37" fmla="*/ 2753 h 2759"/>
                <a:gd name="T38" fmla="*/ 1328 w 3344"/>
                <a:gd name="T39" fmla="*/ 2753 h 2759"/>
                <a:gd name="T40" fmla="*/ 1679 w 3344"/>
                <a:gd name="T41" fmla="*/ 2759 h 2759"/>
                <a:gd name="T42" fmla="*/ 1855 w 3344"/>
                <a:gd name="T43" fmla="*/ 2753 h 2759"/>
                <a:gd name="T44" fmla="*/ 1986 w 3344"/>
                <a:gd name="T45" fmla="*/ 2759 h 2759"/>
                <a:gd name="T46" fmla="*/ 2337 w 3344"/>
                <a:gd name="T47" fmla="*/ 2753 h 2759"/>
                <a:gd name="T48" fmla="*/ 2381 w 3344"/>
                <a:gd name="T49" fmla="*/ 2753 h 2759"/>
                <a:gd name="T50" fmla="*/ 2732 w 3344"/>
                <a:gd name="T51" fmla="*/ 2759 h 2759"/>
                <a:gd name="T52" fmla="*/ 2907 w 3344"/>
                <a:gd name="T53" fmla="*/ 2753 h 2759"/>
                <a:gd name="T54" fmla="*/ 3038 w 3344"/>
                <a:gd name="T55" fmla="*/ 2759 h 2759"/>
                <a:gd name="T56" fmla="*/ 3342 w 3344"/>
                <a:gd name="T57" fmla="*/ 2753 h 2759"/>
                <a:gd name="T58" fmla="*/ 3339 w 3344"/>
                <a:gd name="T59" fmla="*/ 2577 h 2759"/>
                <a:gd name="T60" fmla="*/ 3339 w 3344"/>
                <a:gd name="T61" fmla="*/ 2533 h 2759"/>
                <a:gd name="T62" fmla="*/ 3344 w 3344"/>
                <a:gd name="T63" fmla="*/ 2182 h 2759"/>
                <a:gd name="T64" fmla="*/ 3339 w 3344"/>
                <a:gd name="T65" fmla="*/ 2007 h 2759"/>
                <a:gd name="T66" fmla="*/ 3344 w 3344"/>
                <a:gd name="T67" fmla="*/ 1875 h 2759"/>
                <a:gd name="T68" fmla="*/ 3339 w 3344"/>
                <a:gd name="T69" fmla="*/ 1524 h 2759"/>
                <a:gd name="T70" fmla="*/ 3339 w 3344"/>
                <a:gd name="T71" fmla="*/ 1480 h 2759"/>
                <a:gd name="T72" fmla="*/ 3344 w 3344"/>
                <a:gd name="T73" fmla="*/ 1129 h 2759"/>
                <a:gd name="T74" fmla="*/ 3339 w 3344"/>
                <a:gd name="T75" fmla="*/ 954 h 2759"/>
                <a:gd name="T76" fmla="*/ 3344 w 3344"/>
                <a:gd name="T77" fmla="*/ 822 h 2759"/>
                <a:gd name="T78" fmla="*/ 3339 w 3344"/>
                <a:gd name="T79" fmla="*/ 471 h 2759"/>
                <a:gd name="T80" fmla="*/ 3339 w 3344"/>
                <a:gd name="T81" fmla="*/ 427 h 2759"/>
                <a:gd name="T82" fmla="*/ 3344 w 3344"/>
                <a:gd name="T83" fmla="*/ 76 h 2759"/>
                <a:gd name="T84" fmla="*/ 3344 w 3344"/>
                <a:gd name="T85" fmla="*/ 0 h 2759"/>
                <a:gd name="T86" fmla="*/ 3109 w 3344"/>
                <a:gd name="T87" fmla="*/ 5 h 2759"/>
                <a:gd name="T88" fmla="*/ 2977 w 3344"/>
                <a:gd name="T89" fmla="*/ 0 h 2759"/>
                <a:gd name="T90" fmla="*/ 2626 w 3344"/>
                <a:gd name="T91" fmla="*/ 5 h 2759"/>
                <a:gd name="T92" fmla="*/ 2583 w 3344"/>
                <a:gd name="T93" fmla="*/ 5 h 2759"/>
                <a:gd name="T94" fmla="*/ 2232 w 3344"/>
                <a:gd name="T95" fmla="*/ 0 h 2759"/>
                <a:gd name="T96" fmla="*/ 2057 w 3344"/>
                <a:gd name="T97" fmla="*/ 5 h 2759"/>
                <a:gd name="T98" fmla="*/ 1925 w 3344"/>
                <a:gd name="T99" fmla="*/ 0 h 2759"/>
                <a:gd name="T100" fmla="*/ 1574 w 3344"/>
                <a:gd name="T101" fmla="*/ 5 h 2759"/>
                <a:gd name="T102" fmla="*/ 1530 w 3344"/>
                <a:gd name="T103" fmla="*/ 5 h 2759"/>
                <a:gd name="T104" fmla="*/ 1180 w 3344"/>
                <a:gd name="T105" fmla="*/ 0 h 2759"/>
                <a:gd name="T106" fmla="*/ 1004 w 3344"/>
                <a:gd name="T107" fmla="*/ 5 h 2759"/>
                <a:gd name="T108" fmla="*/ 873 w 3344"/>
                <a:gd name="T109" fmla="*/ 0 h 2759"/>
                <a:gd name="T110" fmla="*/ 522 w 3344"/>
                <a:gd name="T111" fmla="*/ 5 h 2759"/>
                <a:gd name="T112" fmla="*/ 478 w 3344"/>
                <a:gd name="T113" fmla="*/ 5 h 2759"/>
                <a:gd name="T114" fmla="*/ 127 w 3344"/>
                <a:gd name="T115" fmla="*/ 0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44" h="2759">
                  <a:moveTo>
                    <a:pt x="6" y="2"/>
                  </a:moveTo>
                  <a:lnTo>
                    <a:pt x="6" y="90"/>
                  </a:lnTo>
                  <a:lnTo>
                    <a:pt x="0" y="90"/>
                  </a:lnTo>
                  <a:lnTo>
                    <a:pt x="0" y="2"/>
                  </a:lnTo>
                  <a:lnTo>
                    <a:pt x="6" y="2"/>
                  </a:lnTo>
                  <a:close/>
                  <a:moveTo>
                    <a:pt x="6" y="134"/>
                  </a:moveTo>
                  <a:lnTo>
                    <a:pt x="6" y="222"/>
                  </a:lnTo>
                  <a:lnTo>
                    <a:pt x="0" y="222"/>
                  </a:lnTo>
                  <a:lnTo>
                    <a:pt x="0" y="134"/>
                  </a:lnTo>
                  <a:lnTo>
                    <a:pt x="6" y="134"/>
                  </a:lnTo>
                  <a:close/>
                  <a:moveTo>
                    <a:pt x="6" y="265"/>
                  </a:moveTo>
                  <a:lnTo>
                    <a:pt x="6" y="353"/>
                  </a:lnTo>
                  <a:lnTo>
                    <a:pt x="0" y="353"/>
                  </a:lnTo>
                  <a:lnTo>
                    <a:pt x="0" y="265"/>
                  </a:lnTo>
                  <a:lnTo>
                    <a:pt x="6" y="265"/>
                  </a:lnTo>
                  <a:close/>
                  <a:moveTo>
                    <a:pt x="6" y="397"/>
                  </a:moveTo>
                  <a:lnTo>
                    <a:pt x="6" y="485"/>
                  </a:lnTo>
                  <a:lnTo>
                    <a:pt x="0" y="485"/>
                  </a:lnTo>
                  <a:lnTo>
                    <a:pt x="0" y="397"/>
                  </a:lnTo>
                  <a:lnTo>
                    <a:pt x="6" y="397"/>
                  </a:lnTo>
                  <a:close/>
                  <a:moveTo>
                    <a:pt x="6" y="528"/>
                  </a:moveTo>
                  <a:lnTo>
                    <a:pt x="6" y="616"/>
                  </a:lnTo>
                  <a:lnTo>
                    <a:pt x="0" y="616"/>
                  </a:lnTo>
                  <a:lnTo>
                    <a:pt x="0" y="528"/>
                  </a:lnTo>
                  <a:lnTo>
                    <a:pt x="6" y="528"/>
                  </a:lnTo>
                  <a:close/>
                  <a:moveTo>
                    <a:pt x="6" y="660"/>
                  </a:moveTo>
                  <a:lnTo>
                    <a:pt x="6" y="748"/>
                  </a:lnTo>
                  <a:lnTo>
                    <a:pt x="0" y="748"/>
                  </a:lnTo>
                  <a:lnTo>
                    <a:pt x="0" y="660"/>
                  </a:lnTo>
                  <a:lnTo>
                    <a:pt x="6" y="660"/>
                  </a:lnTo>
                  <a:close/>
                  <a:moveTo>
                    <a:pt x="6" y="792"/>
                  </a:moveTo>
                  <a:lnTo>
                    <a:pt x="6" y="879"/>
                  </a:lnTo>
                  <a:lnTo>
                    <a:pt x="0" y="879"/>
                  </a:lnTo>
                  <a:lnTo>
                    <a:pt x="0" y="792"/>
                  </a:lnTo>
                  <a:lnTo>
                    <a:pt x="6" y="792"/>
                  </a:lnTo>
                  <a:close/>
                  <a:moveTo>
                    <a:pt x="6" y="923"/>
                  </a:moveTo>
                  <a:lnTo>
                    <a:pt x="6" y="1011"/>
                  </a:lnTo>
                  <a:lnTo>
                    <a:pt x="0" y="1011"/>
                  </a:lnTo>
                  <a:lnTo>
                    <a:pt x="0" y="923"/>
                  </a:lnTo>
                  <a:lnTo>
                    <a:pt x="6" y="923"/>
                  </a:lnTo>
                  <a:close/>
                  <a:moveTo>
                    <a:pt x="6" y="1055"/>
                  </a:moveTo>
                  <a:lnTo>
                    <a:pt x="6" y="1143"/>
                  </a:lnTo>
                  <a:lnTo>
                    <a:pt x="0" y="1143"/>
                  </a:lnTo>
                  <a:lnTo>
                    <a:pt x="0" y="1055"/>
                  </a:lnTo>
                  <a:lnTo>
                    <a:pt x="6" y="1055"/>
                  </a:lnTo>
                  <a:close/>
                  <a:moveTo>
                    <a:pt x="6" y="1187"/>
                  </a:moveTo>
                  <a:lnTo>
                    <a:pt x="6" y="1274"/>
                  </a:lnTo>
                  <a:lnTo>
                    <a:pt x="0" y="1274"/>
                  </a:lnTo>
                  <a:lnTo>
                    <a:pt x="0" y="1187"/>
                  </a:lnTo>
                  <a:lnTo>
                    <a:pt x="6" y="1187"/>
                  </a:lnTo>
                  <a:close/>
                  <a:moveTo>
                    <a:pt x="6" y="1318"/>
                  </a:moveTo>
                  <a:lnTo>
                    <a:pt x="6" y="1406"/>
                  </a:lnTo>
                  <a:lnTo>
                    <a:pt x="0" y="1406"/>
                  </a:lnTo>
                  <a:lnTo>
                    <a:pt x="0" y="1318"/>
                  </a:lnTo>
                  <a:lnTo>
                    <a:pt x="6" y="1318"/>
                  </a:lnTo>
                  <a:close/>
                  <a:moveTo>
                    <a:pt x="6" y="1450"/>
                  </a:moveTo>
                  <a:lnTo>
                    <a:pt x="6" y="1538"/>
                  </a:lnTo>
                  <a:lnTo>
                    <a:pt x="0" y="1538"/>
                  </a:lnTo>
                  <a:lnTo>
                    <a:pt x="0" y="1450"/>
                  </a:lnTo>
                  <a:lnTo>
                    <a:pt x="6" y="1450"/>
                  </a:lnTo>
                  <a:close/>
                  <a:moveTo>
                    <a:pt x="6" y="1582"/>
                  </a:moveTo>
                  <a:lnTo>
                    <a:pt x="6" y="1669"/>
                  </a:lnTo>
                  <a:lnTo>
                    <a:pt x="0" y="1669"/>
                  </a:lnTo>
                  <a:lnTo>
                    <a:pt x="0" y="1582"/>
                  </a:lnTo>
                  <a:lnTo>
                    <a:pt x="6" y="1582"/>
                  </a:lnTo>
                  <a:close/>
                  <a:moveTo>
                    <a:pt x="6" y="1713"/>
                  </a:moveTo>
                  <a:lnTo>
                    <a:pt x="6" y="1801"/>
                  </a:lnTo>
                  <a:lnTo>
                    <a:pt x="0" y="1801"/>
                  </a:lnTo>
                  <a:lnTo>
                    <a:pt x="0" y="1713"/>
                  </a:lnTo>
                  <a:lnTo>
                    <a:pt x="6" y="1713"/>
                  </a:lnTo>
                  <a:close/>
                  <a:moveTo>
                    <a:pt x="6" y="1844"/>
                  </a:moveTo>
                  <a:lnTo>
                    <a:pt x="6" y="1932"/>
                  </a:lnTo>
                  <a:lnTo>
                    <a:pt x="0" y="1932"/>
                  </a:lnTo>
                  <a:lnTo>
                    <a:pt x="0" y="1844"/>
                  </a:lnTo>
                  <a:lnTo>
                    <a:pt x="6" y="1844"/>
                  </a:lnTo>
                  <a:close/>
                  <a:moveTo>
                    <a:pt x="6" y="1976"/>
                  </a:moveTo>
                  <a:lnTo>
                    <a:pt x="6" y="2064"/>
                  </a:lnTo>
                  <a:lnTo>
                    <a:pt x="0" y="2064"/>
                  </a:lnTo>
                  <a:lnTo>
                    <a:pt x="0" y="1976"/>
                  </a:lnTo>
                  <a:lnTo>
                    <a:pt x="6" y="1976"/>
                  </a:lnTo>
                  <a:close/>
                  <a:moveTo>
                    <a:pt x="6" y="2108"/>
                  </a:moveTo>
                  <a:lnTo>
                    <a:pt x="6" y="2196"/>
                  </a:lnTo>
                  <a:lnTo>
                    <a:pt x="0" y="2196"/>
                  </a:lnTo>
                  <a:lnTo>
                    <a:pt x="0" y="2108"/>
                  </a:lnTo>
                  <a:lnTo>
                    <a:pt x="6" y="2108"/>
                  </a:lnTo>
                  <a:close/>
                  <a:moveTo>
                    <a:pt x="6" y="2239"/>
                  </a:moveTo>
                  <a:lnTo>
                    <a:pt x="6" y="2327"/>
                  </a:lnTo>
                  <a:lnTo>
                    <a:pt x="0" y="2327"/>
                  </a:lnTo>
                  <a:lnTo>
                    <a:pt x="0" y="2239"/>
                  </a:lnTo>
                  <a:lnTo>
                    <a:pt x="6" y="2239"/>
                  </a:lnTo>
                  <a:close/>
                  <a:moveTo>
                    <a:pt x="6" y="2371"/>
                  </a:moveTo>
                  <a:lnTo>
                    <a:pt x="6" y="2459"/>
                  </a:lnTo>
                  <a:lnTo>
                    <a:pt x="0" y="2459"/>
                  </a:lnTo>
                  <a:lnTo>
                    <a:pt x="0" y="2371"/>
                  </a:lnTo>
                  <a:lnTo>
                    <a:pt x="6" y="2371"/>
                  </a:lnTo>
                  <a:close/>
                  <a:moveTo>
                    <a:pt x="6" y="2503"/>
                  </a:moveTo>
                  <a:lnTo>
                    <a:pt x="6" y="2590"/>
                  </a:lnTo>
                  <a:lnTo>
                    <a:pt x="0" y="2590"/>
                  </a:lnTo>
                  <a:lnTo>
                    <a:pt x="0" y="2503"/>
                  </a:lnTo>
                  <a:lnTo>
                    <a:pt x="6" y="2503"/>
                  </a:lnTo>
                  <a:close/>
                  <a:moveTo>
                    <a:pt x="6" y="2634"/>
                  </a:moveTo>
                  <a:lnTo>
                    <a:pt x="6" y="2722"/>
                  </a:lnTo>
                  <a:lnTo>
                    <a:pt x="0" y="2722"/>
                  </a:lnTo>
                  <a:lnTo>
                    <a:pt x="0" y="2634"/>
                  </a:lnTo>
                  <a:lnTo>
                    <a:pt x="6" y="2634"/>
                  </a:lnTo>
                  <a:close/>
                  <a:moveTo>
                    <a:pt x="13" y="2753"/>
                  </a:moveTo>
                  <a:lnTo>
                    <a:pt x="101" y="2753"/>
                  </a:lnTo>
                  <a:lnTo>
                    <a:pt x="101" y="2759"/>
                  </a:lnTo>
                  <a:lnTo>
                    <a:pt x="13" y="2759"/>
                  </a:lnTo>
                  <a:lnTo>
                    <a:pt x="13" y="2753"/>
                  </a:lnTo>
                  <a:close/>
                  <a:moveTo>
                    <a:pt x="145" y="2753"/>
                  </a:moveTo>
                  <a:lnTo>
                    <a:pt x="232" y="2753"/>
                  </a:lnTo>
                  <a:lnTo>
                    <a:pt x="232" y="2759"/>
                  </a:lnTo>
                  <a:lnTo>
                    <a:pt x="145" y="2759"/>
                  </a:lnTo>
                  <a:lnTo>
                    <a:pt x="145" y="2753"/>
                  </a:lnTo>
                  <a:close/>
                  <a:moveTo>
                    <a:pt x="276" y="2753"/>
                  </a:moveTo>
                  <a:lnTo>
                    <a:pt x="364" y="2753"/>
                  </a:lnTo>
                  <a:lnTo>
                    <a:pt x="364" y="2759"/>
                  </a:lnTo>
                  <a:lnTo>
                    <a:pt x="276" y="2759"/>
                  </a:lnTo>
                  <a:lnTo>
                    <a:pt x="276" y="2753"/>
                  </a:lnTo>
                  <a:close/>
                  <a:moveTo>
                    <a:pt x="408" y="2753"/>
                  </a:moveTo>
                  <a:lnTo>
                    <a:pt x="495" y="2753"/>
                  </a:lnTo>
                  <a:lnTo>
                    <a:pt x="495" y="2759"/>
                  </a:lnTo>
                  <a:lnTo>
                    <a:pt x="408" y="2759"/>
                  </a:lnTo>
                  <a:lnTo>
                    <a:pt x="408" y="2753"/>
                  </a:lnTo>
                  <a:close/>
                  <a:moveTo>
                    <a:pt x="539" y="2753"/>
                  </a:moveTo>
                  <a:lnTo>
                    <a:pt x="627" y="2753"/>
                  </a:lnTo>
                  <a:lnTo>
                    <a:pt x="627" y="2759"/>
                  </a:lnTo>
                  <a:lnTo>
                    <a:pt x="539" y="2759"/>
                  </a:lnTo>
                  <a:lnTo>
                    <a:pt x="539" y="2753"/>
                  </a:lnTo>
                  <a:close/>
                  <a:moveTo>
                    <a:pt x="671" y="2753"/>
                  </a:moveTo>
                  <a:lnTo>
                    <a:pt x="758" y="2753"/>
                  </a:lnTo>
                  <a:lnTo>
                    <a:pt x="758" y="2759"/>
                  </a:lnTo>
                  <a:lnTo>
                    <a:pt x="671" y="2759"/>
                  </a:lnTo>
                  <a:lnTo>
                    <a:pt x="671" y="2753"/>
                  </a:lnTo>
                  <a:close/>
                  <a:moveTo>
                    <a:pt x="802" y="2753"/>
                  </a:moveTo>
                  <a:lnTo>
                    <a:pt x="890" y="2753"/>
                  </a:lnTo>
                  <a:lnTo>
                    <a:pt x="890" y="2759"/>
                  </a:lnTo>
                  <a:lnTo>
                    <a:pt x="802" y="2759"/>
                  </a:lnTo>
                  <a:lnTo>
                    <a:pt x="802" y="2753"/>
                  </a:lnTo>
                  <a:close/>
                  <a:moveTo>
                    <a:pt x="934" y="2753"/>
                  </a:moveTo>
                  <a:lnTo>
                    <a:pt x="1022" y="2753"/>
                  </a:lnTo>
                  <a:lnTo>
                    <a:pt x="1022" y="2759"/>
                  </a:lnTo>
                  <a:lnTo>
                    <a:pt x="934" y="2759"/>
                  </a:lnTo>
                  <a:lnTo>
                    <a:pt x="934" y="2753"/>
                  </a:lnTo>
                  <a:close/>
                  <a:moveTo>
                    <a:pt x="1065" y="2753"/>
                  </a:moveTo>
                  <a:lnTo>
                    <a:pt x="1153" y="2753"/>
                  </a:lnTo>
                  <a:lnTo>
                    <a:pt x="1153" y="2759"/>
                  </a:lnTo>
                  <a:lnTo>
                    <a:pt x="1065" y="2759"/>
                  </a:lnTo>
                  <a:lnTo>
                    <a:pt x="1065" y="2753"/>
                  </a:lnTo>
                  <a:close/>
                  <a:moveTo>
                    <a:pt x="1197" y="2753"/>
                  </a:moveTo>
                  <a:lnTo>
                    <a:pt x="1285" y="2753"/>
                  </a:lnTo>
                  <a:lnTo>
                    <a:pt x="1285" y="2759"/>
                  </a:lnTo>
                  <a:lnTo>
                    <a:pt x="1197" y="2759"/>
                  </a:lnTo>
                  <a:lnTo>
                    <a:pt x="1197" y="2753"/>
                  </a:lnTo>
                  <a:close/>
                  <a:moveTo>
                    <a:pt x="1328" y="2753"/>
                  </a:moveTo>
                  <a:lnTo>
                    <a:pt x="1416" y="2753"/>
                  </a:lnTo>
                  <a:lnTo>
                    <a:pt x="1416" y="2759"/>
                  </a:lnTo>
                  <a:lnTo>
                    <a:pt x="1328" y="2759"/>
                  </a:lnTo>
                  <a:lnTo>
                    <a:pt x="1328" y="2753"/>
                  </a:lnTo>
                  <a:close/>
                  <a:moveTo>
                    <a:pt x="1460" y="2753"/>
                  </a:moveTo>
                  <a:lnTo>
                    <a:pt x="1548" y="2753"/>
                  </a:lnTo>
                  <a:lnTo>
                    <a:pt x="1548" y="2759"/>
                  </a:lnTo>
                  <a:lnTo>
                    <a:pt x="1460" y="2759"/>
                  </a:lnTo>
                  <a:lnTo>
                    <a:pt x="1460" y="2753"/>
                  </a:lnTo>
                  <a:close/>
                  <a:moveTo>
                    <a:pt x="1591" y="2753"/>
                  </a:moveTo>
                  <a:lnTo>
                    <a:pt x="1679" y="2753"/>
                  </a:lnTo>
                  <a:lnTo>
                    <a:pt x="1679" y="2759"/>
                  </a:lnTo>
                  <a:lnTo>
                    <a:pt x="1591" y="2759"/>
                  </a:lnTo>
                  <a:lnTo>
                    <a:pt x="1591" y="2753"/>
                  </a:lnTo>
                  <a:close/>
                  <a:moveTo>
                    <a:pt x="1723" y="2753"/>
                  </a:moveTo>
                  <a:lnTo>
                    <a:pt x="1811" y="2753"/>
                  </a:lnTo>
                  <a:lnTo>
                    <a:pt x="1811" y="2759"/>
                  </a:lnTo>
                  <a:lnTo>
                    <a:pt x="1723" y="2759"/>
                  </a:lnTo>
                  <a:lnTo>
                    <a:pt x="1723" y="2753"/>
                  </a:lnTo>
                  <a:close/>
                  <a:moveTo>
                    <a:pt x="1855" y="2753"/>
                  </a:moveTo>
                  <a:lnTo>
                    <a:pt x="1942" y="2753"/>
                  </a:lnTo>
                  <a:lnTo>
                    <a:pt x="1942" y="2759"/>
                  </a:lnTo>
                  <a:lnTo>
                    <a:pt x="1855" y="2759"/>
                  </a:lnTo>
                  <a:lnTo>
                    <a:pt x="1855" y="2753"/>
                  </a:lnTo>
                  <a:close/>
                  <a:moveTo>
                    <a:pt x="1986" y="2753"/>
                  </a:moveTo>
                  <a:lnTo>
                    <a:pt x="2074" y="2753"/>
                  </a:lnTo>
                  <a:lnTo>
                    <a:pt x="2074" y="2759"/>
                  </a:lnTo>
                  <a:lnTo>
                    <a:pt x="1986" y="2759"/>
                  </a:lnTo>
                  <a:lnTo>
                    <a:pt x="1986" y="2753"/>
                  </a:lnTo>
                  <a:close/>
                  <a:moveTo>
                    <a:pt x="2118" y="2753"/>
                  </a:moveTo>
                  <a:lnTo>
                    <a:pt x="2205" y="2753"/>
                  </a:lnTo>
                  <a:lnTo>
                    <a:pt x="2205" y="2759"/>
                  </a:lnTo>
                  <a:lnTo>
                    <a:pt x="2118" y="2759"/>
                  </a:lnTo>
                  <a:lnTo>
                    <a:pt x="2118" y="2753"/>
                  </a:lnTo>
                  <a:close/>
                  <a:moveTo>
                    <a:pt x="2249" y="2753"/>
                  </a:moveTo>
                  <a:lnTo>
                    <a:pt x="2337" y="2753"/>
                  </a:lnTo>
                  <a:lnTo>
                    <a:pt x="2337" y="2759"/>
                  </a:lnTo>
                  <a:lnTo>
                    <a:pt x="2249" y="2759"/>
                  </a:lnTo>
                  <a:lnTo>
                    <a:pt x="2249" y="2753"/>
                  </a:lnTo>
                  <a:close/>
                  <a:moveTo>
                    <a:pt x="2381" y="2753"/>
                  </a:moveTo>
                  <a:lnTo>
                    <a:pt x="2468" y="2753"/>
                  </a:lnTo>
                  <a:lnTo>
                    <a:pt x="2468" y="2759"/>
                  </a:lnTo>
                  <a:lnTo>
                    <a:pt x="2381" y="2759"/>
                  </a:lnTo>
                  <a:lnTo>
                    <a:pt x="2381" y="2753"/>
                  </a:lnTo>
                  <a:close/>
                  <a:moveTo>
                    <a:pt x="2512" y="2753"/>
                  </a:moveTo>
                  <a:lnTo>
                    <a:pt x="2600" y="2753"/>
                  </a:lnTo>
                  <a:lnTo>
                    <a:pt x="2600" y="2759"/>
                  </a:lnTo>
                  <a:lnTo>
                    <a:pt x="2512" y="2759"/>
                  </a:lnTo>
                  <a:lnTo>
                    <a:pt x="2512" y="2753"/>
                  </a:lnTo>
                  <a:close/>
                  <a:moveTo>
                    <a:pt x="2644" y="2753"/>
                  </a:moveTo>
                  <a:lnTo>
                    <a:pt x="2732" y="2753"/>
                  </a:lnTo>
                  <a:lnTo>
                    <a:pt x="2732" y="2759"/>
                  </a:lnTo>
                  <a:lnTo>
                    <a:pt x="2644" y="2759"/>
                  </a:lnTo>
                  <a:lnTo>
                    <a:pt x="2644" y="2753"/>
                  </a:lnTo>
                  <a:close/>
                  <a:moveTo>
                    <a:pt x="2775" y="2753"/>
                  </a:moveTo>
                  <a:lnTo>
                    <a:pt x="2863" y="2753"/>
                  </a:lnTo>
                  <a:lnTo>
                    <a:pt x="2863" y="2759"/>
                  </a:lnTo>
                  <a:lnTo>
                    <a:pt x="2775" y="2759"/>
                  </a:lnTo>
                  <a:lnTo>
                    <a:pt x="2775" y="2753"/>
                  </a:lnTo>
                  <a:close/>
                  <a:moveTo>
                    <a:pt x="2907" y="2753"/>
                  </a:moveTo>
                  <a:lnTo>
                    <a:pt x="2995" y="2753"/>
                  </a:lnTo>
                  <a:lnTo>
                    <a:pt x="2995" y="2759"/>
                  </a:lnTo>
                  <a:lnTo>
                    <a:pt x="2907" y="2759"/>
                  </a:lnTo>
                  <a:lnTo>
                    <a:pt x="2907" y="2753"/>
                  </a:lnTo>
                  <a:close/>
                  <a:moveTo>
                    <a:pt x="3038" y="2753"/>
                  </a:moveTo>
                  <a:lnTo>
                    <a:pt x="3126" y="2753"/>
                  </a:lnTo>
                  <a:lnTo>
                    <a:pt x="3126" y="2759"/>
                  </a:lnTo>
                  <a:lnTo>
                    <a:pt x="3038" y="2759"/>
                  </a:lnTo>
                  <a:lnTo>
                    <a:pt x="3038" y="2753"/>
                  </a:lnTo>
                  <a:close/>
                  <a:moveTo>
                    <a:pt x="3170" y="2753"/>
                  </a:moveTo>
                  <a:lnTo>
                    <a:pt x="3257" y="2753"/>
                  </a:lnTo>
                  <a:lnTo>
                    <a:pt x="3257" y="2759"/>
                  </a:lnTo>
                  <a:lnTo>
                    <a:pt x="3170" y="2759"/>
                  </a:lnTo>
                  <a:lnTo>
                    <a:pt x="3170" y="2753"/>
                  </a:lnTo>
                  <a:close/>
                  <a:moveTo>
                    <a:pt x="3301" y="2753"/>
                  </a:moveTo>
                  <a:lnTo>
                    <a:pt x="3342" y="2753"/>
                  </a:lnTo>
                  <a:lnTo>
                    <a:pt x="3339" y="2756"/>
                  </a:lnTo>
                  <a:lnTo>
                    <a:pt x="3339" y="2708"/>
                  </a:lnTo>
                  <a:lnTo>
                    <a:pt x="3344" y="2708"/>
                  </a:lnTo>
                  <a:lnTo>
                    <a:pt x="3344" y="2759"/>
                  </a:lnTo>
                  <a:lnTo>
                    <a:pt x="3301" y="2759"/>
                  </a:lnTo>
                  <a:lnTo>
                    <a:pt x="3301" y="2753"/>
                  </a:lnTo>
                  <a:close/>
                  <a:moveTo>
                    <a:pt x="3339" y="2664"/>
                  </a:moveTo>
                  <a:lnTo>
                    <a:pt x="3339" y="2577"/>
                  </a:lnTo>
                  <a:lnTo>
                    <a:pt x="3344" y="2577"/>
                  </a:lnTo>
                  <a:lnTo>
                    <a:pt x="3344" y="2664"/>
                  </a:lnTo>
                  <a:lnTo>
                    <a:pt x="3339" y="2664"/>
                  </a:lnTo>
                  <a:close/>
                  <a:moveTo>
                    <a:pt x="3339" y="2533"/>
                  </a:moveTo>
                  <a:lnTo>
                    <a:pt x="3339" y="2445"/>
                  </a:lnTo>
                  <a:lnTo>
                    <a:pt x="3344" y="2445"/>
                  </a:lnTo>
                  <a:lnTo>
                    <a:pt x="3344" y="2533"/>
                  </a:lnTo>
                  <a:lnTo>
                    <a:pt x="3339" y="2533"/>
                  </a:lnTo>
                  <a:close/>
                  <a:moveTo>
                    <a:pt x="3339" y="2401"/>
                  </a:moveTo>
                  <a:lnTo>
                    <a:pt x="3339" y="2314"/>
                  </a:lnTo>
                  <a:lnTo>
                    <a:pt x="3344" y="2314"/>
                  </a:lnTo>
                  <a:lnTo>
                    <a:pt x="3344" y="2401"/>
                  </a:lnTo>
                  <a:lnTo>
                    <a:pt x="3339" y="2401"/>
                  </a:lnTo>
                  <a:close/>
                  <a:moveTo>
                    <a:pt x="3339" y="2270"/>
                  </a:moveTo>
                  <a:lnTo>
                    <a:pt x="3339" y="2182"/>
                  </a:lnTo>
                  <a:lnTo>
                    <a:pt x="3344" y="2182"/>
                  </a:lnTo>
                  <a:lnTo>
                    <a:pt x="3344" y="2270"/>
                  </a:lnTo>
                  <a:lnTo>
                    <a:pt x="3339" y="2270"/>
                  </a:lnTo>
                  <a:close/>
                  <a:moveTo>
                    <a:pt x="3339" y="2138"/>
                  </a:moveTo>
                  <a:lnTo>
                    <a:pt x="3339" y="2050"/>
                  </a:lnTo>
                  <a:lnTo>
                    <a:pt x="3344" y="2050"/>
                  </a:lnTo>
                  <a:lnTo>
                    <a:pt x="3344" y="2138"/>
                  </a:lnTo>
                  <a:lnTo>
                    <a:pt x="3339" y="2138"/>
                  </a:lnTo>
                  <a:close/>
                  <a:moveTo>
                    <a:pt x="3339" y="2007"/>
                  </a:moveTo>
                  <a:lnTo>
                    <a:pt x="3339" y="1919"/>
                  </a:lnTo>
                  <a:lnTo>
                    <a:pt x="3344" y="1919"/>
                  </a:lnTo>
                  <a:lnTo>
                    <a:pt x="3344" y="2007"/>
                  </a:lnTo>
                  <a:lnTo>
                    <a:pt x="3339" y="2007"/>
                  </a:lnTo>
                  <a:close/>
                  <a:moveTo>
                    <a:pt x="3339" y="1875"/>
                  </a:moveTo>
                  <a:lnTo>
                    <a:pt x="3339" y="1787"/>
                  </a:lnTo>
                  <a:lnTo>
                    <a:pt x="3344" y="1787"/>
                  </a:lnTo>
                  <a:lnTo>
                    <a:pt x="3344" y="1875"/>
                  </a:lnTo>
                  <a:lnTo>
                    <a:pt x="3339" y="1875"/>
                  </a:lnTo>
                  <a:close/>
                  <a:moveTo>
                    <a:pt x="3339" y="1743"/>
                  </a:moveTo>
                  <a:lnTo>
                    <a:pt x="3339" y="1655"/>
                  </a:lnTo>
                  <a:lnTo>
                    <a:pt x="3344" y="1655"/>
                  </a:lnTo>
                  <a:lnTo>
                    <a:pt x="3344" y="1743"/>
                  </a:lnTo>
                  <a:lnTo>
                    <a:pt x="3339" y="1743"/>
                  </a:lnTo>
                  <a:close/>
                  <a:moveTo>
                    <a:pt x="3339" y="1612"/>
                  </a:moveTo>
                  <a:lnTo>
                    <a:pt x="3339" y="1524"/>
                  </a:lnTo>
                  <a:lnTo>
                    <a:pt x="3344" y="1524"/>
                  </a:lnTo>
                  <a:lnTo>
                    <a:pt x="3344" y="1612"/>
                  </a:lnTo>
                  <a:lnTo>
                    <a:pt x="3339" y="1612"/>
                  </a:lnTo>
                  <a:close/>
                  <a:moveTo>
                    <a:pt x="3339" y="1480"/>
                  </a:moveTo>
                  <a:lnTo>
                    <a:pt x="3339" y="1392"/>
                  </a:lnTo>
                  <a:lnTo>
                    <a:pt x="3344" y="1392"/>
                  </a:lnTo>
                  <a:lnTo>
                    <a:pt x="3344" y="1480"/>
                  </a:lnTo>
                  <a:lnTo>
                    <a:pt x="3339" y="1480"/>
                  </a:lnTo>
                  <a:close/>
                  <a:moveTo>
                    <a:pt x="3339" y="1349"/>
                  </a:moveTo>
                  <a:lnTo>
                    <a:pt x="3339" y="1261"/>
                  </a:lnTo>
                  <a:lnTo>
                    <a:pt x="3344" y="1261"/>
                  </a:lnTo>
                  <a:lnTo>
                    <a:pt x="3344" y="1349"/>
                  </a:lnTo>
                  <a:lnTo>
                    <a:pt x="3339" y="1349"/>
                  </a:lnTo>
                  <a:close/>
                  <a:moveTo>
                    <a:pt x="3339" y="1217"/>
                  </a:moveTo>
                  <a:lnTo>
                    <a:pt x="3339" y="1129"/>
                  </a:lnTo>
                  <a:lnTo>
                    <a:pt x="3344" y="1129"/>
                  </a:lnTo>
                  <a:lnTo>
                    <a:pt x="3344" y="1217"/>
                  </a:lnTo>
                  <a:lnTo>
                    <a:pt x="3339" y="1217"/>
                  </a:lnTo>
                  <a:close/>
                  <a:moveTo>
                    <a:pt x="3339" y="1085"/>
                  </a:moveTo>
                  <a:lnTo>
                    <a:pt x="3339" y="998"/>
                  </a:lnTo>
                  <a:lnTo>
                    <a:pt x="3344" y="998"/>
                  </a:lnTo>
                  <a:lnTo>
                    <a:pt x="3344" y="1085"/>
                  </a:lnTo>
                  <a:lnTo>
                    <a:pt x="3339" y="1085"/>
                  </a:lnTo>
                  <a:close/>
                  <a:moveTo>
                    <a:pt x="3339" y="954"/>
                  </a:moveTo>
                  <a:lnTo>
                    <a:pt x="3339" y="866"/>
                  </a:lnTo>
                  <a:lnTo>
                    <a:pt x="3344" y="866"/>
                  </a:lnTo>
                  <a:lnTo>
                    <a:pt x="3344" y="954"/>
                  </a:lnTo>
                  <a:lnTo>
                    <a:pt x="3339" y="954"/>
                  </a:lnTo>
                  <a:close/>
                  <a:moveTo>
                    <a:pt x="3339" y="822"/>
                  </a:moveTo>
                  <a:lnTo>
                    <a:pt x="3339" y="734"/>
                  </a:lnTo>
                  <a:lnTo>
                    <a:pt x="3344" y="734"/>
                  </a:lnTo>
                  <a:lnTo>
                    <a:pt x="3344" y="822"/>
                  </a:lnTo>
                  <a:lnTo>
                    <a:pt x="3339" y="822"/>
                  </a:lnTo>
                  <a:close/>
                  <a:moveTo>
                    <a:pt x="3339" y="690"/>
                  </a:moveTo>
                  <a:lnTo>
                    <a:pt x="3339" y="603"/>
                  </a:lnTo>
                  <a:lnTo>
                    <a:pt x="3344" y="603"/>
                  </a:lnTo>
                  <a:lnTo>
                    <a:pt x="3344" y="690"/>
                  </a:lnTo>
                  <a:lnTo>
                    <a:pt x="3339" y="690"/>
                  </a:lnTo>
                  <a:close/>
                  <a:moveTo>
                    <a:pt x="3339" y="559"/>
                  </a:moveTo>
                  <a:lnTo>
                    <a:pt x="3339" y="471"/>
                  </a:lnTo>
                  <a:lnTo>
                    <a:pt x="3344" y="471"/>
                  </a:lnTo>
                  <a:lnTo>
                    <a:pt x="3344" y="559"/>
                  </a:lnTo>
                  <a:lnTo>
                    <a:pt x="3339" y="559"/>
                  </a:lnTo>
                  <a:close/>
                  <a:moveTo>
                    <a:pt x="3339" y="427"/>
                  </a:moveTo>
                  <a:lnTo>
                    <a:pt x="3339" y="339"/>
                  </a:lnTo>
                  <a:lnTo>
                    <a:pt x="3344" y="339"/>
                  </a:lnTo>
                  <a:lnTo>
                    <a:pt x="3344" y="427"/>
                  </a:lnTo>
                  <a:lnTo>
                    <a:pt x="3339" y="427"/>
                  </a:lnTo>
                  <a:close/>
                  <a:moveTo>
                    <a:pt x="3339" y="296"/>
                  </a:moveTo>
                  <a:lnTo>
                    <a:pt x="3339" y="208"/>
                  </a:lnTo>
                  <a:lnTo>
                    <a:pt x="3344" y="208"/>
                  </a:lnTo>
                  <a:lnTo>
                    <a:pt x="3344" y="296"/>
                  </a:lnTo>
                  <a:lnTo>
                    <a:pt x="3339" y="296"/>
                  </a:lnTo>
                  <a:close/>
                  <a:moveTo>
                    <a:pt x="3339" y="164"/>
                  </a:moveTo>
                  <a:lnTo>
                    <a:pt x="3339" y="76"/>
                  </a:lnTo>
                  <a:lnTo>
                    <a:pt x="3344" y="76"/>
                  </a:lnTo>
                  <a:lnTo>
                    <a:pt x="3344" y="164"/>
                  </a:lnTo>
                  <a:lnTo>
                    <a:pt x="3339" y="164"/>
                  </a:lnTo>
                  <a:close/>
                  <a:moveTo>
                    <a:pt x="3339" y="33"/>
                  </a:moveTo>
                  <a:lnTo>
                    <a:pt x="3339" y="2"/>
                  </a:lnTo>
                  <a:lnTo>
                    <a:pt x="3342" y="5"/>
                  </a:lnTo>
                  <a:lnTo>
                    <a:pt x="3284" y="5"/>
                  </a:lnTo>
                  <a:lnTo>
                    <a:pt x="3284" y="0"/>
                  </a:lnTo>
                  <a:lnTo>
                    <a:pt x="3344" y="0"/>
                  </a:lnTo>
                  <a:lnTo>
                    <a:pt x="3344" y="33"/>
                  </a:lnTo>
                  <a:lnTo>
                    <a:pt x="3339" y="33"/>
                  </a:lnTo>
                  <a:close/>
                  <a:moveTo>
                    <a:pt x="3240" y="5"/>
                  </a:moveTo>
                  <a:lnTo>
                    <a:pt x="3153" y="5"/>
                  </a:lnTo>
                  <a:lnTo>
                    <a:pt x="3153" y="0"/>
                  </a:lnTo>
                  <a:lnTo>
                    <a:pt x="3240" y="0"/>
                  </a:lnTo>
                  <a:lnTo>
                    <a:pt x="3240" y="5"/>
                  </a:lnTo>
                  <a:close/>
                  <a:moveTo>
                    <a:pt x="3109" y="5"/>
                  </a:moveTo>
                  <a:lnTo>
                    <a:pt x="3021" y="5"/>
                  </a:lnTo>
                  <a:lnTo>
                    <a:pt x="3021" y="0"/>
                  </a:lnTo>
                  <a:lnTo>
                    <a:pt x="3109" y="0"/>
                  </a:lnTo>
                  <a:lnTo>
                    <a:pt x="3109" y="5"/>
                  </a:lnTo>
                  <a:close/>
                  <a:moveTo>
                    <a:pt x="2977" y="5"/>
                  </a:moveTo>
                  <a:lnTo>
                    <a:pt x="2890" y="5"/>
                  </a:lnTo>
                  <a:lnTo>
                    <a:pt x="2890" y="0"/>
                  </a:lnTo>
                  <a:lnTo>
                    <a:pt x="2977" y="0"/>
                  </a:lnTo>
                  <a:lnTo>
                    <a:pt x="2977" y="5"/>
                  </a:lnTo>
                  <a:close/>
                  <a:moveTo>
                    <a:pt x="2846" y="5"/>
                  </a:moveTo>
                  <a:lnTo>
                    <a:pt x="2758" y="5"/>
                  </a:lnTo>
                  <a:lnTo>
                    <a:pt x="2758" y="0"/>
                  </a:lnTo>
                  <a:lnTo>
                    <a:pt x="2846" y="0"/>
                  </a:lnTo>
                  <a:lnTo>
                    <a:pt x="2846" y="5"/>
                  </a:lnTo>
                  <a:close/>
                  <a:moveTo>
                    <a:pt x="2714" y="5"/>
                  </a:moveTo>
                  <a:lnTo>
                    <a:pt x="2626" y="5"/>
                  </a:lnTo>
                  <a:lnTo>
                    <a:pt x="2626" y="0"/>
                  </a:lnTo>
                  <a:lnTo>
                    <a:pt x="2714" y="0"/>
                  </a:lnTo>
                  <a:lnTo>
                    <a:pt x="2714" y="5"/>
                  </a:lnTo>
                  <a:close/>
                  <a:moveTo>
                    <a:pt x="2583" y="5"/>
                  </a:moveTo>
                  <a:lnTo>
                    <a:pt x="2495" y="5"/>
                  </a:lnTo>
                  <a:lnTo>
                    <a:pt x="2495" y="0"/>
                  </a:lnTo>
                  <a:lnTo>
                    <a:pt x="2583" y="0"/>
                  </a:lnTo>
                  <a:lnTo>
                    <a:pt x="2583" y="5"/>
                  </a:lnTo>
                  <a:close/>
                  <a:moveTo>
                    <a:pt x="2451" y="5"/>
                  </a:moveTo>
                  <a:lnTo>
                    <a:pt x="2363" y="5"/>
                  </a:lnTo>
                  <a:lnTo>
                    <a:pt x="2363" y="0"/>
                  </a:lnTo>
                  <a:lnTo>
                    <a:pt x="2451" y="0"/>
                  </a:lnTo>
                  <a:lnTo>
                    <a:pt x="2451" y="5"/>
                  </a:lnTo>
                  <a:close/>
                  <a:moveTo>
                    <a:pt x="2320" y="5"/>
                  </a:moveTo>
                  <a:lnTo>
                    <a:pt x="2232" y="5"/>
                  </a:lnTo>
                  <a:lnTo>
                    <a:pt x="2232" y="0"/>
                  </a:lnTo>
                  <a:lnTo>
                    <a:pt x="2320" y="0"/>
                  </a:lnTo>
                  <a:lnTo>
                    <a:pt x="2320" y="5"/>
                  </a:lnTo>
                  <a:close/>
                  <a:moveTo>
                    <a:pt x="2188" y="5"/>
                  </a:moveTo>
                  <a:lnTo>
                    <a:pt x="2100" y="5"/>
                  </a:lnTo>
                  <a:lnTo>
                    <a:pt x="2100" y="0"/>
                  </a:lnTo>
                  <a:lnTo>
                    <a:pt x="2188" y="0"/>
                  </a:lnTo>
                  <a:lnTo>
                    <a:pt x="2188" y="5"/>
                  </a:lnTo>
                  <a:close/>
                  <a:moveTo>
                    <a:pt x="2057" y="5"/>
                  </a:moveTo>
                  <a:lnTo>
                    <a:pt x="1969" y="5"/>
                  </a:lnTo>
                  <a:lnTo>
                    <a:pt x="1969" y="0"/>
                  </a:lnTo>
                  <a:lnTo>
                    <a:pt x="2057" y="0"/>
                  </a:lnTo>
                  <a:lnTo>
                    <a:pt x="2057" y="5"/>
                  </a:lnTo>
                  <a:close/>
                  <a:moveTo>
                    <a:pt x="1925" y="5"/>
                  </a:moveTo>
                  <a:lnTo>
                    <a:pt x="1837" y="5"/>
                  </a:lnTo>
                  <a:lnTo>
                    <a:pt x="1837" y="0"/>
                  </a:lnTo>
                  <a:lnTo>
                    <a:pt x="1925" y="0"/>
                  </a:lnTo>
                  <a:lnTo>
                    <a:pt x="1925" y="5"/>
                  </a:lnTo>
                  <a:close/>
                  <a:moveTo>
                    <a:pt x="1793" y="5"/>
                  </a:moveTo>
                  <a:lnTo>
                    <a:pt x="1706" y="5"/>
                  </a:lnTo>
                  <a:lnTo>
                    <a:pt x="1706" y="0"/>
                  </a:lnTo>
                  <a:lnTo>
                    <a:pt x="1793" y="0"/>
                  </a:lnTo>
                  <a:lnTo>
                    <a:pt x="1793" y="5"/>
                  </a:lnTo>
                  <a:close/>
                  <a:moveTo>
                    <a:pt x="1662" y="5"/>
                  </a:moveTo>
                  <a:lnTo>
                    <a:pt x="1574" y="5"/>
                  </a:lnTo>
                  <a:lnTo>
                    <a:pt x="1574" y="0"/>
                  </a:lnTo>
                  <a:lnTo>
                    <a:pt x="1662" y="0"/>
                  </a:lnTo>
                  <a:lnTo>
                    <a:pt x="1662" y="5"/>
                  </a:lnTo>
                  <a:close/>
                  <a:moveTo>
                    <a:pt x="1530" y="5"/>
                  </a:moveTo>
                  <a:lnTo>
                    <a:pt x="1443" y="5"/>
                  </a:lnTo>
                  <a:lnTo>
                    <a:pt x="1443" y="0"/>
                  </a:lnTo>
                  <a:lnTo>
                    <a:pt x="1530" y="0"/>
                  </a:lnTo>
                  <a:lnTo>
                    <a:pt x="1530" y="5"/>
                  </a:lnTo>
                  <a:close/>
                  <a:moveTo>
                    <a:pt x="1399" y="5"/>
                  </a:moveTo>
                  <a:lnTo>
                    <a:pt x="1311" y="5"/>
                  </a:lnTo>
                  <a:lnTo>
                    <a:pt x="1311" y="0"/>
                  </a:lnTo>
                  <a:lnTo>
                    <a:pt x="1399" y="0"/>
                  </a:lnTo>
                  <a:lnTo>
                    <a:pt x="1399" y="5"/>
                  </a:lnTo>
                  <a:close/>
                  <a:moveTo>
                    <a:pt x="1267" y="5"/>
                  </a:moveTo>
                  <a:lnTo>
                    <a:pt x="1180" y="5"/>
                  </a:lnTo>
                  <a:lnTo>
                    <a:pt x="1180" y="0"/>
                  </a:lnTo>
                  <a:lnTo>
                    <a:pt x="1267" y="0"/>
                  </a:lnTo>
                  <a:lnTo>
                    <a:pt x="1267" y="5"/>
                  </a:lnTo>
                  <a:close/>
                  <a:moveTo>
                    <a:pt x="1136" y="5"/>
                  </a:moveTo>
                  <a:lnTo>
                    <a:pt x="1048" y="5"/>
                  </a:lnTo>
                  <a:lnTo>
                    <a:pt x="1048" y="0"/>
                  </a:lnTo>
                  <a:lnTo>
                    <a:pt x="1136" y="0"/>
                  </a:lnTo>
                  <a:lnTo>
                    <a:pt x="1136" y="5"/>
                  </a:lnTo>
                  <a:close/>
                  <a:moveTo>
                    <a:pt x="1004" y="5"/>
                  </a:moveTo>
                  <a:lnTo>
                    <a:pt x="916" y="5"/>
                  </a:lnTo>
                  <a:lnTo>
                    <a:pt x="916" y="0"/>
                  </a:lnTo>
                  <a:lnTo>
                    <a:pt x="1004" y="0"/>
                  </a:lnTo>
                  <a:lnTo>
                    <a:pt x="1004" y="5"/>
                  </a:lnTo>
                  <a:close/>
                  <a:moveTo>
                    <a:pt x="873" y="5"/>
                  </a:moveTo>
                  <a:lnTo>
                    <a:pt x="785" y="5"/>
                  </a:lnTo>
                  <a:lnTo>
                    <a:pt x="785" y="0"/>
                  </a:lnTo>
                  <a:lnTo>
                    <a:pt x="873" y="0"/>
                  </a:lnTo>
                  <a:lnTo>
                    <a:pt x="873" y="5"/>
                  </a:lnTo>
                  <a:close/>
                  <a:moveTo>
                    <a:pt x="741" y="5"/>
                  </a:moveTo>
                  <a:lnTo>
                    <a:pt x="653" y="5"/>
                  </a:lnTo>
                  <a:lnTo>
                    <a:pt x="653" y="0"/>
                  </a:lnTo>
                  <a:lnTo>
                    <a:pt x="741" y="0"/>
                  </a:lnTo>
                  <a:lnTo>
                    <a:pt x="741" y="5"/>
                  </a:lnTo>
                  <a:close/>
                  <a:moveTo>
                    <a:pt x="610" y="5"/>
                  </a:moveTo>
                  <a:lnTo>
                    <a:pt x="522" y="5"/>
                  </a:lnTo>
                  <a:lnTo>
                    <a:pt x="522" y="0"/>
                  </a:lnTo>
                  <a:lnTo>
                    <a:pt x="610" y="0"/>
                  </a:lnTo>
                  <a:lnTo>
                    <a:pt x="610" y="5"/>
                  </a:lnTo>
                  <a:close/>
                  <a:moveTo>
                    <a:pt x="478" y="5"/>
                  </a:moveTo>
                  <a:lnTo>
                    <a:pt x="390" y="5"/>
                  </a:lnTo>
                  <a:lnTo>
                    <a:pt x="390" y="0"/>
                  </a:lnTo>
                  <a:lnTo>
                    <a:pt x="478" y="0"/>
                  </a:lnTo>
                  <a:lnTo>
                    <a:pt x="478" y="5"/>
                  </a:lnTo>
                  <a:close/>
                  <a:moveTo>
                    <a:pt x="347" y="5"/>
                  </a:moveTo>
                  <a:lnTo>
                    <a:pt x="259" y="5"/>
                  </a:lnTo>
                  <a:lnTo>
                    <a:pt x="259" y="0"/>
                  </a:lnTo>
                  <a:lnTo>
                    <a:pt x="347" y="0"/>
                  </a:lnTo>
                  <a:lnTo>
                    <a:pt x="347" y="5"/>
                  </a:lnTo>
                  <a:close/>
                  <a:moveTo>
                    <a:pt x="215" y="5"/>
                  </a:moveTo>
                  <a:lnTo>
                    <a:pt x="127" y="5"/>
                  </a:lnTo>
                  <a:lnTo>
                    <a:pt x="127" y="0"/>
                  </a:lnTo>
                  <a:lnTo>
                    <a:pt x="215" y="0"/>
                  </a:lnTo>
                  <a:lnTo>
                    <a:pt x="215" y="5"/>
                  </a:lnTo>
                  <a:close/>
                  <a:moveTo>
                    <a:pt x="83" y="5"/>
                  </a:moveTo>
                  <a:lnTo>
                    <a:pt x="3" y="5"/>
                  </a:lnTo>
                  <a:lnTo>
                    <a:pt x="3" y="0"/>
                  </a:lnTo>
                  <a:lnTo>
                    <a:pt x="83" y="0"/>
                  </a:lnTo>
                  <a:lnTo>
                    <a:pt x="83" y="5"/>
                  </a:lnTo>
                  <a:close/>
                </a:path>
              </a:pathLst>
            </a:custGeom>
            <a:solidFill>
              <a:srgbClr val="70AD47"/>
            </a:solidFill>
            <a:ln w="0" cap="flat">
              <a:solidFill>
                <a:srgbClr val="70AD4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71C99E47-1129-421A-A873-7AAA73621C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79300" y="944701"/>
              <a:ext cx="4029167" cy="4379913"/>
            </a:xfrm>
            <a:custGeom>
              <a:avLst/>
              <a:gdLst>
                <a:gd name="T0" fmla="*/ 0 w 3336"/>
                <a:gd name="T1" fmla="*/ 222 h 2759"/>
                <a:gd name="T2" fmla="*/ 6 w 3336"/>
                <a:gd name="T3" fmla="*/ 397 h 2759"/>
                <a:gd name="T4" fmla="*/ 0 w 3336"/>
                <a:gd name="T5" fmla="*/ 528 h 2759"/>
                <a:gd name="T6" fmla="*/ 6 w 3336"/>
                <a:gd name="T7" fmla="*/ 879 h 2759"/>
                <a:gd name="T8" fmla="*/ 6 w 3336"/>
                <a:gd name="T9" fmla="*/ 923 h 2759"/>
                <a:gd name="T10" fmla="*/ 0 w 3336"/>
                <a:gd name="T11" fmla="*/ 1274 h 2759"/>
                <a:gd name="T12" fmla="*/ 6 w 3336"/>
                <a:gd name="T13" fmla="*/ 1450 h 2759"/>
                <a:gd name="T14" fmla="*/ 0 w 3336"/>
                <a:gd name="T15" fmla="*/ 1582 h 2759"/>
                <a:gd name="T16" fmla="*/ 6 w 3336"/>
                <a:gd name="T17" fmla="*/ 1932 h 2759"/>
                <a:gd name="T18" fmla="*/ 6 w 3336"/>
                <a:gd name="T19" fmla="*/ 1976 h 2759"/>
                <a:gd name="T20" fmla="*/ 0 w 3336"/>
                <a:gd name="T21" fmla="*/ 2327 h 2759"/>
                <a:gd name="T22" fmla="*/ 6 w 3336"/>
                <a:gd name="T23" fmla="*/ 2503 h 2759"/>
                <a:gd name="T24" fmla="*/ 0 w 3336"/>
                <a:gd name="T25" fmla="*/ 2634 h 2759"/>
                <a:gd name="T26" fmla="*/ 232 w 3336"/>
                <a:gd name="T27" fmla="*/ 2753 h 2759"/>
                <a:gd name="T28" fmla="*/ 276 w 3336"/>
                <a:gd name="T29" fmla="*/ 2753 h 2759"/>
                <a:gd name="T30" fmla="*/ 627 w 3336"/>
                <a:gd name="T31" fmla="*/ 2759 h 2759"/>
                <a:gd name="T32" fmla="*/ 802 w 3336"/>
                <a:gd name="T33" fmla="*/ 2753 h 2759"/>
                <a:gd name="T34" fmla="*/ 934 w 3336"/>
                <a:gd name="T35" fmla="*/ 2759 h 2759"/>
                <a:gd name="T36" fmla="*/ 1285 w 3336"/>
                <a:gd name="T37" fmla="*/ 2753 h 2759"/>
                <a:gd name="T38" fmla="*/ 1328 w 3336"/>
                <a:gd name="T39" fmla="*/ 2753 h 2759"/>
                <a:gd name="T40" fmla="*/ 1679 w 3336"/>
                <a:gd name="T41" fmla="*/ 2759 h 2759"/>
                <a:gd name="T42" fmla="*/ 1855 w 3336"/>
                <a:gd name="T43" fmla="*/ 2753 h 2759"/>
                <a:gd name="T44" fmla="*/ 1986 w 3336"/>
                <a:gd name="T45" fmla="*/ 2759 h 2759"/>
                <a:gd name="T46" fmla="*/ 2337 w 3336"/>
                <a:gd name="T47" fmla="*/ 2753 h 2759"/>
                <a:gd name="T48" fmla="*/ 2381 w 3336"/>
                <a:gd name="T49" fmla="*/ 2753 h 2759"/>
                <a:gd name="T50" fmla="*/ 2732 w 3336"/>
                <a:gd name="T51" fmla="*/ 2759 h 2759"/>
                <a:gd name="T52" fmla="*/ 2907 w 3336"/>
                <a:gd name="T53" fmla="*/ 2753 h 2759"/>
                <a:gd name="T54" fmla="*/ 3038 w 3336"/>
                <a:gd name="T55" fmla="*/ 2759 h 2759"/>
                <a:gd name="T56" fmla="*/ 3334 w 3336"/>
                <a:gd name="T57" fmla="*/ 2753 h 2759"/>
                <a:gd name="T58" fmla="*/ 3331 w 3336"/>
                <a:gd name="T59" fmla="*/ 2569 h 2759"/>
                <a:gd name="T60" fmla="*/ 3331 w 3336"/>
                <a:gd name="T61" fmla="*/ 2525 h 2759"/>
                <a:gd name="T62" fmla="*/ 3336 w 3336"/>
                <a:gd name="T63" fmla="*/ 2174 h 2759"/>
                <a:gd name="T64" fmla="*/ 3331 w 3336"/>
                <a:gd name="T65" fmla="*/ 1999 h 2759"/>
                <a:gd name="T66" fmla="*/ 3336 w 3336"/>
                <a:gd name="T67" fmla="*/ 1867 h 2759"/>
                <a:gd name="T68" fmla="*/ 3331 w 3336"/>
                <a:gd name="T69" fmla="*/ 1516 h 2759"/>
                <a:gd name="T70" fmla="*/ 3331 w 3336"/>
                <a:gd name="T71" fmla="*/ 1472 h 2759"/>
                <a:gd name="T72" fmla="*/ 3336 w 3336"/>
                <a:gd name="T73" fmla="*/ 1121 h 2759"/>
                <a:gd name="T74" fmla="*/ 3331 w 3336"/>
                <a:gd name="T75" fmla="*/ 946 h 2759"/>
                <a:gd name="T76" fmla="*/ 3336 w 3336"/>
                <a:gd name="T77" fmla="*/ 814 h 2759"/>
                <a:gd name="T78" fmla="*/ 3331 w 3336"/>
                <a:gd name="T79" fmla="*/ 464 h 2759"/>
                <a:gd name="T80" fmla="*/ 3331 w 3336"/>
                <a:gd name="T81" fmla="*/ 420 h 2759"/>
                <a:gd name="T82" fmla="*/ 3336 w 3336"/>
                <a:gd name="T83" fmla="*/ 69 h 2759"/>
                <a:gd name="T84" fmla="*/ 3336 w 3336"/>
                <a:gd name="T85" fmla="*/ 0 h 2759"/>
                <a:gd name="T86" fmla="*/ 3093 w 3336"/>
                <a:gd name="T87" fmla="*/ 5 h 2759"/>
                <a:gd name="T88" fmla="*/ 2962 w 3336"/>
                <a:gd name="T89" fmla="*/ 0 h 2759"/>
                <a:gd name="T90" fmla="*/ 2611 w 3336"/>
                <a:gd name="T91" fmla="*/ 5 h 2759"/>
                <a:gd name="T92" fmla="*/ 2567 w 3336"/>
                <a:gd name="T93" fmla="*/ 5 h 2759"/>
                <a:gd name="T94" fmla="*/ 2216 w 3336"/>
                <a:gd name="T95" fmla="*/ 0 h 2759"/>
                <a:gd name="T96" fmla="*/ 2041 w 3336"/>
                <a:gd name="T97" fmla="*/ 5 h 2759"/>
                <a:gd name="T98" fmla="*/ 1909 w 3336"/>
                <a:gd name="T99" fmla="*/ 0 h 2759"/>
                <a:gd name="T100" fmla="*/ 1559 w 3336"/>
                <a:gd name="T101" fmla="*/ 5 h 2759"/>
                <a:gd name="T102" fmla="*/ 1515 w 3336"/>
                <a:gd name="T103" fmla="*/ 5 h 2759"/>
                <a:gd name="T104" fmla="*/ 1164 w 3336"/>
                <a:gd name="T105" fmla="*/ 0 h 2759"/>
                <a:gd name="T106" fmla="*/ 989 w 3336"/>
                <a:gd name="T107" fmla="*/ 5 h 2759"/>
                <a:gd name="T108" fmla="*/ 857 w 3336"/>
                <a:gd name="T109" fmla="*/ 0 h 2759"/>
                <a:gd name="T110" fmla="*/ 507 w 3336"/>
                <a:gd name="T111" fmla="*/ 5 h 2759"/>
                <a:gd name="T112" fmla="*/ 463 w 3336"/>
                <a:gd name="T113" fmla="*/ 5 h 2759"/>
                <a:gd name="T114" fmla="*/ 112 w 3336"/>
                <a:gd name="T115" fmla="*/ 0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36" h="2759">
                  <a:moveTo>
                    <a:pt x="6" y="2"/>
                  </a:moveTo>
                  <a:lnTo>
                    <a:pt x="6" y="90"/>
                  </a:lnTo>
                  <a:lnTo>
                    <a:pt x="0" y="90"/>
                  </a:lnTo>
                  <a:lnTo>
                    <a:pt x="0" y="2"/>
                  </a:lnTo>
                  <a:lnTo>
                    <a:pt x="6" y="2"/>
                  </a:lnTo>
                  <a:close/>
                  <a:moveTo>
                    <a:pt x="6" y="134"/>
                  </a:moveTo>
                  <a:lnTo>
                    <a:pt x="6" y="222"/>
                  </a:lnTo>
                  <a:lnTo>
                    <a:pt x="0" y="222"/>
                  </a:lnTo>
                  <a:lnTo>
                    <a:pt x="0" y="134"/>
                  </a:lnTo>
                  <a:lnTo>
                    <a:pt x="6" y="134"/>
                  </a:lnTo>
                  <a:close/>
                  <a:moveTo>
                    <a:pt x="6" y="265"/>
                  </a:moveTo>
                  <a:lnTo>
                    <a:pt x="6" y="353"/>
                  </a:lnTo>
                  <a:lnTo>
                    <a:pt x="0" y="353"/>
                  </a:lnTo>
                  <a:lnTo>
                    <a:pt x="0" y="265"/>
                  </a:lnTo>
                  <a:lnTo>
                    <a:pt x="6" y="265"/>
                  </a:lnTo>
                  <a:close/>
                  <a:moveTo>
                    <a:pt x="6" y="397"/>
                  </a:moveTo>
                  <a:lnTo>
                    <a:pt x="6" y="485"/>
                  </a:lnTo>
                  <a:lnTo>
                    <a:pt x="0" y="485"/>
                  </a:lnTo>
                  <a:lnTo>
                    <a:pt x="0" y="397"/>
                  </a:lnTo>
                  <a:lnTo>
                    <a:pt x="6" y="397"/>
                  </a:lnTo>
                  <a:close/>
                  <a:moveTo>
                    <a:pt x="6" y="528"/>
                  </a:moveTo>
                  <a:lnTo>
                    <a:pt x="6" y="616"/>
                  </a:lnTo>
                  <a:lnTo>
                    <a:pt x="0" y="616"/>
                  </a:lnTo>
                  <a:lnTo>
                    <a:pt x="0" y="528"/>
                  </a:lnTo>
                  <a:lnTo>
                    <a:pt x="6" y="528"/>
                  </a:lnTo>
                  <a:close/>
                  <a:moveTo>
                    <a:pt x="6" y="660"/>
                  </a:moveTo>
                  <a:lnTo>
                    <a:pt x="6" y="748"/>
                  </a:lnTo>
                  <a:lnTo>
                    <a:pt x="0" y="748"/>
                  </a:lnTo>
                  <a:lnTo>
                    <a:pt x="0" y="660"/>
                  </a:lnTo>
                  <a:lnTo>
                    <a:pt x="6" y="660"/>
                  </a:lnTo>
                  <a:close/>
                  <a:moveTo>
                    <a:pt x="6" y="792"/>
                  </a:moveTo>
                  <a:lnTo>
                    <a:pt x="6" y="879"/>
                  </a:lnTo>
                  <a:lnTo>
                    <a:pt x="0" y="879"/>
                  </a:lnTo>
                  <a:lnTo>
                    <a:pt x="0" y="792"/>
                  </a:lnTo>
                  <a:lnTo>
                    <a:pt x="6" y="792"/>
                  </a:lnTo>
                  <a:close/>
                  <a:moveTo>
                    <a:pt x="6" y="923"/>
                  </a:moveTo>
                  <a:lnTo>
                    <a:pt x="6" y="1011"/>
                  </a:lnTo>
                  <a:lnTo>
                    <a:pt x="0" y="1011"/>
                  </a:lnTo>
                  <a:lnTo>
                    <a:pt x="0" y="923"/>
                  </a:lnTo>
                  <a:lnTo>
                    <a:pt x="6" y="923"/>
                  </a:lnTo>
                  <a:close/>
                  <a:moveTo>
                    <a:pt x="6" y="1055"/>
                  </a:moveTo>
                  <a:lnTo>
                    <a:pt x="6" y="1143"/>
                  </a:lnTo>
                  <a:lnTo>
                    <a:pt x="0" y="1143"/>
                  </a:lnTo>
                  <a:lnTo>
                    <a:pt x="0" y="1055"/>
                  </a:lnTo>
                  <a:lnTo>
                    <a:pt x="6" y="1055"/>
                  </a:lnTo>
                  <a:close/>
                  <a:moveTo>
                    <a:pt x="6" y="1187"/>
                  </a:moveTo>
                  <a:lnTo>
                    <a:pt x="6" y="1274"/>
                  </a:lnTo>
                  <a:lnTo>
                    <a:pt x="0" y="1274"/>
                  </a:lnTo>
                  <a:lnTo>
                    <a:pt x="0" y="1187"/>
                  </a:lnTo>
                  <a:lnTo>
                    <a:pt x="6" y="1187"/>
                  </a:lnTo>
                  <a:close/>
                  <a:moveTo>
                    <a:pt x="6" y="1318"/>
                  </a:moveTo>
                  <a:lnTo>
                    <a:pt x="6" y="1406"/>
                  </a:lnTo>
                  <a:lnTo>
                    <a:pt x="0" y="1406"/>
                  </a:lnTo>
                  <a:lnTo>
                    <a:pt x="0" y="1318"/>
                  </a:lnTo>
                  <a:lnTo>
                    <a:pt x="6" y="1318"/>
                  </a:lnTo>
                  <a:close/>
                  <a:moveTo>
                    <a:pt x="6" y="1450"/>
                  </a:moveTo>
                  <a:lnTo>
                    <a:pt x="6" y="1538"/>
                  </a:lnTo>
                  <a:lnTo>
                    <a:pt x="0" y="1538"/>
                  </a:lnTo>
                  <a:lnTo>
                    <a:pt x="0" y="1450"/>
                  </a:lnTo>
                  <a:lnTo>
                    <a:pt x="6" y="1450"/>
                  </a:lnTo>
                  <a:close/>
                  <a:moveTo>
                    <a:pt x="6" y="1582"/>
                  </a:moveTo>
                  <a:lnTo>
                    <a:pt x="6" y="1669"/>
                  </a:lnTo>
                  <a:lnTo>
                    <a:pt x="0" y="1669"/>
                  </a:lnTo>
                  <a:lnTo>
                    <a:pt x="0" y="1582"/>
                  </a:lnTo>
                  <a:lnTo>
                    <a:pt x="6" y="1582"/>
                  </a:lnTo>
                  <a:close/>
                  <a:moveTo>
                    <a:pt x="6" y="1713"/>
                  </a:moveTo>
                  <a:lnTo>
                    <a:pt x="6" y="1801"/>
                  </a:lnTo>
                  <a:lnTo>
                    <a:pt x="0" y="1801"/>
                  </a:lnTo>
                  <a:lnTo>
                    <a:pt x="0" y="1713"/>
                  </a:lnTo>
                  <a:lnTo>
                    <a:pt x="6" y="1713"/>
                  </a:lnTo>
                  <a:close/>
                  <a:moveTo>
                    <a:pt x="6" y="1844"/>
                  </a:moveTo>
                  <a:lnTo>
                    <a:pt x="6" y="1932"/>
                  </a:lnTo>
                  <a:lnTo>
                    <a:pt x="0" y="1932"/>
                  </a:lnTo>
                  <a:lnTo>
                    <a:pt x="0" y="1844"/>
                  </a:lnTo>
                  <a:lnTo>
                    <a:pt x="6" y="1844"/>
                  </a:lnTo>
                  <a:close/>
                  <a:moveTo>
                    <a:pt x="6" y="1976"/>
                  </a:moveTo>
                  <a:lnTo>
                    <a:pt x="6" y="2064"/>
                  </a:lnTo>
                  <a:lnTo>
                    <a:pt x="0" y="2064"/>
                  </a:lnTo>
                  <a:lnTo>
                    <a:pt x="0" y="1976"/>
                  </a:lnTo>
                  <a:lnTo>
                    <a:pt x="6" y="1976"/>
                  </a:lnTo>
                  <a:close/>
                  <a:moveTo>
                    <a:pt x="6" y="2108"/>
                  </a:moveTo>
                  <a:lnTo>
                    <a:pt x="6" y="2196"/>
                  </a:lnTo>
                  <a:lnTo>
                    <a:pt x="0" y="2196"/>
                  </a:lnTo>
                  <a:lnTo>
                    <a:pt x="0" y="2108"/>
                  </a:lnTo>
                  <a:lnTo>
                    <a:pt x="6" y="2108"/>
                  </a:lnTo>
                  <a:close/>
                  <a:moveTo>
                    <a:pt x="6" y="2239"/>
                  </a:moveTo>
                  <a:lnTo>
                    <a:pt x="6" y="2327"/>
                  </a:lnTo>
                  <a:lnTo>
                    <a:pt x="0" y="2327"/>
                  </a:lnTo>
                  <a:lnTo>
                    <a:pt x="0" y="2239"/>
                  </a:lnTo>
                  <a:lnTo>
                    <a:pt x="6" y="2239"/>
                  </a:lnTo>
                  <a:close/>
                  <a:moveTo>
                    <a:pt x="6" y="2371"/>
                  </a:moveTo>
                  <a:lnTo>
                    <a:pt x="6" y="2459"/>
                  </a:lnTo>
                  <a:lnTo>
                    <a:pt x="0" y="2459"/>
                  </a:lnTo>
                  <a:lnTo>
                    <a:pt x="0" y="2371"/>
                  </a:lnTo>
                  <a:lnTo>
                    <a:pt x="6" y="2371"/>
                  </a:lnTo>
                  <a:close/>
                  <a:moveTo>
                    <a:pt x="6" y="2503"/>
                  </a:moveTo>
                  <a:lnTo>
                    <a:pt x="6" y="2590"/>
                  </a:lnTo>
                  <a:lnTo>
                    <a:pt x="0" y="2590"/>
                  </a:lnTo>
                  <a:lnTo>
                    <a:pt x="0" y="2503"/>
                  </a:lnTo>
                  <a:lnTo>
                    <a:pt x="6" y="2503"/>
                  </a:lnTo>
                  <a:close/>
                  <a:moveTo>
                    <a:pt x="6" y="2634"/>
                  </a:moveTo>
                  <a:lnTo>
                    <a:pt x="6" y="2722"/>
                  </a:lnTo>
                  <a:lnTo>
                    <a:pt x="0" y="2722"/>
                  </a:lnTo>
                  <a:lnTo>
                    <a:pt x="0" y="2634"/>
                  </a:lnTo>
                  <a:lnTo>
                    <a:pt x="6" y="2634"/>
                  </a:lnTo>
                  <a:close/>
                  <a:moveTo>
                    <a:pt x="13" y="2753"/>
                  </a:moveTo>
                  <a:lnTo>
                    <a:pt x="101" y="2753"/>
                  </a:lnTo>
                  <a:lnTo>
                    <a:pt x="101" y="2759"/>
                  </a:lnTo>
                  <a:lnTo>
                    <a:pt x="13" y="2759"/>
                  </a:lnTo>
                  <a:lnTo>
                    <a:pt x="13" y="2753"/>
                  </a:lnTo>
                  <a:close/>
                  <a:moveTo>
                    <a:pt x="145" y="2753"/>
                  </a:moveTo>
                  <a:lnTo>
                    <a:pt x="232" y="2753"/>
                  </a:lnTo>
                  <a:lnTo>
                    <a:pt x="232" y="2759"/>
                  </a:lnTo>
                  <a:lnTo>
                    <a:pt x="145" y="2759"/>
                  </a:lnTo>
                  <a:lnTo>
                    <a:pt x="145" y="2753"/>
                  </a:lnTo>
                  <a:close/>
                  <a:moveTo>
                    <a:pt x="276" y="2753"/>
                  </a:moveTo>
                  <a:lnTo>
                    <a:pt x="364" y="2753"/>
                  </a:lnTo>
                  <a:lnTo>
                    <a:pt x="364" y="2759"/>
                  </a:lnTo>
                  <a:lnTo>
                    <a:pt x="276" y="2759"/>
                  </a:lnTo>
                  <a:lnTo>
                    <a:pt x="276" y="2753"/>
                  </a:lnTo>
                  <a:close/>
                  <a:moveTo>
                    <a:pt x="408" y="2753"/>
                  </a:moveTo>
                  <a:lnTo>
                    <a:pt x="495" y="2753"/>
                  </a:lnTo>
                  <a:lnTo>
                    <a:pt x="495" y="2759"/>
                  </a:lnTo>
                  <a:lnTo>
                    <a:pt x="408" y="2759"/>
                  </a:lnTo>
                  <a:lnTo>
                    <a:pt x="408" y="2753"/>
                  </a:lnTo>
                  <a:close/>
                  <a:moveTo>
                    <a:pt x="539" y="2753"/>
                  </a:moveTo>
                  <a:lnTo>
                    <a:pt x="627" y="2753"/>
                  </a:lnTo>
                  <a:lnTo>
                    <a:pt x="627" y="2759"/>
                  </a:lnTo>
                  <a:lnTo>
                    <a:pt x="539" y="2759"/>
                  </a:lnTo>
                  <a:lnTo>
                    <a:pt x="539" y="2753"/>
                  </a:lnTo>
                  <a:close/>
                  <a:moveTo>
                    <a:pt x="671" y="2753"/>
                  </a:moveTo>
                  <a:lnTo>
                    <a:pt x="758" y="2753"/>
                  </a:lnTo>
                  <a:lnTo>
                    <a:pt x="758" y="2759"/>
                  </a:lnTo>
                  <a:lnTo>
                    <a:pt x="671" y="2759"/>
                  </a:lnTo>
                  <a:lnTo>
                    <a:pt x="671" y="2753"/>
                  </a:lnTo>
                  <a:close/>
                  <a:moveTo>
                    <a:pt x="802" y="2753"/>
                  </a:moveTo>
                  <a:lnTo>
                    <a:pt x="890" y="2753"/>
                  </a:lnTo>
                  <a:lnTo>
                    <a:pt x="890" y="2759"/>
                  </a:lnTo>
                  <a:lnTo>
                    <a:pt x="802" y="2759"/>
                  </a:lnTo>
                  <a:lnTo>
                    <a:pt x="802" y="2753"/>
                  </a:lnTo>
                  <a:close/>
                  <a:moveTo>
                    <a:pt x="934" y="2753"/>
                  </a:moveTo>
                  <a:lnTo>
                    <a:pt x="1022" y="2753"/>
                  </a:lnTo>
                  <a:lnTo>
                    <a:pt x="1022" y="2759"/>
                  </a:lnTo>
                  <a:lnTo>
                    <a:pt x="934" y="2759"/>
                  </a:lnTo>
                  <a:lnTo>
                    <a:pt x="934" y="2753"/>
                  </a:lnTo>
                  <a:close/>
                  <a:moveTo>
                    <a:pt x="1065" y="2753"/>
                  </a:moveTo>
                  <a:lnTo>
                    <a:pt x="1153" y="2753"/>
                  </a:lnTo>
                  <a:lnTo>
                    <a:pt x="1153" y="2759"/>
                  </a:lnTo>
                  <a:lnTo>
                    <a:pt x="1065" y="2759"/>
                  </a:lnTo>
                  <a:lnTo>
                    <a:pt x="1065" y="2753"/>
                  </a:lnTo>
                  <a:close/>
                  <a:moveTo>
                    <a:pt x="1197" y="2753"/>
                  </a:moveTo>
                  <a:lnTo>
                    <a:pt x="1285" y="2753"/>
                  </a:lnTo>
                  <a:lnTo>
                    <a:pt x="1285" y="2759"/>
                  </a:lnTo>
                  <a:lnTo>
                    <a:pt x="1197" y="2759"/>
                  </a:lnTo>
                  <a:lnTo>
                    <a:pt x="1197" y="2753"/>
                  </a:lnTo>
                  <a:close/>
                  <a:moveTo>
                    <a:pt x="1328" y="2753"/>
                  </a:moveTo>
                  <a:lnTo>
                    <a:pt x="1416" y="2753"/>
                  </a:lnTo>
                  <a:lnTo>
                    <a:pt x="1416" y="2759"/>
                  </a:lnTo>
                  <a:lnTo>
                    <a:pt x="1328" y="2759"/>
                  </a:lnTo>
                  <a:lnTo>
                    <a:pt x="1328" y="2753"/>
                  </a:lnTo>
                  <a:close/>
                  <a:moveTo>
                    <a:pt x="1460" y="2753"/>
                  </a:moveTo>
                  <a:lnTo>
                    <a:pt x="1548" y="2753"/>
                  </a:lnTo>
                  <a:lnTo>
                    <a:pt x="1548" y="2759"/>
                  </a:lnTo>
                  <a:lnTo>
                    <a:pt x="1460" y="2759"/>
                  </a:lnTo>
                  <a:lnTo>
                    <a:pt x="1460" y="2753"/>
                  </a:lnTo>
                  <a:close/>
                  <a:moveTo>
                    <a:pt x="1591" y="2753"/>
                  </a:moveTo>
                  <a:lnTo>
                    <a:pt x="1679" y="2753"/>
                  </a:lnTo>
                  <a:lnTo>
                    <a:pt x="1679" y="2759"/>
                  </a:lnTo>
                  <a:lnTo>
                    <a:pt x="1591" y="2759"/>
                  </a:lnTo>
                  <a:lnTo>
                    <a:pt x="1591" y="2753"/>
                  </a:lnTo>
                  <a:close/>
                  <a:moveTo>
                    <a:pt x="1723" y="2753"/>
                  </a:moveTo>
                  <a:lnTo>
                    <a:pt x="1811" y="2753"/>
                  </a:lnTo>
                  <a:lnTo>
                    <a:pt x="1811" y="2759"/>
                  </a:lnTo>
                  <a:lnTo>
                    <a:pt x="1723" y="2759"/>
                  </a:lnTo>
                  <a:lnTo>
                    <a:pt x="1723" y="2753"/>
                  </a:lnTo>
                  <a:close/>
                  <a:moveTo>
                    <a:pt x="1855" y="2753"/>
                  </a:moveTo>
                  <a:lnTo>
                    <a:pt x="1942" y="2753"/>
                  </a:lnTo>
                  <a:lnTo>
                    <a:pt x="1942" y="2759"/>
                  </a:lnTo>
                  <a:lnTo>
                    <a:pt x="1855" y="2759"/>
                  </a:lnTo>
                  <a:lnTo>
                    <a:pt x="1855" y="2753"/>
                  </a:lnTo>
                  <a:close/>
                  <a:moveTo>
                    <a:pt x="1986" y="2753"/>
                  </a:moveTo>
                  <a:lnTo>
                    <a:pt x="2074" y="2753"/>
                  </a:lnTo>
                  <a:lnTo>
                    <a:pt x="2074" y="2759"/>
                  </a:lnTo>
                  <a:lnTo>
                    <a:pt x="1986" y="2759"/>
                  </a:lnTo>
                  <a:lnTo>
                    <a:pt x="1986" y="2753"/>
                  </a:lnTo>
                  <a:close/>
                  <a:moveTo>
                    <a:pt x="2118" y="2753"/>
                  </a:moveTo>
                  <a:lnTo>
                    <a:pt x="2205" y="2753"/>
                  </a:lnTo>
                  <a:lnTo>
                    <a:pt x="2205" y="2759"/>
                  </a:lnTo>
                  <a:lnTo>
                    <a:pt x="2118" y="2759"/>
                  </a:lnTo>
                  <a:lnTo>
                    <a:pt x="2118" y="2753"/>
                  </a:lnTo>
                  <a:close/>
                  <a:moveTo>
                    <a:pt x="2249" y="2753"/>
                  </a:moveTo>
                  <a:lnTo>
                    <a:pt x="2337" y="2753"/>
                  </a:lnTo>
                  <a:lnTo>
                    <a:pt x="2337" y="2759"/>
                  </a:lnTo>
                  <a:lnTo>
                    <a:pt x="2249" y="2759"/>
                  </a:lnTo>
                  <a:lnTo>
                    <a:pt x="2249" y="2753"/>
                  </a:lnTo>
                  <a:close/>
                  <a:moveTo>
                    <a:pt x="2381" y="2753"/>
                  </a:moveTo>
                  <a:lnTo>
                    <a:pt x="2468" y="2753"/>
                  </a:lnTo>
                  <a:lnTo>
                    <a:pt x="2468" y="2759"/>
                  </a:lnTo>
                  <a:lnTo>
                    <a:pt x="2381" y="2759"/>
                  </a:lnTo>
                  <a:lnTo>
                    <a:pt x="2381" y="2753"/>
                  </a:lnTo>
                  <a:close/>
                  <a:moveTo>
                    <a:pt x="2512" y="2753"/>
                  </a:moveTo>
                  <a:lnTo>
                    <a:pt x="2600" y="2753"/>
                  </a:lnTo>
                  <a:lnTo>
                    <a:pt x="2600" y="2759"/>
                  </a:lnTo>
                  <a:lnTo>
                    <a:pt x="2512" y="2759"/>
                  </a:lnTo>
                  <a:lnTo>
                    <a:pt x="2512" y="2753"/>
                  </a:lnTo>
                  <a:close/>
                  <a:moveTo>
                    <a:pt x="2644" y="2753"/>
                  </a:moveTo>
                  <a:lnTo>
                    <a:pt x="2732" y="2753"/>
                  </a:lnTo>
                  <a:lnTo>
                    <a:pt x="2732" y="2759"/>
                  </a:lnTo>
                  <a:lnTo>
                    <a:pt x="2644" y="2759"/>
                  </a:lnTo>
                  <a:lnTo>
                    <a:pt x="2644" y="2753"/>
                  </a:lnTo>
                  <a:close/>
                  <a:moveTo>
                    <a:pt x="2775" y="2753"/>
                  </a:moveTo>
                  <a:lnTo>
                    <a:pt x="2863" y="2753"/>
                  </a:lnTo>
                  <a:lnTo>
                    <a:pt x="2863" y="2759"/>
                  </a:lnTo>
                  <a:lnTo>
                    <a:pt x="2775" y="2759"/>
                  </a:lnTo>
                  <a:lnTo>
                    <a:pt x="2775" y="2753"/>
                  </a:lnTo>
                  <a:close/>
                  <a:moveTo>
                    <a:pt x="2907" y="2753"/>
                  </a:moveTo>
                  <a:lnTo>
                    <a:pt x="2995" y="2753"/>
                  </a:lnTo>
                  <a:lnTo>
                    <a:pt x="2995" y="2759"/>
                  </a:lnTo>
                  <a:lnTo>
                    <a:pt x="2907" y="2759"/>
                  </a:lnTo>
                  <a:lnTo>
                    <a:pt x="2907" y="2753"/>
                  </a:lnTo>
                  <a:close/>
                  <a:moveTo>
                    <a:pt x="3038" y="2753"/>
                  </a:moveTo>
                  <a:lnTo>
                    <a:pt x="3126" y="2753"/>
                  </a:lnTo>
                  <a:lnTo>
                    <a:pt x="3126" y="2759"/>
                  </a:lnTo>
                  <a:lnTo>
                    <a:pt x="3038" y="2759"/>
                  </a:lnTo>
                  <a:lnTo>
                    <a:pt x="3038" y="2753"/>
                  </a:lnTo>
                  <a:close/>
                  <a:moveTo>
                    <a:pt x="3170" y="2753"/>
                  </a:moveTo>
                  <a:lnTo>
                    <a:pt x="3257" y="2753"/>
                  </a:lnTo>
                  <a:lnTo>
                    <a:pt x="3257" y="2759"/>
                  </a:lnTo>
                  <a:lnTo>
                    <a:pt x="3170" y="2759"/>
                  </a:lnTo>
                  <a:lnTo>
                    <a:pt x="3170" y="2753"/>
                  </a:lnTo>
                  <a:close/>
                  <a:moveTo>
                    <a:pt x="3301" y="2753"/>
                  </a:moveTo>
                  <a:lnTo>
                    <a:pt x="3334" y="2753"/>
                  </a:lnTo>
                  <a:lnTo>
                    <a:pt x="3331" y="2756"/>
                  </a:lnTo>
                  <a:lnTo>
                    <a:pt x="3331" y="2701"/>
                  </a:lnTo>
                  <a:lnTo>
                    <a:pt x="3336" y="2701"/>
                  </a:lnTo>
                  <a:lnTo>
                    <a:pt x="3336" y="2759"/>
                  </a:lnTo>
                  <a:lnTo>
                    <a:pt x="3301" y="2759"/>
                  </a:lnTo>
                  <a:lnTo>
                    <a:pt x="3301" y="2753"/>
                  </a:lnTo>
                  <a:close/>
                  <a:moveTo>
                    <a:pt x="3331" y="2657"/>
                  </a:moveTo>
                  <a:lnTo>
                    <a:pt x="3331" y="2569"/>
                  </a:lnTo>
                  <a:lnTo>
                    <a:pt x="3336" y="2569"/>
                  </a:lnTo>
                  <a:lnTo>
                    <a:pt x="3336" y="2657"/>
                  </a:lnTo>
                  <a:lnTo>
                    <a:pt x="3331" y="2657"/>
                  </a:lnTo>
                  <a:close/>
                  <a:moveTo>
                    <a:pt x="3331" y="2525"/>
                  </a:moveTo>
                  <a:lnTo>
                    <a:pt x="3331" y="2437"/>
                  </a:lnTo>
                  <a:lnTo>
                    <a:pt x="3336" y="2437"/>
                  </a:lnTo>
                  <a:lnTo>
                    <a:pt x="3336" y="2525"/>
                  </a:lnTo>
                  <a:lnTo>
                    <a:pt x="3331" y="2525"/>
                  </a:lnTo>
                  <a:close/>
                  <a:moveTo>
                    <a:pt x="3331" y="2394"/>
                  </a:moveTo>
                  <a:lnTo>
                    <a:pt x="3331" y="2306"/>
                  </a:lnTo>
                  <a:lnTo>
                    <a:pt x="3336" y="2306"/>
                  </a:lnTo>
                  <a:lnTo>
                    <a:pt x="3336" y="2394"/>
                  </a:lnTo>
                  <a:lnTo>
                    <a:pt x="3331" y="2394"/>
                  </a:lnTo>
                  <a:close/>
                  <a:moveTo>
                    <a:pt x="3331" y="2262"/>
                  </a:moveTo>
                  <a:lnTo>
                    <a:pt x="3331" y="2174"/>
                  </a:lnTo>
                  <a:lnTo>
                    <a:pt x="3336" y="2174"/>
                  </a:lnTo>
                  <a:lnTo>
                    <a:pt x="3336" y="2262"/>
                  </a:lnTo>
                  <a:lnTo>
                    <a:pt x="3331" y="2262"/>
                  </a:lnTo>
                  <a:close/>
                  <a:moveTo>
                    <a:pt x="3331" y="2130"/>
                  </a:moveTo>
                  <a:lnTo>
                    <a:pt x="3331" y="2043"/>
                  </a:lnTo>
                  <a:lnTo>
                    <a:pt x="3336" y="2043"/>
                  </a:lnTo>
                  <a:lnTo>
                    <a:pt x="3336" y="2130"/>
                  </a:lnTo>
                  <a:lnTo>
                    <a:pt x="3331" y="2130"/>
                  </a:lnTo>
                  <a:close/>
                  <a:moveTo>
                    <a:pt x="3331" y="1999"/>
                  </a:moveTo>
                  <a:lnTo>
                    <a:pt x="3331" y="1911"/>
                  </a:lnTo>
                  <a:lnTo>
                    <a:pt x="3336" y="1911"/>
                  </a:lnTo>
                  <a:lnTo>
                    <a:pt x="3336" y="1999"/>
                  </a:lnTo>
                  <a:lnTo>
                    <a:pt x="3331" y="1999"/>
                  </a:lnTo>
                  <a:close/>
                  <a:moveTo>
                    <a:pt x="3331" y="1867"/>
                  </a:moveTo>
                  <a:lnTo>
                    <a:pt x="3331" y="1779"/>
                  </a:lnTo>
                  <a:lnTo>
                    <a:pt x="3336" y="1779"/>
                  </a:lnTo>
                  <a:lnTo>
                    <a:pt x="3336" y="1867"/>
                  </a:lnTo>
                  <a:lnTo>
                    <a:pt x="3331" y="1867"/>
                  </a:lnTo>
                  <a:close/>
                  <a:moveTo>
                    <a:pt x="3331" y="1735"/>
                  </a:moveTo>
                  <a:lnTo>
                    <a:pt x="3331" y="1648"/>
                  </a:lnTo>
                  <a:lnTo>
                    <a:pt x="3336" y="1648"/>
                  </a:lnTo>
                  <a:lnTo>
                    <a:pt x="3336" y="1735"/>
                  </a:lnTo>
                  <a:lnTo>
                    <a:pt x="3331" y="1735"/>
                  </a:lnTo>
                  <a:close/>
                  <a:moveTo>
                    <a:pt x="3331" y="1604"/>
                  </a:moveTo>
                  <a:lnTo>
                    <a:pt x="3331" y="1516"/>
                  </a:lnTo>
                  <a:lnTo>
                    <a:pt x="3336" y="1516"/>
                  </a:lnTo>
                  <a:lnTo>
                    <a:pt x="3336" y="1604"/>
                  </a:lnTo>
                  <a:lnTo>
                    <a:pt x="3331" y="1604"/>
                  </a:lnTo>
                  <a:close/>
                  <a:moveTo>
                    <a:pt x="3331" y="1472"/>
                  </a:moveTo>
                  <a:lnTo>
                    <a:pt x="3331" y="1385"/>
                  </a:lnTo>
                  <a:lnTo>
                    <a:pt x="3336" y="1385"/>
                  </a:lnTo>
                  <a:lnTo>
                    <a:pt x="3336" y="1472"/>
                  </a:lnTo>
                  <a:lnTo>
                    <a:pt x="3331" y="1472"/>
                  </a:lnTo>
                  <a:close/>
                  <a:moveTo>
                    <a:pt x="3331" y="1341"/>
                  </a:moveTo>
                  <a:lnTo>
                    <a:pt x="3331" y="1253"/>
                  </a:lnTo>
                  <a:lnTo>
                    <a:pt x="3336" y="1253"/>
                  </a:lnTo>
                  <a:lnTo>
                    <a:pt x="3336" y="1341"/>
                  </a:lnTo>
                  <a:lnTo>
                    <a:pt x="3331" y="1341"/>
                  </a:lnTo>
                  <a:close/>
                  <a:moveTo>
                    <a:pt x="3331" y="1209"/>
                  </a:moveTo>
                  <a:lnTo>
                    <a:pt x="3331" y="1121"/>
                  </a:lnTo>
                  <a:lnTo>
                    <a:pt x="3336" y="1121"/>
                  </a:lnTo>
                  <a:lnTo>
                    <a:pt x="3336" y="1209"/>
                  </a:lnTo>
                  <a:lnTo>
                    <a:pt x="3331" y="1209"/>
                  </a:lnTo>
                  <a:close/>
                  <a:moveTo>
                    <a:pt x="3331" y="1078"/>
                  </a:moveTo>
                  <a:lnTo>
                    <a:pt x="3331" y="990"/>
                  </a:lnTo>
                  <a:lnTo>
                    <a:pt x="3336" y="990"/>
                  </a:lnTo>
                  <a:lnTo>
                    <a:pt x="3336" y="1078"/>
                  </a:lnTo>
                  <a:lnTo>
                    <a:pt x="3331" y="1078"/>
                  </a:lnTo>
                  <a:close/>
                  <a:moveTo>
                    <a:pt x="3331" y="946"/>
                  </a:moveTo>
                  <a:lnTo>
                    <a:pt x="3331" y="858"/>
                  </a:lnTo>
                  <a:lnTo>
                    <a:pt x="3336" y="858"/>
                  </a:lnTo>
                  <a:lnTo>
                    <a:pt x="3336" y="946"/>
                  </a:lnTo>
                  <a:lnTo>
                    <a:pt x="3331" y="946"/>
                  </a:lnTo>
                  <a:close/>
                  <a:moveTo>
                    <a:pt x="3331" y="814"/>
                  </a:moveTo>
                  <a:lnTo>
                    <a:pt x="3331" y="726"/>
                  </a:lnTo>
                  <a:lnTo>
                    <a:pt x="3336" y="726"/>
                  </a:lnTo>
                  <a:lnTo>
                    <a:pt x="3336" y="814"/>
                  </a:lnTo>
                  <a:lnTo>
                    <a:pt x="3331" y="814"/>
                  </a:lnTo>
                  <a:close/>
                  <a:moveTo>
                    <a:pt x="3331" y="683"/>
                  </a:moveTo>
                  <a:lnTo>
                    <a:pt x="3331" y="595"/>
                  </a:lnTo>
                  <a:lnTo>
                    <a:pt x="3336" y="595"/>
                  </a:lnTo>
                  <a:lnTo>
                    <a:pt x="3336" y="683"/>
                  </a:lnTo>
                  <a:lnTo>
                    <a:pt x="3331" y="683"/>
                  </a:lnTo>
                  <a:close/>
                  <a:moveTo>
                    <a:pt x="3331" y="551"/>
                  </a:moveTo>
                  <a:lnTo>
                    <a:pt x="3331" y="464"/>
                  </a:lnTo>
                  <a:lnTo>
                    <a:pt x="3336" y="464"/>
                  </a:lnTo>
                  <a:lnTo>
                    <a:pt x="3336" y="551"/>
                  </a:lnTo>
                  <a:lnTo>
                    <a:pt x="3331" y="551"/>
                  </a:lnTo>
                  <a:close/>
                  <a:moveTo>
                    <a:pt x="3331" y="420"/>
                  </a:moveTo>
                  <a:lnTo>
                    <a:pt x="3331" y="332"/>
                  </a:lnTo>
                  <a:lnTo>
                    <a:pt x="3336" y="332"/>
                  </a:lnTo>
                  <a:lnTo>
                    <a:pt x="3336" y="420"/>
                  </a:lnTo>
                  <a:lnTo>
                    <a:pt x="3331" y="420"/>
                  </a:lnTo>
                  <a:close/>
                  <a:moveTo>
                    <a:pt x="3331" y="288"/>
                  </a:moveTo>
                  <a:lnTo>
                    <a:pt x="3331" y="200"/>
                  </a:lnTo>
                  <a:lnTo>
                    <a:pt x="3336" y="200"/>
                  </a:lnTo>
                  <a:lnTo>
                    <a:pt x="3336" y="288"/>
                  </a:lnTo>
                  <a:lnTo>
                    <a:pt x="3331" y="288"/>
                  </a:lnTo>
                  <a:close/>
                  <a:moveTo>
                    <a:pt x="3331" y="156"/>
                  </a:moveTo>
                  <a:lnTo>
                    <a:pt x="3331" y="69"/>
                  </a:lnTo>
                  <a:lnTo>
                    <a:pt x="3336" y="69"/>
                  </a:lnTo>
                  <a:lnTo>
                    <a:pt x="3336" y="156"/>
                  </a:lnTo>
                  <a:lnTo>
                    <a:pt x="3331" y="156"/>
                  </a:lnTo>
                  <a:close/>
                  <a:moveTo>
                    <a:pt x="3331" y="25"/>
                  </a:moveTo>
                  <a:lnTo>
                    <a:pt x="3331" y="2"/>
                  </a:lnTo>
                  <a:lnTo>
                    <a:pt x="3334" y="5"/>
                  </a:lnTo>
                  <a:lnTo>
                    <a:pt x="3269" y="5"/>
                  </a:lnTo>
                  <a:lnTo>
                    <a:pt x="3269" y="0"/>
                  </a:lnTo>
                  <a:lnTo>
                    <a:pt x="3336" y="0"/>
                  </a:lnTo>
                  <a:lnTo>
                    <a:pt x="3336" y="25"/>
                  </a:lnTo>
                  <a:lnTo>
                    <a:pt x="3331" y="25"/>
                  </a:lnTo>
                  <a:close/>
                  <a:moveTo>
                    <a:pt x="3225" y="5"/>
                  </a:moveTo>
                  <a:lnTo>
                    <a:pt x="3137" y="5"/>
                  </a:lnTo>
                  <a:lnTo>
                    <a:pt x="3137" y="0"/>
                  </a:lnTo>
                  <a:lnTo>
                    <a:pt x="3225" y="0"/>
                  </a:lnTo>
                  <a:lnTo>
                    <a:pt x="3225" y="5"/>
                  </a:lnTo>
                  <a:close/>
                  <a:moveTo>
                    <a:pt x="3093" y="5"/>
                  </a:moveTo>
                  <a:lnTo>
                    <a:pt x="3006" y="5"/>
                  </a:lnTo>
                  <a:lnTo>
                    <a:pt x="3006" y="0"/>
                  </a:lnTo>
                  <a:lnTo>
                    <a:pt x="3093" y="0"/>
                  </a:lnTo>
                  <a:lnTo>
                    <a:pt x="3093" y="5"/>
                  </a:lnTo>
                  <a:close/>
                  <a:moveTo>
                    <a:pt x="2962" y="5"/>
                  </a:moveTo>
                  <a:lnTo>
                    <a:pt x="2874" y="5"/>
                  </a:lnTo>
                  <a:lnTo>
                    <a:pt x="2874" y="0"/>
                  </a:lnTo>
                  <a:lnTo>
                    <a:pt x="2962" y="0"/>
                  </a:lnTo>
                  <a:lnTo>
                    <a:pt x="2962" y="5"/>
                  </a:lnTo>
                  <a:close/>
                  <a:moveTo>
                    <a:pt x="2830" y="5"/>
                  </a:moveTo>
                  <a:lnTo>
                    <a:pt x="2743" y="5"/>
                  </a:lnTo>
                  <a:lnTo>
                    <a:pt x="2743" y="0"/>
                  </a:lnTo>
                  <a:lnTo>
                    <a:pt x="2830" y="0"/>
                  </a:lnTo>
                  <a:lnTo>
                    <a:pt x="2830" y="5"/>
                  </a:lnTo>
                  <a:close/>
                  <a:moveTo>
                    <a:pt x="2699" y="5"/>
                  </a:moveTo>
                  <a:lnTo>
                    <a:pt x="2611" y="5"/>
                  </a:lnTo>
                  <a:lnTo>
                    <a:pt x="2611" y="0"/>
                  </a:lnTo>
                  <a:lnTo>
                    <a:pt x="2699" y="0"/>
                  </a:lnTo>
                  <a:lnTo>
                    <a:pt x="2699" y="5"/>
                  </a:lnTo>
                  <a:close/>
                  <a:moveTo>
                    <a:pt x="2567" y="5"/>
                  </a:moveTo>
                  <a:lnTo>
                    <a:pt x="2479" y="5"/>
                  </a:lnTo>
                  <a:lnTo>
                    <a:pt x="2479" y="0"/>
                  </a:lnTo>
                  <a:lnTo>
                    <a:pt x="2567" y="0"/>
                  </a:lnTo>
                  <a:lnTo>
                    <a:pt x="2567" y="5"/>
                  </a:lnTo>
                  <a:close/>
                  <a:moveTo>
                    <a:pt x="2436" y="5"/>
                  </a:moveTo>
                  <a:lnTo>
                    <a:pt x="2348" y="5"/>
                  </a:lnTo>
                  <a:lnTo>
                    <a:pt x="2348" y="0"/>
                  </a:lnTo>
                  <a:lnTo>
                    <a:pt x="2436" y="0"/>
                  </a:lnTo>
                  <a:lnTo>
                    <a:pt x="2436" y="5"/>
                  </a:lnTo>
                  <a:close/>
                  <a:moveTo>
                    <a:pt x="2304" y="5"/>
                  </a:moveTo>
                  <a:lnTo>
                    <a:pt x="2216" y="5"/>
                  </a:lnTo>
                  <a:lnTo>
                    <a:pt x="2216" y="0"/>
                  </a:lnTo>
                  <a:lnTo>
                    <a:pt x="2304" y="0"/>
                  </a:lnTo>
                  <a:lnTo>
                    <a:pt x="2304" y="5"/>
                  </a:lnTo>
                  <a:close/>
                  <a:moveTo>
                    <a:pt x="2173" y="5"/>
                  </a:moveTo>
                  <a:lnTo>
                    <a:pt x="2085" y="5"/>
                  </a:lnTo>
                  <a:lnTo>
                    <a:pt x="2085" y="0"/>
                  </a:lnTo>
                  <a:lnTo>
                    <a:pt x="2173" y="0"/>
                  </a:lnTo>
                  <a:lnTo>
                    <a:pt x="2173" y="5"/>
                  </a:lnTo>
                  <a:close/>
                  <a:moveTo>
                    <a:pt x="2041" y="5"/>
                  </a:moveTo>
                  <a:lnTo>
                    <a:pt x="1953" y="5"/>
                  </a:lnTo>
                  <a:lnTo>
                    <a:pt x="1953" y="0"/>
                  </a:lnTo>
                  <a:lnTo>
                    <a:pt x="2041" y="0"/>
                  </a:lnTo>
                  <a:lnTo>
                    <a:pt x="2041" y="5"/>
                  </a:lnTo>
                  <a:close/>
                  <a:moveTo>
                    <a:pt x="1909" y="5"/>
                  </a:moveTo>
                  <a:lnTo>
                    <a:pt x="1822" y="5"/>
                  </a:lnTo>
                  <a:lnTo>
                    <a:pt x="1822" y="0"/>
                  </a:lnTo>
                  <a:lnTo>
                    <a:pt x="1909" y="0"/>
                  </a:lnTo>
                  <a:lnTo>
                    <a:pt x="1909" y="5"/>
                  </a:lnTo>
                  <a:close/>
                  <a:moveTo>
                    <a:pt x="1778" y="5"/>
                  </a:moveTo>
                  <a:lnTo>
                    <a:pt x="1690" y="5"/>
                  </a:lnTo>
                  <a:lnTo>
                    <a:pt x="1690" y="0"/>
                  </a:lnTo>
                  <a:lnTo>
                    <a:pt x="1778" y="0"/>
                  </a:lnTo>
                  <a:lnTo>
                    <a:pt x="1778" y="5"/>
                  </a:lnTo>
                  <a:close/>
                  <a:moveTo>
                    <a:pt x="1646" y="5"/>
                  </a:moveTo>
                  <a:lnTo>
                    <a:pt x="1559" y="5"/>
                  </a:lnTo>
                  <a:lnTo>
                    <a:pt x="1559" y="0"/>
                  </a:lnTo>
                  <a:lnTo>
                    <a:pt x="1646" y="0"/>
                  </a:lnTo>
                  <a:lnTo>
                    <a:pt x="1646" y="5"/>
                  </a:lnTo>
                  <a:close/>
                  <a:moveTo>
                    <a:pt x="1515" y="5"/>
                  </a:moveTo>
                  <a:lnTo>
                    <a:pt x="1427" y="5"/>
                  </a:lnTo>
                  <a:lnTo>
                    <a:pt x="1427" y="0"/>
                  </a:lnTo>
                  <a:lnTo>
                    <a:pt x="1515" y="0"/>
                  </a:lnTo>
                  <a:lnTo>
                    <a:pt x="1515" y="5"/>
                  </a:lnTo>
                  <a:close/>
                  <a:moveTo>
                    <a:pt x="1383" y="5"/>
                  </a:moveTo>
                  <a:lnTo>
                    <a:pt x="1296" y="5"/>
                  </a:lnTo>
                  <a:lnTo>
                    <a:pt x="1296" y="0"/>
                  </a:lnTo>
                  <a:lnTo>
                    <a:pt x="1383" y="0"/>
                  </a:lnTo>
                  <a:lnTo>
                    <a:pt x="1383" y="5"/>
                  </a:lnTo>
                  <a:close/>
                  <a:moveTo>
                    <a:pt x="1252" y="5"/>
                  </a:moveTo>
                  <a:lnTo>
                    <a:pt x="1164" y="5"/>
                  </a:lnTo>
                  <a:lnTo>
                    <a:pt x="1164" y="0"/>
                  </a:lnTo>
                  <a:lnTo>
                    <a:pt x="1252" y="0"/>
                  </a:lnTo>
                  <a:lnTo>
                    <a:pt x="1252" y="5"/>
                  </a:lnTo>
                  <a:close/>
                  <a:moveTo>
                    <a:pt x="1120" y="5"/>
                  </a:moveTo>
                  <a:lnTo>
                    <a:pt x="1033" y="5"/>
                  </a:lnTo>
                  <a:lnTo>
                    <a:pt x="1033" y="0"/>
                  </a:lnTo>
                  <a:lnTo>
                    <a:pt x="1120" y="0"/>
                  </a:lnTo>
                  <a:lnTo>
                    <a:pt x="1120" y="5"/>
                  </a:lnTo>
                  <a:close/>
                  <a:moveTo>
                    <a:pt x="989" y="5"/>
                  </a:moveTo>
                  <a:lnTo>
                    <a:pt x="901" y="5"/>
                  </a:lnTo>
                  <a:lnTo>
                    <a:pt x="901" y="0"/>
                  </a:lnTo>
                  <a:lnTo>
                    <a:pt x="989" y="0"/>
                  </a:lnTo>
                  <a:lnTo>
                    <a:pt x="989" y="5"/>
                  </a:lnTo>
                  <a:close/>
                  <a:moveTo>
                    <a:pt x="857" y="5"/>
                  </a:moveTo>
                  <a:lnTo>
                    <a:pt x="769" y="5"/>
                  </a:lnTo>
                  <a:lnTo>
                    <a:pt x="769" y="0"/>
                  </a:lnTo>
                  <a:lnTo>
                    <a:pt x="857" y="0"/>
                  </a:lnTo>
                  <a:lnTo>
                    <a:pt x="857" y="5"/>
                  </a:lnTo>
                  <a:close/>
                  <a:moveTo>
                    <a:pt x="726" y="5"/>
                  </a:moveTo>
                  <a:lnTo>
                    <a:pt x="638" y="5"/>
                  </a:lnTo>
                  <a:lnTo>
                    <a:pt x="638" y="0"/>
                  </a:lnTo>
                  <a:lnTo>
                    <a:pt x="726" y="0"/>
                  </a:lnTo>
                  <a:lnTo>
                    <a:pt x="726" y="5"/>
                  </a:lnTo>
                  <a:close/>
                  <a:moveTo>
                    <a:pt x="594" y="5"/>
                  </a:moveTo>
                  <a:lnTo>
                    <a:pt x="507" y="5"/>
                  </a:lnTo>
                  <a:lnTo>
                    <a:pt x="507" y="0"/>
                  </a:lnTo>
                  <a:lnTo>
                    <a:pt x="594" y="0"/>
                  </a:lnTo>
                  <a:lnTo>
                    <a:pt x="594" y="5"/>
                  </a:lnTo>
                  <a:close/>
                  <a:moveTo>
                    <a:pt x="463" y="5"/>
                  </a:moveTo>
                  <a:lnTo>
                    <a:pt x="375" y="5"/>
                  </a:lnTo>
                  <a:lnTo>
                    <a:pt x="375" y="0"/>
                  </a:lnTo>
                  <a:lnTo>
                    <a:pt x="463" y="0"/>
                  </a:lnTo>
                  <a:lnTo>
                    <a:pt x="463" y="5"/>
                  </a:lnTo>
                  <a:close/>
                  <a:moveTo>
                    <a:pt x="331" y="5"/>
                  </a:moveTo>
                  <a:lnTo>
                    <a:pt x="243" y="5"/>
                  </a:lnTo>
                  <a:lnTo>
                    <a:pt x="243" y="0"/>
                  </a:lnTo>
                  <a:lnTo>
                    <a:pt x="331" y="0"/>
                  </a:lnTo>
                  <a:lnTo>
                    <a:pt x="331" y="5"/>
                  </a:lnTo>
                  <a:close/>
                  <a:moveTo>
                    <a:pt x="199" y="5"/>
                  </a:moveTo>
                  <a:lnTo>
                    <a:pt x="112" y="5"/>
                  </a:lnTo>
                  <a:lnTo>
                    <a:pt x="112" y="0"/>
                  </a:lnTo>
                  <a:lnTo>
                    <a:pt x="199" y="0"/>
                  </a:lnTo>
                  <a:lnTo>
                    <a:pt x="199" y="5"/>
                  </a:lnTo>
                  <a:close/>
                  <a:moveTo>
                    <a:pt x="68" y="5"/>
                  </a:moveTo>
                  <a:lnTo>
                    <a:pt x="3" y="5"/>
                  </a:lnTo>
                  <a:lnTo>
                    <a:pt x="3" y="0"/>
                  </a:lnTo>
                  <a:lnTo>
                    <a:pt x="68" y="0"/>
                  </a:lnTo>
                  <a:lnTo>
                    <a:pt x="68" y="5"/>
                  </a:lnTo>
                  <a:close/>
                </a:path>
              </a:pathLst>
            </a:custGeom>
            <a:solidFill>
              <a:srgbClr val="70AD47"/>
            </a:solidFill>
            <a:ln w="0" cap="flat">
              <a:solidFill>
                <a:srgbClr val="70AD4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5A99E072-4E54-4C6C-BF37-30C45B4B9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4697" y="668782"/>
              <a:ext cx="947738" cy="276225"/>
            </a:xfrm>
            <a:custGeom>
              <a:avLst/>
              <a:gdLst>
                <a:gd name="T0" fmla="*/ 0 w 597"/>
                <a:gd name="T1" fmla="*/ 172 h 174"/>
                <a:gd name="T2" fmla="*/ 96 w 597"/>
                <a:gd name="T3" fmla="*/ 2 h 174"/>
                <a:gd name="T4" fmla="*/ 597 w 597"/>
                <a:gd name="T5" fmla="*/ 0 h 174"/>
                <a:gd name="T6" fmla="*/ 597 w 597"/>
                <a:gd name="T7" fmla="*/ 174 h 174"/>
                <a:gd name="T8" fmla="*/ 0 w 597"/>
                <a:gd name="T9" fmla="*/ 17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7" h="174">
                  <a:moveTo>
                    <a:pt x="0" y="172"/>
                  </a:moveTo>
                  <a:lnTo>
                    <a:pt x="96" y="2"/>
                  </a:lnTo>
                  <a:lnTo>
                    <a:pt x="597" y="0"/>
                  </a:lnTo>
                  <a:lnTo>
                    <a:pt x="597" y="174"/>
                  </a:lnTo>
                  <a:lnTo>
                    <a:pt x="0" y="172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60582A3F-E154-4301-BDDC-102194E49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285" y="675983"/>
              <a:ext cx="947738" cy="276225"/>
            </a:xfrm>
            <a:custGeom>
              <a:avLst/>
              <a:gdLst>
                <a:gd name="T0" fmla="*/ 0 w 597"/>
                <a:gd name="T1" fmla="*/ 172 h 174"/>
                <a:gd name="T2" fmla="*/ 96 w 597"/>
                <a:gd name="T3" fmla="*/ 2 h 174"/>
                <a:gd name="T4" fmla="*/ 597 w 597"/>
                <a:gd name="T5" fmla="*/ 0 h 174"/>
                <a:gd name="T6" fmla="*/ 597 w 597"/>
                <a:gd name="T7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7" h="174">
                  <a:moveTo>
                    <a:pt x="0" y="172"/>
                  </a:moveTo>
                  <a:lnTo>
                    <a:pt x="96" y="2"/>
                  </a:lnTo>
                  <a:lnTo>
                    <a:pt x="597" y="0"/>
                  </a:lnTo>
                  <a:lnTo>
                    <a:pt x="597" y="174"/>
                  </a:ln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14">
              <a:extLst>
                <a:ext uri="{FF2B5EF4-FFF2-40B4-BE49-F238E27FC236}">
                  <a16:creationId xmlns:a16="http://schemas.microsoft.com/office/drawing/2014/main" id="{9BE5BFB6-4A33-4026-8424-AD75BA39A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703" y="2736129"/>
              <a:ext cx="1266069" cy="1333664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Rectangle 29">
              <a:extLst>
                <a:ext uri="{FF2B5EF4-FFF2-40B4-BE49-F238E27FC236}">
                  <a16:creationId xmlns:a16="http://schemas.microsoft.com/office/drawing/2014/main" id="{8E0ABE61-E800-43BD-88B1-5316FEED7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4016" y="3286331"/>
              <a:ext cx="713013" cy="234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600" dirty="0">
                  <a:solidFill>
                    <a:srgbClr val="000000"/>
                  </a:solidFill>
                  <a:latin typeface="Corbel" panose="020B0503020204020204" pitchFamily="34" charset="0"/>
                </a:rPr>
                <a:t>LP6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-DFI</a:t>
              </a: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30">
              <a:extLst>
                <a:ext uri="{FF2B5EF4-FFF2-40B4-BE49-F238E27FC236}">
                  <a16:creationId xmlns:a16="http://schemas.microsoft.com/office/drawing/2014/main" id="{53435493-120A-4584-BF42-7A73CCC9D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14" y="741687"/>
              <a:ext cx="63959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RTL_top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Freeform 31">
              <a:extLst>
                <a:ext uri="{FF2B5EF4-FFF2-40B4-BE49-F238E27FC236}">
                  <a16:creationId xmlns:a16="http://schemas.microsoft.com/office/drawing/2014/main" id="{4E8F1390-BE8A-4BB3-8CF6-BE14F28C19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925" y="2182951"/>
              <a:ext cx="4795838" cy="3049588"/>
            </a:xfrm>
            <a:custGeom>
              <a:avLst/>
              <a:gdLst>
                <a:gd name="T0" fmla="*/ 5 w 3021"/>
                <a:gd name="T1" fmla="*/ 222 h 1921"/>
                <a:gd name="T2" fmla="*/ 0 w 3021"/>
                <a:gd name="T3" fmla="*/ 266 h 1921"/>
                <a:gd name="T4" fmla="*/ 5 w 3021"/>
                <a:gd name="T5" fmla="*/ 529 h 1921"/>
                <a:gd name="T6" fmla="*/ 0 w 3021"/>
                <a:gd name="T7" fmla="*/ 749 h 1921"/>
                <a:gd name="T8" fmla="*/ 5 w 3021"/>
                <a:gd name="T9" fmla="*/ 793 h 1921"/>
                <a:gd name="T10" fmla="*/ 5 w 3021"/>
                <a:gd name="T11" fmla="*/ 1143 h 1921"/>
                <a:gd name="T12" fmla="*/ 0 w 3021"/>
                <a:gd name="T13" fmla="*/ 1187 h 1921"/>
                <a:gd name="T14" fmla="*/ 5 w 3021"/>
                <a:gd name="T15" fmla="*/ 1450 h 1921"/>
                <a:gd name="T16" fmla="*/ 0 w 3021"/>
                <a:gd name="T17" fmla="*/ 1670 h 1921"/>
                <a:gd name="T18" fmla="*/ 5 w 3021"/>
                <a:gd name="T19" fmla="*/ 1714 h 1921"/>
                <a:gd name="T20" fmla="*/ 0 w 3021"/>
                <a:gd name="T21" fmla="*/ 1845 h 1921"/>
                <a:gd name="T22" fmla="*/ 193 w 3021"/>
                <a:gd name="T23" fmla="*/ 1915 h 1921"/>
                <a:gd name="T24" fmla="*/ 412 w 3021"/>
                <a:gd name="T25" fmla="*/ 1921 h 1921"/>
                <a:gd name="T26" fmla="*/ 456 w 3021"/>
                <a:gd name="T27" fmla="*/ 1915 h 1921"/>
                <a:gd name="T28" fmla="*/ 806 w 3021"/>
                <a:gd name="T29" fmla="*/ 1915 h 1921"/>
                <a:gd name="T30" fmla="*/ 850 w 3021"/>
                <a:gd name="T31" fmla="*/ 1921 h 1921"/>
                <a:gd name="T32" fmla="*/ 1114 w 3021"/>
                <a:gd name="T33" fmla="*/ 1915 h 1921"/>
                <a:gd name="T34" fmla="*/ 1333 w 3021"/>
                <a:gd name="T35" fmla="*/ 1921 h 1921"/>
                <a:gd name="T36" fmla="*/ 1377 w 3021"/>
                <a:gd name="T37" fmla="*/ 1915 h 1921"/>
                <a:gd name="T38" fmla="*/ 1727 w 3021"/>
                <a:gd name="T39" fmla="*/ 1915 h 1921"/>
                <a:gd name="T40" fmla="*/ 1771 w 3021"/>
                <a:gd name="T41" fmla="*/ 1921 h 1921"/>
                <a:gd name="T42" fmla="*/ 2034 w 3021"/>
                <a:gd name="T43" fmla="*/ 1915 h 1921"/>
                <a:gd name="T44" fmla="*/ 2253 w 3021"/>
                <a:gd name="T45" fmla="*/ 1921 h 1921"/>
                <a:gd name="T46" fmla="*/ 2297 w 3021"/>
                <a:gd name="T47" fmla="*/ 1915 h 1921"/>
                <a:gd name="T48" fmla="*/ 2648 w 3021"/>
                <a:gd name="T49" fmla="*/ 1915 h 1921"/>
                <a:gd name="T50" fmla="*/ 2692 w 3021"/>
                <a:gd name="T51" fmla="*/ 1921 h 1921"/>
                <a:gd name="T52" fmla="*/ 2955 w 3021"/>
                <a:gd name="T53" fmla="*/ 1915 h 1921"/>
                <a:gd name="T54" fmla="*/ 2955 w 3021"/>
                <a:gd name="T55" fmla="*/ 1915 h 1921"/>
                <a:gd name="T56" fmla="*/ 3016 w 3021"/>
                <a:gd name="T57" fmla="*/ 1630 h 1921"/>
                <a:gd name="T58" fmla="*/ 3021 w 3021"/>
                <a:gd name="T59" fmla="*/ 1586 h 1921"/>
                <a:gd name="T60" fmla="*/ 3016 w 3021"/>
                <a:gd name="T61" fmla="*/ 1324 h 1921"/>
                <a:gd name="T62" fmla="*/ 3021 w 3021"/>
                <a:gd name="T63" fmla="*/ 1104 h 1921"/>
                <a:gd name="T64" fmla="*/ 3016 w 3021"/>
                <a:gd name="T65" fmla="*/ 1060 h 1921"/>
                <a:gd name="T66" fmla="*/ 3016 w 3021"/>
                <a:gd name="T67" fmla="*/ 709 h 1921"/>
                <a:gd name="T68" fmla="*/ 3021 w 3021"/>
                <a:gd name="T69" fmla="*/ 665 h 1921"/>
                <a:gd name="T70" fmla="*/ 3016 w 3021"/>
                <a:gd name="T71" fmla="*/ 402 h 1921"/>
                <a:gd name="T72" fmla="*/ 3021 w 3021"/>
                <a:gd name="T73" fmla="*/ 183 h 1921"/>
                <a:gd name="T74" fmla="*/ 3016 w 3021"/>
                <a:gd name="T75" fmla="*/ 139 h 1921"/>
                <a:gd name="T76" fmla="*/ 3021 w 3021"/>
                <a:gd name="T77" fmla="*/ 7 h 1921"/>
                <a:gd name="T78" fmla="*/ 2760 w 3021"/>
                <a:gd name="T79" fmla="*/ 6 h 1921"/>
                <a:gd name="T80" fmla="*/ 2541 w 3021"/>
                <a:gd name="T81" fmla="*/ 0 h 1921"/>
                <a:gd name="T82" fmla="*/ 2497 w 3021"/>
                <a:gd name="T83" fmla="*/ 6 h 1921"/>
                <a:gd name="T84" fmla="*/ 2146 w 3021"/>
                <a:gd name="T85" fmla="*/ 6 h 1921"/>
                <a:gd name="T86" fmla="*/ 2102 w 3021"/>
                <a:gd name="T87" fmla="*/ 0 h 1921"/>
                <a:gd name="T88" fmla="*/ 1839 w 3021"/>
                <a:gd name="T89" fmla="*/ 6 h 1921"/>
                <a:gd name="T90" fmla="*/ 1620 w 3021"/>
                <a:gd name="T91" fmla="*/ 0 h 1921"/>
                <a:gd name="T92" fmla="*/ 1576 w 3021"/>
                <a:gd name="T93" fmla="*/ 6 h 1921"/>
                <a:gd name="T94" fmla="*/ 1225 w 3021"/>
                <a:gd name="T95" fmla="*/ 6 h 1921"/>
                <a:gd name="T96" fmla="*/ 1182 w 3021"/>
                <a:gd name="T97" fmla="*/ 0 h 1921"/>
                <a:gd name="T98" fmla="*/ 918 w 3021"/>
                <a:gd name="T99" fmla="*/ 6 h 1921"/>
                <a:gd name="T100" fmla="*/ 699 w 3021"/>
                <a:gd name="T101" fmla="*/ 0 h 1921"/>
                <a:gd name="T102" fmla="*/ 655 w 3021"/>
                <a:gd name="T103" fmla="*/ 6 h 1921"/>
                <a:gd name="T104" fmla="*/ 305 w 3021"/>
                <a:gd name="T105" fmla="*/ 6 h 1921"/>
                <a:gd name="T106" fmla="*/ 261 w 3021"/>
                <a:gd name="T107" fmla="*/ 0 h 1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021" h="1921">
                  <a:moveTo>
                    <a:pt x="5" y="3"/>
                  </a:moveTo>
                  <a:lnTo>
                    <a:pt x="5" y="90"/>
                  </a:lnTo>
                  <a:lnTo>
                    <a:pt x="0" y="90"/>
                  </a:lnTo>
                  <a:lnTo>
                    <a:pt x="0" y="3"/>
                  </a:lnTo>
                  <a:lnTo>
                    <a:pt x="5" y="3"/>
                  </a:lnTo>
                  <a:close/>
                  <a:moveTo>
                    <a:pt x="5" y="134"/>
                  </a:moveTo>
                  <a:lnTo>
                    <a:pt x="5" y="222"/>
                  </a:lnTo>
                  <a:lnTo>
                    <a:pt x="0" y="222"/>
                  </a:lnTo>
                  <a:lnTo>
                    <a:pt x="0" y="134"/>
                  </a:lnTo>
                  <a:lnTo>
                    <a:pt x="5" y="134"/>
                  </a:lnTo>
                  <a:close/>
                  <a:moveTo>
                    <a:pt x="5" y="266"/>
                  </a:moveTo>
                  <a:lnTo>
                    <a:pt x="5" y="354"/>
                  </a:lnTo>
                  <a:lnTo>
                    <a:pt x="0" y="354"/>
                  </a:lnTo>
                  <a:lnTo>
                    <a:pt x="0" y="266"/>
                  </a:lnTo>
                  <a:lnTo>
                    <a:pt x="5" y="266"/>
                  </a:lnTo>
                  <a:close/>
                  <a:moveTo>
                    <a:pt x="5" y="398"/>
                  </a:moveTo>
                  <a:lnTo>
                    <a:pt x="5" y="485"/>
                  </a:lnTo>
                  <a:lnTo>
                    <a:pt x="0" y="485"/>
                  </a:lnTo>
                  <a:lnTo>
                    <a:pt x="0" y="398"/>
                  </a:lnTo>
                  <a:lnTo>
                    <a:pt x="5" y="398"/>
                  </a:lnTo>
                  <a:close/>
                  <a:moveTo>
                    <a:pt x="5" y="529"/>
                  </a:moveTo>
                  <a:lnTo>
                    <a:pt x="5" y="617"/>
                  </a:lnTo>
                  <a:lnTo>
                    <a:pt x="0" y="617"/>
                  </a:lnTo>
                  <a:lnTo>
                    <a:pt x="0" y="529"/>
                  </a:lnTo>
                  <a:lnTo>
                    <a:pt x="5" y="529"/>
                  </a:lnTo>
                  <a:close/>
                  <a:moveTo>
                    <a:pt x="5" y="661"/>
                  </a:moveTo>
                  <a:lnTo>
                    <a:pt x="5" y="749"/>
                  </a:lnTo>
                  <a:lnTo>
                    <a:pt x="0" y="749"/>
                  </a:lnTo>
                  <a:lnTo>
                    <a:pt x="0" y="661"/>
                  </a:lnTo>
                  <a:lnTo>
                    <a:pt x="5" y="661"/>
                  </a:lnTo>
                  <a:close/>
                  <a:moveTo>
                    <a:pt x="5" y="793"/>
                  </a:moveTo>
                  <a:lnTo>
                    <a:pt x="5" y="880"/>
                  </a:lnTo>
                  <a:lnTo>
                    <a:pt x="0" y="880"/>
                  </a:lnTo>
                  <a:lnTo>
                    <a:pt x="0" y="793"/>
                  </a:lnTo>
                  <a:lnTo>
                    <a:pt x="5" y="793"/>
                  </a:lnTo>
                  <a:close/>
                  <a:moveTo>
                    <a:pt x="5" y="924"/>
                  </a:moveTo>
                  <a:lnTo>
                    <a:pt x="5" y="1012"/>
                  </a:lnTo>
                  <a:lnTo>
                    <a:pt x="0" y="1012"/>
                  </a:lnTo>
                  <a:lnTo>
                    <a:pt x="0" y="924"/>
                  </a:lnTo>
                  <a:lnTo>
                    <a:pt x="5" y="924"/>
                  </a:lnTo>
                  <a:close/>
                  <a:moveTo>
                    <a:pt x="5" y="1055"/>
                  </a:moveTo>
                  <a:lnTo>
                    <a:pt x="5" y="1143"/>
                  </a:lnTo>
                  <a:lnTo>
                    <a:pt x="0" y="1143"/>
                  </a:lnTo>
                  <a:lnTo>
                    <a:pt x="0" y="1055"/>
                  </a:lnTo>
                  <a:lnTo>
                    <a:pt x="5" y="1055"/>
                  </a:lnTo>
                  <a:close/>
                  <a:moveTo>
                    <a:pt x="5" y="1187"/>
                  </a:moveTo>
                  <a:lnTo>
                    <a:pt x="5" y="1275"/>
                  </a:lnTo>
                  <a:lnTo>
                    <a:pt x="0" y="1275"/>
                  </a:lnTo>
                  <a:lnTo>
                    <a:pt x="0" y="1187"/>
                  </a:lnTo>
                  <a:lnTo>
                    <a:pt x="5" y="1187"/>
                  </a:lnTo>
                  <a:close/>
                  <a:moveTo>
                    <a:pt x="5" y="1319"/>
                  </a:moveTo>
                  <a:lnTo>
                    <a:pt x="5" y="1407"/>
                  </a:lnTo>
                  <a:lnTo>
                    <a:pt x="0" y="1407"/>
                  </a:lnTo>
                  <a:lnTo>
                    <a:pt x="0" y="1319"/>
                  </a:lnTo>
                  <a:lnTo>
                    <a:pt x="5" y="1319"/>
                  </a:lnTo>
                  <a:close/>
                  <a:moveTo>
                    <a:pt x="5" y="1450"/>
                  </a:moveTo>
                  <a:lnTo>
                    <a:pt x="5" y="1538"/>
                  </a:lnTo>
                  <a:lnTo>
                    <a:pt x="0" y="1538"/>
                  </a:lnTo>
                  <a:lnTo>
                    <a:pt x="0" y="1450"/>
                  </a:lnTo>
                  <a:lnTo>
                    <a:pt x="5" y="1450"/>
                  </a:lnTo>
                  <a:close/>
                  <a:moveTo>
                    <a:pt x="5" y="1582"/>
                  </a:moveTo>
                  <a:lnTo>
                    <a:pt x="5" y="1670"/>
                  </a:lnTo>
                  <a:lnTo>
                    <a:pt x="0" y="1670"/>
                  </a:lnTo>
                  <a:lnTo>
                    <a:pt x="0" y="1582"/>
                  </a:lnTo>
                  <a:lnTo>
                    <a:pt x="5" y="1582"/>
                  </a:lnTo>
                  <a:close/>
                  <a:moveTo>
                    <a:pt x="5" y="1714"/>
                  </a:moveTo>
                  <a:lnTo>
                    <a:pt x="5" y="1801"/>
                  </a:lnTo>
                  <a:lnTo>
                    <a:pt x="0" y="1801"/>
                  </a:lnTo>
                  <a:lnTo>
                    <a:pt x="0" y="1714"/>
                  </a:lnTo>
                  <a:lnTo>
                    <a:pt x="5" y="1714"/>
                  </a:lnTo>
                  <a:close/>
                  <a:moveTo>
                    <a:pt x="5" y="1845"/>
                  </a:moveTo>
                  <a:lnTo>
                    <a:pt x="5" y="1918"/>
                  </a:lnTo>
                  <a:lnTo>
                    <a:pt x="2" y="1915"/>
                  </a:lnTo>
                  <a:lnTo>
                    <a:pt x="17" y="1915"/>
                  </a:lnTo>
                  <a:lnTo>
                    <a:pt x="17" y="1921"/>
                  </a:lnTo>
                  <a:lnTo>
                    <a:pt x="0" y="1921"/>
                  </a:lnTo>
                  <a:lnTo>
                    <a:pt x="0" y="1845"/>
                  </a:lnTo>
                  <a:lnTo>
                    <a:pt x="5" y="1845"/>
                  </a:lnTo>
                  <a:close/>
                  <a:moveTo>
                    <a:pt x="61" y="1915"/>
                  </a:moveTo>
                  <a:lnTo>
                    <a:pt x="149" y="1915"/>
                  </a:lnTo>
                  <a:lnTo>
                    <a:pt x="149" y="1921"/>
                  </a:lnTo>
                  <a:lnTo>
                    <a:pt x="61" y="1921"/>
                  </a:lnTo>
                  <a:lnTo>
                    <a:pt x="61" y="1915"/>
                  </a:lnTo>
                  <a:close/>
                  <a:moveTo>
                    <a:pt x="193" y="1915"/>
                  </a:moveTo>
                  <a:lnTo>
                    <a:pt x="281" y="1915"/>
                  </a:lnTo>
                  <a:lnTo>
                    <a:pt x="281" y="1921"/>
                  </a:lnTo>
                  <a:lnTo>
                    <a:pt x="193" y="1921"/>
                  </a:lnTo>
                  <a:lnTo>
                    <a:pt x="193" y="1915"/>
                  </a:lnTo>
                  <a:close/>
                  <a:moveTo>
                    <a:pt x="324" y="1915"/>
                  </a:moveTo>
                  <a:lnTo>
                    <a:pt x="412" y="1915"/>
                  </a:lnTo>
                  <a:lnTo>
                    <a:pt x="412" y="1921"/>
                  </a:lnTo>
                  <a:lnTo>
                    <a:pt x="324" y="1921"/>
                  </a:lnTo>
                  <a:lnTo>
                    <a:pt x="324" y="1915"/>
                  </a:lnTo>
                  <a:close/>
                  <a:moveTo>
                    <a:pt x="456" y="1915"/>
                  </a:moveTo>
                  <a:lnTo>
                    <a:pt x="543" y="1915"/>
                  </a:lnTo>
                  <a:lnTo>
                    <a:pt x="543" y="1921"/>
                  </a:lnTo>
                  <a:lnTo>
                    <a:pt x="456" y="1921"/>
                  </a:lnTo>
                  <a:lnTo>
                    <a:pt x="456" y="1915"/>
                  </a:lnTo>
                  <a:close/>
                  <a:moveTo>
                    <a:pt x="587" y="1915"/>
                  </a:moveTo>
                  <a:lnTo>
                    <a:pt x="675" y="1915"/>
                  </a:lnTo>
                  <a:lnTo>
                    <a:pt x="675" y="1921"/>
                  </a:lnTo>
                  <a:lnTo>
                    <a:pt x="587" y="1921"/>
                  </a:lnTo>
                  <a:lnTo>
                    <a:pt x="587" y="1915"/>
                  </a:lnTo>
                  <a:close/>
                  <a:moveTo>
                    <a:pt x="719" y="1915"/>
                  </a:moveTo>
                  <a:lnTo>
                    <a:pt x="806" y="1915"/>
                  </a:lnTo>
                  <a:lnTo>
                    <a:pt x="806" y="1921"/>
                  </a:lnTo>
                  <a:lnTo>
                    <a:pt x="719" y="1921"/>
                  </a:lnTo>
                  <a:lnTo>
                    <a:pt x="719" y="1915"/>
                  </a:lnTo>
                  <a:close/>
                  <a:moveTo>
                    <a:pt x="850" y="1915"/>
                  </a:moveTo>
                  <a:lnTo>
                    <a:pt x="938" y="1915"/>
                  </a:lnTo>
                  <a:lnTo>
                    <a:pt x="938" y="1921"/>
                  </a:lnTo>
                  <a:lnTo>
                    <a:pt x="850" y="1921"/>
                  </a:lnTo>
                  <a:lnTo>
                    <a:pt x="850" y="1915"/>
                  </a:lnTo>
                  <a:close/>
                  <a:moveTo>
                    <a:pt x="982" y="1915"/>
                  </a:moveTo>
                  <a:lnTo>
                    <a:pt x="1070" y="1915"/>
                  </a:lnTo>
                  <a:lnTo>
                    <a:pt x="1070" y="1921"/>
                  </a:lnTo>
                  <a:lnTo>
                    <a:pt x="982" y="1921"/>
                  </a:lnTo>
                  <a:lnTo>
                    <a:pt x="982" y="1915"/>
                  </a:lnTo>
                  <a:close/>
                  <a:moveTo>
                    <a:pt x="1114" y="1915"/>
                  </a:moveTo>
                  <a:lnTo>
                    <a:pt x="1201" y="1915"/>
                  </a:lnTo>
                  <a:lnTo>
                    <a:pt x="1201" y="1921"/>
                  </a:lnTo>
                  <a:lnTo>
                    <a:pt x="1114" y="1921"/>
                  </a:lnTo>
                  <a:lnTo>
                    <a:pt x="1114" y="1915"/>
                  </a:lnTo>
                  <a:close/>
                  <a:moveTo>
                    <a:pt x="1245" y="1915"/>
                  </a:moveTo>
                  <a:lnTo>
                    <a:pt x="1333" y="1915"/>
                  </a:lnTo>
                  <a:lnTo>
                    <a:pt x="1333" y="1921"/>
                  </a:lnTo>
                  <a:lnTo>
                    <a:pt x="1245" y="1921"/>
                  </a:lnTo>
                  <a:lnTo>
                    <a:pt x="1245" y="1915"/>
                  </a:lnTo>
                  <a:close/>
                  <a:moveTo>
                    <a:pt x="1377" y="1915"/>
                  </a:moveTo>
                  <a:lnTo>
                    <a:pt x="1464" y="1915"/>
                  </a:lnTo>
                  <a:lnTo>
                    <a:pt x="1464" y="1921"/>
                  </a:lnTo>
                  <a:lnTo>
                    <a:pt x="1377" y="1921"/>
                  </a:lnTo>
                  <a:lnTo>
                    <a:pt x="1377" y="1915"/>
                  </a:lnTo>
                  <a:close/>
                  <a:moveTo>
                    <a:pt x="1508" y="1915"/>
                  </a:moveTo>
                  <a:lnTo>
                    <a:pt x="1596" y="1915"/>
                  </a:lnTo>
                  <a:lnTo>
                    <a:pt x="1596" y="1921"/>
                  </a:lnTo>
                  <a:lnTo>
                    <a:pt x="1508" y="1921"/>
                  </a:lnTo>
                  <a:lnTo>
                    <a:pt x="1508" y="1915"/>
                  </a:lnTo>
                  <a:close/>
                  <a:moveTo>
                    <a:pt x="1639" y="1915"/>
                  </a:moveTo>
                  <a:lnTo>
                    <a:pt x="1727" y="1915"/>
                  </a:lnTo>
                  <a:lnTo>
                    <a:pt x="1727" y="1921"/>
                  </a:lnTo>
                  <a:lnTo>
                    <a:pt x="1639" y="1921"/>
                  </a:lnTo>
                  <a:lnTo>
                    <a:pt x="1639" y="1915"/>
                  </a:lnTo>
                  <a:close/>
                  <a:moveTo>
                    <a:pt x="1771" y="1915"/>
                  </a:moveTo>
                  <a:lnTo>
                    <a:pt x="1859" y="1915"/>
                  </a:lnTo>
                  <a:lnTo>
                    <a:pt x="1859" y="1921"/>
                  </a:lnTo>
                  <a:lnTo>
                    <a:pt x="1771" y="1921"/>
                  </a:lnTo>
                  <a:lnTo>
                    <a:pt x="1771" y="1915"/>
                  </a:lnTo>
                  <a:close/>
                  <a:moveTo>
                    <a:pt x="1903" y="1915"/>
                  </a:moveTo>
                  <a:lnTo>
                    <a:pt x="1991" y="1915"/>
                  </a:lnTo>
                  <a:lnTo>
                    <a:pt x="1991" y="1921"/>
                  </a:lnTo>
                  <a:lnTo>
                    <a:pt x="1903" y="1921"/>
                  </a:lnTo>
                  <a:lnTo>
                    <a:pt x="1903" y="1915"/>
                  </a:lnTo>
                  <a:close/>
                  <a:moveTo>
                    <a:pt x="2034" y="1915"/>
                  </a:moveTo>
                  <a:lnTo>
                    <a:pt x="2122" y="1915"/>
                  </a:lnTo>
                  <a:lnTo>
                    <a:pt x="2122" y="1921"/>
                  </a:lnTo>
                  <a:lnTo>
                    <a:pt x="2034" y="1921"/>
                  </a:lnTo>
                  <a:lnTo>
                    <a:pt x="2034" y="1915"/>
                  </a:lnTo>
                  <a:close/>
                  <a:moveTo>
                    <a:pt x="2166" y="1915"/>
                  </a:moveTo>
                  <a:lnTo>
                    <a:pt x="2253" y="1915"/>
                  </a:lnTo>
                  <a:lnTo>
                    <a:pt x="2253" y="1921"/>
                  </a:lnTo>
                  <a:lnTo>
                    <a:pt x="2166" y="1921"/>
                  </a:lnTo>
                  <a:lnTo>
                    <a:pt x="2166" y="1915"/>
                  </a:lnTo>
                  <a:close/>
                  <a:moveTo>
                    <a:pt x="2297" y="1915"/>
                  </a:moveTo>
                  <a:lnTo>
                    <a:pt x="2385" y="1915"/>
                  </a:lnTo>
                  <a:lnTo>
                    <a:pt x="2385" y="1921"/>
                  </a:lnTo>
                  <a:lnTo>
                    <a:pt x="2297" y="1921"/>
                  </a:lnTo>
                  <a:lnTo>
                    <a:pt x="2297" y="1915"/>
                  </a:lnTo>
                  <a:close/>
                  <a:moveTo>
                    <a:pt x="2429" y="1915"/>
                  </a:moveTo>
                  <a:lnTo>
                    <a:pt x="2516" y="1915"/>
                  </a:lnTo>
                  <a:lnTo>
                    <a:pt x="2516" y="1921"/>
                  </a:lnTo>
                  <a:lnTo>
                    <a:pt x="2429" y="1921"/>
                  </a:lnTo>
                  <a:lnTo>
                    <a:pt x="2429" y="1915"/>
                  </a:lnTo>
                  <a:close/>
                  <a:moveTo>
                    <a:pt x="2560" y="1915"/>
                  </a:moveTo>
                  <a:lnTo>
                    <a:pt x="2648" y="1915"/>
                  </a:lnTo>
                  <a:lnTo>
                    <a:pt x="2648" y="1921"/>
                  </a:lnTo>
                  <a:lnTo>
                    <a:pt x="2560" y="1921"/>
                  </a:lnTo>
                  <a:lnTo>
                    <a:pt x="2560" y="1915"/>
                  </a:lnTo>
                  <a:close/>
                  <a:moveTo>
                    <a:pt x="2692" y="1915"/>
                  </a:moveTo>
                  <a:lnTo>
                    <a:pt x="2780" y="1915"/>
                  </a:lnTo>
                  <a:lnTo>
                    <a:pt x="2780" y="1921"/>
                  </a:lnTo>
                  <a:lnTo>
                    <a:pt x="2692" y="1921"/>
                  </a:lnTo>
                  <a:lnTo>
                    <a:pt x="2692" y="1915"/>
                  </a:lnTo>
                  <a:close/>
                  <a:moveTo>
                    <a:pt x="2824" y="1915"/>
                  </a:moveTo>
                  <a:lnTo>
                    <a:pt x="2911" y="1915"/>
                  </a:lnTo>
                  <a:lnTo>
                    <a:pt x="2911" y="1921"/>
                  </a:lnTo>
                  <a:lnTo>
                    <a:pt x="2824" y="1921"/>
                  </a:lnTo>
                  <a:lnTo>
                    <a:pt x="2824" y="1915"/>
                  </a:lnTo>
                  <a:close/>
                  <a:moveTo>
                    <a:pt x="2955" y="1915"/>
                  </a:moveTo>
                  <a:lnTo>
                    <a:pt x="3018" y="1915"/>
                  </a:lnTo>
                  <a:lnTo>
                    <a:pt x="3016" y="1918"/>
                  </a:lnTo>
                  <a:lnTo>
                    <a:pt x="3016" y="1894"/>
                  </a:lnTo>
                  <a:lnTo>
                    <a:pt x="3021" y="1894"/>
                  </a:lnTo>
                  <a:lnTo>
                    <a:pt x="3021" y="1921"/>
                  </a:lnTo>
                  <a:lnTo>
                    <a:pt x="2955" y="1921"/>
                  </a:lnTo>
                  <a:lnTo>
                    <a:pt x="2955" y="1915"/>
                  </a:lnTo>
                  <a:close/>
                  <a:moveTo>
                    <a:pt x="3016" y="1850"/>
                  </a:moveTo>
                  <a:lnTo>
                    <a:pt x="3016" y="1762"/>
                  </a:lnTo>
                  <a:lnTo>
                    <a:pt x="3021" y="1762"/>
                  </a:lnTo>
                  <a:lnTo>
                    <a:pt x="3021" y="1850"/>
                  </a:lnTo>
                  <a:lnTo>
                    <a:pt x="3016" y="1850"/>
                  </a:lnTo>
                  <a:close/>
                  <a:moveTo>
                    <a:pt x="3016" y="1718"/>
                  </a:moveTo>
                  <a:lnTo>
                    <a:pt x="3016" y="1630"/>
                  </a:lnTo>
                  <a:lnTo>
                    <a:pt x="3021" y="1630"/>
                  </a:lnTo>
                  <a:lnTo>
                    <a:pt x="3021" y="1718"/>
                  </a:lnTo>
                  <a:lnTo>
                    <a:pt x="3016" y="1718"/>
                  </a:lnTo>
                  <a:close/>
                  <a:moveTo>
                    <a:pt x="3016" y="1586"/>
                  </a:moveTo>
                  <a:lnTo>
                    <a:pt x="3016" y="1499"/>
                  </a:lnTo>
                  <a:lnTo>
                    <a:pt x="3021" y="1499"/>
                  </a:lnTo>
                  <a:lnTo>
                    <a:pt x="3021" y="1586"/>
                  </a:lnTo>
                  <a:lnTo>
                    <a:pt x="3016" y="1586"/>
                  </a:lnTo>
                  <a:close/>
                  <a:moveTo>
                    <a:pt x="3016" y="1455"/>
                  </a:moveTo>
                  <a:lnTo>
                    <a:pt x="3016" y="1367"/>
                  </a:lnTo>
                  <a:lnTo>
                    <a:pt x="3021" y="1367"/>
                  </a:lnTo>
                  <a:lnTo>
                    <a:pt x="3021" y="1455"/>
                  </a:lnTo>
                  <a:lnTo>
                    <a:pt x="3016" y="1455"/>
                  </a:lnTo>
                  <a:close/>
                  <a:moveTo>
                    <a:pt x="3016" y="1324"/>
                  </a:moveTo>
                  <a:lnTo>
                    <a:pt x="3016" y="1236"/>
                  </a:lnTo>
                  <a:lnTo>
                    <a:pt x="3021" y="1236"/>
                  </a:lnTo>
                  <a:lnTo>
                    <a:pt x="3021" y="1324"/>
                  </a:lnTo>
                  <a:lnTo>
                    <a:pt x="3016" y="1324"/>
                  </a:lnTo>
                  <a:close/>
                  <a:moveTo>
                    <a:pt x="3016" y="1192"/>
                  </a:moveTo>
                  <a:lnTo>
                    <a:pt x="3016" y="1104"/>
                  </a:lnTo>
                  <a:lnTo>
                    <a:pt x="3021" y="1104"/>
                  </a:lnTo>
                  <a:lnTo>
                    <a:pt x="3021" y="1192"/>
                  </a:lnTo>
                  <a:lnTo>
                    <a:pt x="3016" y="1192"/>
                  </a:lnTo>
                  <a:close/>
                  <a:moveTo>
                    <a:pt x="3016" y="1060"/>
                  </a:moveTo>
                  <a:lnTo>
                    <a:pt x="3016" y="972"/>
                  </a:lnTo>
                  <a:lnTo>
                    <a:pt x="3021" y="972"/>
                  </a:lnTo>
                  <a:lnTo>
                    <a:pt x="3021" y="1060"/>
                  </a:lnTo>
                  <a:lnTo>
                    <a:pt x="3016" y="1060"/>
                  </a:lnTo>
                  <a:close/>
                  <a:moveTo>
                    <a:pt x="3016" y="929"/>
                  </a:moveTo>
                  <a:lnTo>
                    <a:pt x="3016" y="841"/>
                  </a:lnTo>
                  <a:lnTo>
                    <a:pt x="3021" y="841"/>
                  </a:lnTo>
                  <a:lnTo>
                    <a:pt x="3021" y="929"/>
                  </a:lnTo>
                  <a:lnTo>
                    <a:pt x="3016" y="929"/>
                  </a:lnTo>
                  <a:close/>
                  <a:moveTo>
                    <a:pt x="3016" y="797"/>
                  </a:moveTo>
                  <a:lnTo>
                    <a:pt x="3016" y="709"/>
                  </a:lnTo>
                  <a:lnTo>
                    <a:pt x="3021" y="709"/>
                  </a:lnTo>
                  <a:lnTo>
                    <a:pt x="3021" y="797"/>
                  </a:lnTo>
                  <a:lnTo>
                    <a:pt x="3016" y="797"/>
                  </a:lnTo>
                  <a:close/>
                  <a:moveTo>
                    <a:pt x="3016" y="665"/>
                  </a:moveTo>
                  <a:lnTo>
                    <a:pt x="3016" y="578"/>
                  </a:lnTo>
                  <a:lnTo>
                    <a:pt x="3021" y="578"/>
                  </a:lnTo>
                  <a:lnTo>
                    <a:pt x="3021" y="665"/>
                  </a:lnTo>
                  <a:lnTo>
                    <a:pt x="3016" y="665"/>
                  </a:lnTo>
                  <a:close/>
                  <a:moveTo>
                    <a:pt x="3016" y="534"/>
                  </a:moveTo>
                  <a:lnTo>
                    <a:pt x="3016" y="446"/>
                  </a:lnTo>
                  <a:lnTo>
                    <a:pt x="3021" y="446"/>
                  </a:lnTo>
                  <a:lnTo>
                    <a:pt x="3021" y="534"/>
                  </a:lnTo>
                  <a:lnTo>
                    <a:pt x="3016" y="534"/>
                  </a:lnTo>
                  <a:close/>
                  <a:moveTo>
                    <a:pt x="3016" y="402"/>
                  </a:moveTo>
                  <a:lnTo>
                    <a:pt x="3016" y="315"/>
                  </a:lnTo>
                  <a:lnTo>
                    <a:pt x="3021" y="315"/>
                  </a:lnTo>
                  <a:lnTo>
                    <a:pt x="3021" y="402"/>
                  </a:lnTo>
                  <a:lnTo>
                    <a:pt x="3016" y="402"/>
                  </a:lnTo>
                  <a:close/>
                  <a:moveTo>
                    <a:pt x="3016" y="271"/>
                  </a:moveTo>
                  <a:lnTo>
                    <a:pt x="3016" y="183"/>
                  </a:lnTo>
                  <a:lnTo>
                    <a:pt x="3021" y="183"/>
                  </a:lnTo>
                  <a:lnTo>
                    <a:pt x="3021" y="271"/>
                  </a:lnTo>
                  <a:lnTo>
                    <a:pt x="3016" y="271"/>
                  </a:lnTo>
                  <a:close/>
                  <a:moveTo>
                    <a:pt x="3016" y="139"/>
                  </a:moveTo>
                  <a:lnTo>
                    <a:pt x="3016" y="51"/>
                  </a:lnTo>
                  <a:lnTo>
                    <a:pt x="3021" y="51"/>
                  </a:lnTo>
                  <a:lnTo>
                    <a:pt x="3021" y="139"/>
                  </a:lnTo>
                  <a:lnTo>
                    <a:pt x="3016" y="139"/>
                  </a:lnTo>
                  <a:close/>
                  <a:moveTo>
                    <a:pt x="3016" y="7"/>
                  </a:moveTo>
                  <a:lnTo>
                    <a:pt x="3016" y="3"/>
                  </a:lnTo>
                  <a:lnTo>
                    <a:pt x="3018" y="6"/>
                  </a:lnTo>
                  <a:lnTo>
                    <a:pt x="2935" y="6"/>
                  </a:lnTo>
                  <a:lnTo>
                    <a:pt x="2935" y="0"/>
                  </a:lnTo>
                  <a:lnTo>
                    <a:pt x="3021" y="0"/>
                  </a:lnTo>
                  <a:lnTo>
                    <a:pt x="3021" y="7"/>
                  </a:lnTo>
                  <a:lnTo>
                    <a:pt x="3016" y="7"/>
                  </a:lnTo>
                  <a:close/>
                  <a:moveTo>
                    <a:pt x="2892" y="6"/>
                  </a:moveTo>
                  <a:lnTo>
                    <a:pt x="2804" y="6"/>
                  </a:lnTo>
                  <a:lnTo>
                    <a:pt x="2804" y="0"/>
                  </a:lnTo>
                  <a:lnTo>
                    <a:pt x="2892" y="0"/>
                  </a:lnTo>
                  <a:lnTo>
                    <a:pt x="2892" y="6"/>
                  </a:lnTo>
                  <a:close/>
                  <a:moveTo>
                    <a:pt x="2760" y="6"/>
                  </a:moveTo>
                  <a:lnTo>
                    <a:pt x="2672" y="6"/>
                  </a:lnTo>
                  <a:lnTo>
                    <a:pt x="2672" y="0"/>
                  </a:lnTo>
                  <a:lnTo>
                    <a:pt x="2760" y="0"/>
                  </a:lnTo>
                  <a:lnTo>
                    <a:pt x="2760" y="6"/>
                  </a:lnTo>
                  <a:close/>
                  <a:moveTo>
                    <a:pt x="2628" y="6"/>
                  </a:moveTo>
                  <a:lnTo>
                    <a:pt x="2541" y="6"/>
                  </a:lnTo>
                  <a:lnTo>
                    <a:pt x="2541" y="0"/>
                  </a:lnTo>
                  <a:lnTo>
                    <a:pt x="2628" y="0"/>
                  </a:lnTo>
                  <a:lnTo>
                    <a:pt x="2628" y="6"/>
                  </a:lnTo>
                  <a:close/>
                  <a:moveTo>
                    <a:pt x="2497" y="6"/>
                  </a:moveTo>
                  <a:lnTo>
                    <a:pt x="2409" y="6"/>
                  </a:lnTo>
                  <a:lnTo>
                    <a:pt x="2409" y="0"/>
                  </a:lnTo>
                  <a:lnTo>
                    <a:pt x="2497" y="0"/>
                  </a:lnTo>
                  <a:lnTo>
                    <a:pt x="2497" y="6"/>
                  </a:lnTo>
                  <a:close/>
                  <a:moveTo>
                    <a:pt x="2365" y="6"/>
                  </a:moveTo>
                  <a:lnTo>
                    <a:pt x="2278" y="6"/>
                  </a:lnTo>
                  <a:lnTo>
                    <a:pt x="2278" y="0"/>
                  </a:lnTo>
                  <a:lnTo>
                    <a:pt x="2365" y="0"/>
                  </a:lnTo>
                  <a:lnTo>
                    <a:pt x="2365" y="6"/>
                  </a:lnTo>
                  <a:close/>
                  <a:moveTo>
                    <a:pt x="2234" y="6"/>
                  </a:moveTo>
                  <a:lnTo>
                    <a:pt x="2146" y="6"/>
                  </a:lnTo>
                  <a:lnTo>
                    <a:pt x="2146" y="0"/>
                  </a:lnTo>
                  <a:lnTo>
                    <a:pt x="2234" y="0"/>
                  </a:lnTo>
                  <a:lnTo>
                    <a:pt x="2234" y="6"/>
                  </a:lnTo>
                  <a:close/>
                  <a:moveTo>
                    <a:pt x="2102" y="6"/>
                  </a:moveTo>
                  <a:lnTo>
                    <a:pt x="2015" y="6"/>
                  </a:lnTo>
                  <a:lnTo>
                    <a:pt x="2015" y="0"/>
                  </a:lnTo>
                  <a:lnTo>
                    <a:pt x="2102" y="0"/>
                  </a:lnTo>
                  <a:lnTo>
                    <a:pt x="2102" y="6"/>
                  </a:lnTo>
                  <a:close/>
                  <a:moveTo>
                    <a:pt x="1971" y="6"/>
                  </a:moveTo>
                  <a:lnTo>
                    <a:pt x="1883" y="6"/>
                  </a:lnTo>
                  <a:lnTo>
                    <a:pt x="1883" y="0"/>
                  </a:lnTo>
                  <a:lnTo>
                    <a:pt x="1971" y="0"/>
                  </a:lnTo>
                  <a:lnTo>
                    <a:pt x="1971" y="6"/>
                  </a:lnTo>
                  <a:close/>
                  <a:moveTo>
                    <a:pt x="1839" y="6"/>
                  </a:moveTo>
                  <a:lnTo>
                    <a:pt x="1751" y="6"/>
                  </a:lnTo>
                  <a:lnTo>
                    <a:pt x="1751" y="0"/>
                  </a:lnTo>
                  <a:lnTo>
                    <a:pt x="1839" y="0"/>
                  </a:lnTo>
                  <a:lnTo>
                    <a:pt x="1839" y="6"/>
                  </a:lnTo>
                  <a:close/>
                  <a:moveTo>
                    <a:pt x="1707" y="6"/>
                  </a:moveTo>
                  <a:lnTo>
                    <a:pt x="1620" y="6"/>
                  </a:lnTo>
                  <a:lnTo>
                    <a:pt x="1620" y="0"/>
                  </a:lnTo>
                  <a:lnTo>
                    <a:pt x="1707" y="0"/>
                  </a:lnTo>
                  <a:lnTo>
                    <a:pt x="1707" y="6"/>
                  </a:lnTo>
                  <a:close/>
                  <a:moveTo>
                    <a:pt x="1576" y="6"/>
                  </a:moveTo>
                  <a:lnTo>
                    <a:pt x="1488" y="6"/>
                  </a:lnTo>
                  <a:lnTo>
                    <a:pt x="1488" y="0"/>
                  </a:lnTo>
                  <a:lnTo>
                    <a:pt x="1576" y="0"/>
                  </a:lnTo>
                  <a:lnTo>
                    <a:pt x="1576" y="6"/>
                  </a:lnTo>
                  <a:close/>
                  <a:moveTo>
                    <a:pt x="1445" y="6"/>
                  </a:moveTo>
                  <a:lnTo>
                    <a:pt x="1357" y="6"/>
                  </a:lnTo>
                  <a:lnTo>
                    <a:pt x="1357" y="0"/>
                  </a:lnTo>
                  <a:lnTo>
                    <a:pt x="1445" y="0"/>
                  </a:lnTo>
                  <a:lnTo>
                    <a:pt x="1445" y="6"/>
                  </a:lnTo>
                  <a:close/>
                  <a:moveTo>
                    <a:pt x="1313" y="6"/>
                  </a:moveTo>
                  <a:lnTo>
                    <a:pt x="1225" y="6"/>
                  </a:lnTo>
                  <a:lnTo>
                    <a:pt x="1225" y="0"/>
                  </a:lnTo>
                  <a:lnTo>
                    <a:pt x="1313" y="0"/>
                  </a:lnTo>
                  <a:lnTo>
                    <a:pt x="1313" y="6"/>
                  </a:lnTo>
                  <a:close/>
                  <a:moveTo>
                    <a:pt x="1182" y="6"/>
                  </a:moveTo>
                  <a:lnTo>
                    <a:pt x="1094" y="6"/>
                  </a:lnTo>
                  <a:lnTo>
                    <a:pt x="1094" y="0"/>
                  </a:lnTo>
                  <a:lnTo>
                    <a:pt x="1182" y="0"/>
                  </a:lnTo>
                  <a:lnTo>
                    <a:pt x="1182" y="6"/>
                  </a:lnTo>
                  <a:close/>
                  <a:moveTo>
                    <a:pt x="1050" y="6"/>
                  </a:moveTo>
                  <a:lnTo>
                    <a:pt x="962" y="6"/>
                  </a:lnTo>
                  <a:lnTo>
                    <a:pt x="962" y="0"/>
                  </a:lnTo>
                  <a:lnTo>
                    <a:pt x="1050" y="0"/>
                  </a:lnTo>
                  <a:lnTo>
                    <a:pt x="1050" y="6"/>
                  </a:lnTo>
                  <a:close/>
                  <a:moveTo>
                    <a:pt x="918" y="6"/>
                  </a:moveTo>
                  <a:lnTo>
                    <a:pt x="831" y="6"/>
                  </a:lnTo>
                  <a:lnTo>
                    <a:pt x="831" y="0"/>
                  </a:lnTo>
                  <a:lnTo>
                    <a:pt x="918" y="0"/>
                  </a:lnTo>
                  <a:lnTo>
                    <a:pt x="918" y="6"/>
                  </a:lnTo>
                  <a:close/>
                  <a:moveTo>
                    <a:pt x="787" y="6"/>
                  </a:moveTo>
                  <a:lnTo>
                    <a:pt x="699" y="6"/>
                  </a:lnTo>
                  <a:lnTo>
                    <a:pt x="699" y="0"/>
                  </a:lnTo>
                  <a:lnTo>
                    <a:pt x="787" y="0"/>
                  </a:lnTo>
                  <a:lnTo>
                    <a:pt x="787" y="6"/>
                  </a:lnTo>
                  <a:close/>
                  <a:moveTo>
                    <a:pt x="655" y="6"/>
                  </a:moveTo>
                  <a:lnTo>
                    <a:pt x="568" y="6"/>
                  </a:lnTo>
                  <a:lnTo>
                    <a:pt x="568" y="0"/>
                  </a:lnTo>
                  <a:lnTo>
                    <a:pt x="655" y="0"/>
                  </a:lnTo>
                  <a:lnTo>
                    <a:pt x="655" y="6"/>
                  </a:lnTo>
                  <a:close/>
                  <a:moveTo>
                    <a:pt x="524" y="6"/>
                  </a:moveTo>
                  <a:lnTo>
                    <a:pt x="436" y="6"/>
                  </a:lnTo>
                  <a:lnTo>
                    <a:pt x="436" y="0"/>
                  </a:lnTo>
                  <a:lnTo>
                    <a:pt x="524" y="0"/>
                  </a:lnTo>
                  <a:lnTo>
                    <a:pt x="524" y="6"/>
                  </a:lnTo>
                  <a:close/>
                  <a:moveTo>
                    <a:pt x="392" y="6"/>
                  </a:moveTo>
                  <a:lnTo>
                    <a:pt x="305" y="6"/>
                  </a:lnTo>
                  <a:lnTo>
                    <a:pt x="305" y="0"/>
                  </a:lnTo>
                  <a:lnTo>
                    <a:pt x="392" y="0"/>
                  </a:lnTo>
                  <a:lnTo>
                    <a:pt x="392" y="6"/>
                  </a:lnTo>
                  <a:close/>
                  <a:moveTo>
                    <a:pt x="261" y="6"/>
                  </a:moveTo>
                  <a:lnTo>
                    <a:pt x="173" y="6"/>
                  </a:lnTo>
                  <a:lnTo>
                    <a:pt x="173" y="0"/>
                  </a:lnTo>
                  <a:lnTo>
                    <a:pt x="261" y="0"/>
                  </a:lnTo>
                  <a:lnTo>
                    <a:pt x="261" y="6"/>
                  </a:lnTo>
                  <a:close/>
                  <a:moveTo>
                    <a:pt x="129" y="6"/>
                  </a:moveTo>
                  <a:lnTo>
                    <a:pt x="41" y="6"/>
                  </a:lnTo>
                  <a:lnTo>
                    <a:pt x="41" y="0"/>
                  </a:lnTo>
                  <a:lnTo>
                    <a:pt x="129" y="0"/>
                  </a:lnTo>
                  <a:lnTo>
                    <a:pt x="129" y="6"/>
                  </a:lnTo>
                  <a:close/>
                </a:path>
              </a:pathLst>
            </a:custGeom>
            <a:solidFill>
              <a:srgbClr val="70AD47"/>
            </a:solidFill>
            <a:ln w="0" cap="flat">
              <a:solidFill>
                <a:srgbClr val="70AD4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33">
              <a:extLst>
                <a:ext uri="{FF2B5EF4-FFF2-40B4-BE49-F238E27FC236}">
                  <a16:creationId xmlns:a16="http://schemas.microsoft.com/office/drawing/2014/main" id="{EED586C2-3CCB-4787-8525-84AF33D98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9716" y="3731114"/>
              <a:ext cx="725488" cy="433388"/>
            </a:xfrm>
            <a:prstGeom prst="rect">
              <a:avLst/>
            </a:prstGeom>
            <a:noFill/>
            <a:ln w="158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Rectangle 34">
              <a:extLst>
                <a:ext uri="{FF2B5EF4-FFF2-40B4-BE49-F238E27FC236}">
                  <a16:creationId xmlns:a16="http://schemas.microsoft.com/office/drawing/2014/main" id="{46C35252-1AE6-439F-850B-BD635FC8D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4112" y="4337188"/>
              <a:ext cx="44450" cy="2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14D0EECF-7A9F-4ACE-9EA4-98643295BB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97825" y="2459176"/>
              <a:ext cx="2954338" cy="2679700"/>
            </a:xfrm>
            <a:custGeom>
              <a:avLst/>
              <a:gdLst>
                <a:gd name="T0" fmla="*/ 5 w 1861"/>
                <a:gd name="T1" fmla="*/ 3 h 1688"/>
                <a:gd name="T2" fmla="*/ 5 w 1861"/>
                <a:gd name="T3" fmla="*/ 135 h 1688"/>
                <a:gd name="T4" fmla="*/ 5 w 1861"/>
                <a:gd name="T5" fmla="*/ 266 h 1688"/>
                <a:gd name="T6" fmla="*/ 5 w 1861"/>
                <a:gd name="T7" fmla="*/ 398 h 1688"/>
                <a:gd name="T8" fmla="*/ 5 w 1861"/>
                <a:gd name="T9" fmla="*/ 529 h 1688"/>
                <a:gd name="T10" fmla="*/ 5 w 1861"/>
                <a:gd name="T11" fmla="*/ 661 h 1688"/>
                <a:gd name="T12" fmla="*/ 5 w 1861"/>
                <a:gd name="T13" fmla="*/ 792 h 1688"/>
                <a:gd name="T14" fmla="*/ 5 w 1861"/>
                <a:gd name="T15" fmla="*/ 924 h 1688"/>
                <a:gd name="T16" fmla="*/ 5 w 1861"/>
                <a:gd name="T17" fmla="*/ 1056 h 1688"/>
                <a:gd name="T18" fmla="*/ 5 w 1861"/>
                <a:gd name="T19" fmla="*/ 1187 h 1688"/>
                <a:gd name="T20" fmla="*/ 5 w 1861"/>
                <a:gd name="T21" fmla="*/ 1319 h 1688"/>
                <a:gd name="T22" fmla="*/ 5 w 1861"/>
                <a:gd name="T23" fmla="*/ 1451 h 1688"/>
                <a:gd name="T24" fmla="*/ 5 w 1861"/>
                <a:gd name="T25" fmla="*/ 1582 h 1688"/>
                <a:gd name="T26" fmla="*/ 30 w 1861"/>
                <a:gd name="T27" fmla="*/ 1683 h 1688"/>
                <a:gd name="T28" fmla="*/ 162 w 1861"/>
                <a:gd name="T29" fmla="*/ 1683 h 1688"/>
                <a:gd name="T30" fmla="*/ 293 w 1861"/>
                <a:gd name="T31" fmla="*/ 1683 h 1688"/>
                <a:gd name="T32" fmla="*/ 425 w 1861"/>
                <a:gd name="T33" fmla="*/ 1683 h 1688"/>
                <a:gd name="T34" fmla="*/ 556 w 1861"/>
                <a:gd name="T35" fmla="*/ 1683 h 1688"/>
                <a:gd name="T36" fmla="*/ 688 w 1861"/>
                <a:gd name="T37" fmla="*/ 1683 h 1688"/>
                <a:gd name="T38" fmla="*/ 819 w 1861"/>
                <a:gd name="T39" fmla="*/ 1683 h 1688"/>
                <a:gd name="T40" fmla="*/ 951 w 1861"/>
                <a:gd name="T41" fmla="*/ 1683 h 1688"/>
                <a:gd name="T42" fmla="*/ 1083 w 1861"/>
                <a:gd name="T43" fmla="*/ 1683 h 1688"/>
                <a:gd name="T44" fmla="*/ 1214 w 1861"/>
                <a:gd name="T45" fmla="*/ 1683 h 1688"/>
                <a:gd name="T46" fmla="*/ 1345 w 1861"/>
                <a:gd name="T47" fmla="*/ 1683 h 1688"/>
                <a:gd name="T48" fmla="*/ 1477 w 1861"/>
                <a:gd name="T49" fmla="*/ 1683 h 1688"/>
                <a:gd name="T50" fmla="*/ 1609 w 1861"/>
                <a:gd name="T51" fmla="*/ 1683 h 1688"/>
                <a:gd name="T52" fmla="*/ 1740 w 1861"/>
                <a:gd name="T53" fmla="*/ 1683 h 1688"/>
                <a:gd name="T54" fmla="*/ 1856 w 1861"/>
                <a:gd name="T55" fmla="*/ 1673 h 1688"/>
                <a:gd name="T56" fmla="*/ 1856 w 1861"/>
                <a:gd name="T57" fmla="*/ 1541 h 1688"/>
                <a:gd name="T58" fmla="*/ 1856 w 1861"/>
                <a:gd name="T59" fmla="*/ 1409 h 1688"/>
                <a:gd name="T60" fmla="*/ 1856 w 1861"/>
                <a:gd name="T61" fmla="*/ 1278 h 1688"/>
                <a:gd name="T62" fmla="*/ 1856 w 1861"/>
                <a:gd name="T63" fmla="*/ 1146 h 1688"/>
                <a:gd name="T64" fmla="*/ 1856 w 1861"/>
                <a:gd name="T65" fmla="*/ 1014 h 1688"/>
                <a:gd name="T66" fmla="*/ 1856 w 1861"/>
                <a:gd name="T67" fmla="*/ 883 h 1688"/>
                <a:gd name="T68" fmla="*/ 1856 w 1861"/>
                <a:gd name="T69" fmla="*/ 751 h 1688"/>
                <a:gd name="T70" fmla="*/ 1856 w 1861"/>
                <a:gd name="T71" fmla="*/ 620 h 1688"/>
                <a:gd name="T72" fmla="*/ 1856 w 1861"/>
                <a:gd name="T73" fmla="*/ 488 h 1688"/>
                <a:gd name="T74" fmla="*/ 1856 w 1861"/>
                <a:gd name="T75" fmla="*/ 357 h 1688"/>
                <a:gd name="T76" fmla="*/ 1856 w 1861"/>
                <a:gd name="T77" fmla="*/ 225 h 1688"/>
                <a:gd name="T78" fmla="*/ 1856 w 1861"/>
                <a:gd name="T79" fmla="*/ 93 h 1688"/>
                <a:gd name="T80" fmla="*/ 1817 w 1861"/>
                <a:gd name="T81" fmla="*/ 6 h 1688"/>
                <a:gd name="T82" fmla="*/ 1686 w 1861"/>
                <a:gd name="T83" fmla="*/ 6 h 1688"/>
                <a:gd name="T84" fmla="*/ 1554 w 1861"/>
                <a:gd name="T85" fmla="*/ 6 h 1688"/>
                <a:gd name="T86" fmla="*/ 1423 w 1861"/>
                <a:gd name="T87" fmla="*/ 6 h 1688"/>
                <a:gd name="T88" fmla="*/ 1291 w 1861"/>
                <a:gd name="T89" fmla="*/ 6 h 1688"/>
                <a:gd name="T90" fmla="*/ 1160 w 1861"/>
                <a:gd name="T91" fmla="*/ 6 h 1688"/>
                <a:gd name="T92" fmla="*/ 1028 w 1861"/>
                <a:gd name="T93" fmla="*/ 6 h 1688"/>
                <a:gd name="T94" fmla="*/ 896 w 1861"/>
                <a:gd name="T95" fmla="*/ 6 h 1688"/>
                <a:gd name="T96" fmla="*/ 765 w 1861"/>
                <a:gd name="T97" fmla="*/ 6 h 1688"/>
                <a:gd name="T98" fmla="*/ 634 w 1861"/>
                <a:gd name="T99" fmla="*/ 6 h 1688"/>
                <a:gd name="T100" fmla="*/ 502 w 1861"/>
                <a:gd name="T101" fmla="*/ 6 h 1688"/>
                <a:gd name="T102" fmla="*/ 371 w 1861"/>
                <a:gd name="T103" fmla="*/ 6 h 1688"/>
                <a:gd name="T104" fmla="*/ 239 w 1861"/>
                <a:gd name="T105" fmla="*/ 6 h 1688"/>
                <a:gd name="T106" fmla="*/ 107 w 1861"/>
                <a:gd name="T107" fmla="*/ 6 h 1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861" h="1688">
                  <a:moveTo>
                    <a:pt x="5" y="3"/>
                  </a:moveTo>
                  <a:lnTo>
                    <a:pt x="5" y="91"/>
                  </a:lnTo>
                  <a:lnTo>
                    <a:pt x="0" y="91"/>
                  </a:lnTo>
                  <a:lnTo>
                    <a:pt x="0" y="3"/>
                  </a:lnTo>
                  <a:lnTo>
                    <a:pt x="5" y="3"/>
                  </a:lnTo>
                  <a:close/>
                  <a:moveTo>
                    <a:pt x="5" y="135"/>
                  </a:moveTo>
                  <a:lnTo>
                    <a:pt x="5" y="222"/>
                  </a:lnTo>
                  <a:lnTo>
                    <a:pt x="0" y="222"/>
                  </a:lnTo>
                  <a:lnTo>
                    <a:pt x="0" y="135"/>
                  </a:lnTo>
                  <a:lnTo>
                    <a:pt x="5" y="135"/>
                  </a:lnTo>
                  <a:close/>
                  <a:moveTo>
                    <a:pt x="5" y="266"/>
                  </a:moveTo>
                  <a:lnTo>
                    <a:pt x="5" y="354"/>
                  </a:lnTo>
                  <a:lnTo>
                    <a:pt x="0" y="354"/>
                  </a:lnTo>
                  <a:lnTo>
                    <a:pt x="0" y="266"/>
                  </a:lnTo>
                  <a:lnTo>
                    <a:pt x="5" y="266"/>
                  </a:lnTo>
                  <a:close/>
                  <a:moveTo>
                    <a:pt x="5" y="398"/>
                  </a:moveTo>
                  <a:lnTo>
                    <a:pt x="5" y="486"/>
                  </a:lnTo>
                  <a:lnTo>
                    <a:pt x="0" y="486"/>
                  </a:lnTo>
                  <a:lnTo>
                    <a:pt x="0" y="398"/>
                  </a:lnTo>
                  <a:lnTo>
                    <a:pt x="5" y="398"/>
                  </a:lnTo>
                  <a:close/>
                  <a:moveTo>
                    <a:pt x="5" y="529"/>
                  </a:moveTo>
                  <a:lnTo>
                    <a:pt x="5" y="617"/>
                  </a:lnTo>
                  <a:lnTo>
                    <a:pt x="0" y="617"/>
                  </a:lnTo>
                  <a:lnTo>
                    <a:pt x="0" y="529"/>
                  </a:lnTo>
                  <a:lnTo>
                    <a:pt x="5" y="529"/>
                  </a:lnTo>
                  <a:close/>
                  <a:moveTo>
                    <a:pt x="5" y="661"/>
                  </a:moveTo>
                  <a:lnTo>
                    <a:pt x="5" y="749"/>
                  </a:lnTo>
                  <a:lnTo>
                    <a:pt x="0" y="749"/>
                  </a:lnTo>
                  <a:lnTo>
                    <a:pt x="0" y="661"/>
                  </a:lnTo>
                  <a:lnTo>
                    <a:pt x="5" y="661"/>
                  </a:lnTo>
                  <a:close/>
                  <a:moveTo>
                    <a:pt x="5" y="792"/>
                  </a:moveTo>
                  <a:lnTo>
                    <a:pt x="5" y="880"/>
                  </a:lnTo>
                  <a:lnTo>
                    <a:pt x="0" y="880"/>
                  </a:lnTo>
                  <a:lnTo>
                    <a:pt x="0" y="792"/>
                  </a:lnTo>
                  <a:lnTo>
                    <a:pt x="5" y="792"/>
                  </a:lnTo>
                  <a:close/>
                  <a:moveTo>
                    <a:pt x="5" y="924"/>
                  </a:moveTo>
                  <a:lnTo>
                    <a:pt x="5" y="1012"/>
                  </a:lnTo>
                  <a:lnTo>
                    <a:pt x="0" y="1012"/>
                  </a:lnTo>
                  <a:lnTo>
                    <a:pt x="0" y="924"/>
                  </a:lnTo>
                  <a:lnTo>
                    <a:pt x="5" y="924"/>
                  </a:lnTo>
                  <a:close/>
                  <a:moveTo>
                    <a:pt x="5" y="1056"/>
                  </a:moveTo>
                  <a:lnTo>
                    <a:pt x="5" y="1143"/>
                  </a:lnTo>
                  <a:lnTo>
                    <a:pt x="0" y="1143"/>
                  </a:lnTo>
                  <a:lnTo>
                    <a:pt x="0" y="1056"/>
                  </a:lnTo>
                  <a:lnTo>
                    <a:pt x="5" y="1056"/>
                  </a:lnTo>
                  <a:close/>
                  <a:moveTo>
                    <a:pt x="5" y="1187"/>
                  </a:moveTo>
                  <a:lnTo>
                    <a:pt x="5" y="1275"/>
                  </a:lnTo>
                  <a:lnTo>
                    <a:pt x="0" y="1275"/>
                  </a:lnTo>
                  <a:lnTo>
                    <a:pt x="0" y="1187"/>
                  </a:lnTo>
                  <a:lnTo>
                    <a:pt x="5" y="1187"/>
                  </a:lnTo>
                  <a:close/>
                  <a:moveTo>
                    <a:pt x="5" y="1319"/>
                  </a:moveTo>
                  <a:lnTo>
                    <a:pt x="5" y="1407"/>
                  </a:lnTo>
                  <a:lnTo>
                    <a:pt x="0" y="1407"/>
                  </a:lnTo>
                  <a:lnTo>
                    <a:pt x="0" y="1319"/>
                  </a:lnTo>
                  <a:lnTo>
                    <a:pt x="5" y="1319"/>
                  </a:lnTo>
                  <a:close/>
                  <a:moveTo>
                    <a:pt x="5" y="1451"/>
                  </a:moveTo>
                  <a:lnTo>
                    <a:pt x="5" y="1538"/>
                  </a:lnTo>
                  <a:lnTo>
                    <a:pt x="0" y="1538"/>
                  </a:lnTo>
                  <a:lnTo>
                    <a:pt x="0" y="1451"/>
                  </a:lnTo>
                  <a:lnTo>
                    <a:pt x="5" y="1451"/>
                  </a:lnTo>
                  <a:close/>
                  <a:moveTo>
                    <a:pt x="5" y="1582"/>
                  </a:moveTo>
                  <a:lnTo>
                    <a:pt x="5" y="1670"/>
                  </a:lnTo>
                  <a:lnTo>
                    <a:pt x="0" y="1670"/>
                  </a:lnTo>
                  <a:lnTo>
                    <a:pt x="0" y="1582"/>
                  </a:lnTo>
                  <a:lnTo>
                    <a:pt x="5" y="1582"/>
                  </a:lnTo>
                  <a:close/>
                  <a:moveTo>
                    <a:pt x="30" y="1683"/>
                  </a:moveTo>
                  <a:lnTo>
                    <a:pt x="118" y="1683"/>
                  </a:lnTo>
                  <a:lnTo>
                    <a:pt x="118" y="1688"/>
                  </a:lnTo>
                  <a:lnTo>
                    <a:pt x="30" y="1688"/>
                  </a:lnTo>
                  <a:lnTo>
                    <a:pt x="30" y="1683"/>
                  </a:lnTo>
                  <a:close/>
                  <a:moveTo>
                    <a:pt x="162" y="1683"/>
                  </a:moveTo>
                  <a:lnTo>
                    <a:pt x="249" y="1683"/>
                  </a:lnTo>
                  <a:lnTo>
                    <a:pt x="249" y="1688"/>
                  </a:lnTo>
                  <a:lnTo>
                    <a:pt x="162" y="1688"/>
                  </a:lnTo>
                  <a:lnTo>
                    <a:pt x="162" y="1683"/>
                  </a:lnTo>
                  <a:close/>
                  <a:moveTo>
                    <a:pt x="293" y="1683"/>
                  </a:moveTo>
                  <a:lnTo>
                    <a:pt x="381" y="1683"/>
                  </a:lnTo>
                  <a:lnTo>
                    <a:pt x="381" y="1688"/>
                  </a:lnTo>
                  <a:lnTo>
                    <a:pt x="293" y="1688"/>
                  </a:lnTo>
                  <a:lnTo>
                    <a:pt x="293" y="1683"/>
                  </a:lnTo>
                  <a:close/>
                  <a:moveTo>
                    <a:pt x="425" y="1683"/>
                  </a:moveTo>
                  <a:lnTo>
                    <a:pt x="512" y="1683"/>
                  </a:lnTo>
                  <a:lnTo>
                    <a:pt x="512" y="1688"/>
                  </a:lnTo>
                  <a:lnTo>
                    <a:pt x="425" y="1688"/>
                  </a:lnTo>
                  <a:lnTo>
                    <a:pt x="425" y="1683"/>
                  </a:lnTo>
                  <a:close/>
                  <a:moveTo>
                    <a:pt x="556" y="1683"/>
                  </a:moveTo>
                  <a:lnTo>
                    <a:pt x="644" y="1683"/>
                  </a:lnTo>
                  <a:lnTo>
                    <a:pt x="644" y="1688"/>
                  </a:lnTo>
                  <a:lnTo>
                    <a:pt x="556" y="1688"/>
                  </a:lnTo>
                  <a:lnTo>
                    <a:pt x="556" y="1683"/>
                  </a:lnTo>
                  <a:close/>
                  <a:moveTo>
                    <a:pt x="688" y="1683"/>
                  </a:moveTo>
                  <a:lnTo>
                    <a:pt x="776" y="1683"/>
                  </a:lnTo>
                  <a:lnTo>
                    <a:pt x="776" y="1688"/>
                  </a:lnTo>
                  <a:lnTo>
                    <a:pt x="688" y="1688"/>
                  </a:lnTo>
                  <a:lnTo>
                    <a:pt x="688" y="1683"/>
                  </a:lnTo>
                  <a:close/>
                  <a:moveTo>
                    <a:pt x="819" y="1683"/>
                  </a:moveTo>
                  <a:lnTo>
                    <a:pt x="907" y="1683"/>
                  </a:lnTo>
                  <a:lnTo>
                    <a:pt x="907" y="1688"/>
                  </a:lnTo>
                  <a:lnTo>
                    <a:pt x="819" y="1688"/>
                  </a:lnTo>
                  <a:lnTo>
                    <a:pt x="819" y="1683"/>
                  </a:lnTo>
                  <a:close/>
                  <a:moveTo>
                    <a:pt x="951" y="1683"/>
                  </a:moveTo>
                  <a:lnTo>
                    <a:pt x="1039" y="1683"/>
                  </a:lnTo>
                  <a:lnTo>
                    <a:pt x="1039" y="1688"/>
                  </a:lnTo>
                  <a:lnTo>
                    <a:pt x="951" y="1688"/>
                  </a:lnTo>
                  <a:lnTo>
                    <a:pt x="951" y="1683"/>
                  </a:lnTo>
                  <a:close/>
                  <a:moveTo>
                    <a:pt x="1083" y="1683"/>
                  </a:moveTo>
                  <a:lnTo>
                    <a:pt x="1170" y="1683"/>
                  </a:lnTo>
                  <a:lnTo>
                    <a:pt x="1170" y="1688"/>
                  </a:lnTo>
                  <a:lnTo>
                    <a:pt x="1083" y="1688"/>
                  </a:lnTo>
                  <a:lnTo>
                    <a:pt x="1083" y="1683"/>
                  </a:lnTo>
                  <a:close/>
                  <a:moveTo>
                    <a:pt x="1214" y="1683"/>
                  </a:moveTo>
                  <a:lnTo>
                    <a:pt x="1302" y="1683"/>
                  </a:lnTo>
                  <a:lnTo>
                    <a:pt x="1302" y="1688"/>
                  </a:lnTo>
                  <a:lnTo>
                    <a:pt x="1214" y="1688"/>
                  </a:lnTo>
                  <a:lnTo>
                    <a:pt x="1214" y="1683"/>
                  </a:lnTo>
                  <a:close/>
                  <a:moveTo>
                    <a:pt x="1345" y="1683"/>
                  </a:moveTo>
                  <a:lnTo>
                    <a:pt x="1433" y="1683"/>
                  </a:lnTo>
                  <a:lnTo>
                    <a:pt x="1433" y="1688"/>
                  </a:lnTo>
                  <a:lnTo>
                    <a:pt x="1345" y="1688"/>
                  </a:lnTo>
                  <a:lnTo>
                    <a:pt x="1345" y="1683"/>
                  </a:lnTo>
                  <a:close/>
                  <a:moveTo>
                    <a:pt x="1477" y="1683"/>
                  </a:moveTo>
                  <a:lnTo>
                    <a:pt x="1565" y="1683"/>
                  </a:lnTo>
                  <a:lnTo>
                    <a:pt x="1565" y="1688"/>
                  </a:lnTo>
                  <a:lnTo>
                    <a:pt x="1477" y="1688"/>
                  </a:lnTo>
                  <a:lnTo>
                    <a:pt x="1477" y="1683"/>
                  </a:lnTo>
                  <a:close/>
                  <a:moveTo>
                    <a:pt x="1609" y="1683"/>
                  </a:moveTo>
                  <a:lnTo>
                    <a:pt x="1696" y="1683"/>
                  </a:lnTo>
                  <a:lnTo>
                    <a:pt x="1696" y="1688"/>
                  </a:lnTo>
                  <a:lnTo>
                    <a:pt x="1609" y="1688"/>
                  </a:lnTo>
                  <a:lnTo>
                    <a:pt x="1609" y="1683"/>
                  </a:lnTo>
                  <a:close/>
                  <a:moveTo>
                    <a:pt x="1740" y="1683"/>
                  </a:moveTo>
                  <a:lnTo>
                    <a:pt x="1828" y="1683"/>
                  </a:lnTo>
                  <a:lnTo>
                    <a:pt x="1828" y="1688"/>
                  </a:lnTo>
                  <a:lnTo>
                    <a:pt x="1740" y="1688"/>
                  </a:lnTo>
                  <a:lnTo>
                    <a:pt x="1740" y="1683"/>
                  </a:lnTo>
                  <a:close/>
                  <a:moveTo>
                    <a:pt x="1856" y="1673"/>
                  </a:moveTo>
                  <a:lnTo>
                    <a:pt x="1856" y="1585"/>
                  </a:lnTo>
                  <a:lnTo>
                    <a:pt x="1861" y="1585"/>
                  </a:lnTo>
                  <a:lnTo>
                    <a:pt x="1861" y="1673"/>
                  </a:lnTo>
                  <a:lnTo>
                    <a:pt x="1856" y="1673"/>
                  </a:lnTo>
                  <a:close/>
                  <a:moveTo>
                    <a:pt x="1856" y="1541"/>
                  </a:moveTo>
                  <a:lnTo>
                    <a:pt x="1856" y="1453"/>
                  </a:lnTo>
                  <a:lnTo>
                    <a:pt x="1861" y="1453"/>
                  </a:lnTo>
                  <a:lnTo>
                    <a:pt x="1861" y="1541"/>
                  </a:lnTo>
                  <a:lnTo>
                    <a:pt x="1856" y="1541"/>
                  </a:lnTo>
                  <a:close/>
                  <a:moveTo>
                    <a:pt x="1856" y="1409"/>
                  </a:moveTo>
                  <a:lnTo>
                    <a:pt x="1856" y="1322"/>
                  </a:lnTo>
                  <a:lnTo>
                    <a:pt x="1861" y="1322"/>
                  </a:lnTo>
                  <a:lnTo>
                    <a:pt x="1861" y="1409"/>
                  </a:lnTo>
                  <a:lnTo>
                    <a:pt x="1856" y="1409"/>
                  </a:lnTo>
                  <a:close/>
                  <a:moveTo>
                    <a:pt x="1856" y="1278"/>
                  </a:moveTo>
                  <a:lnTo>
                    <a:pt x="1856" y="1190"/>
                  </a:lnTo>
                  <a:lnTo>
                    <a:pt x="1861" y="1190"/>
                  </a:lnTo>
                  <a:lnTo>
                    <a:pt x="1861" y="1278"/>
                  </a:lnTo>
                  <a:lnTo>
                    <a:pt x="1856" y="1278"/>
                  </a:lnTo>
                  <a:close/>
                  <a:moveTo>
                    <a:pt x="1856" y="1146"/>
                  </a:moveTo>
                  <a:lnTo>
                    <a:pt x="1856" y="1058"/>
                  </a:lnTo>
                  <a:lnTo>
                    <a:pt x="1861" y="1058"/>
                  </a:lnTo>
                  <a:lnTo>
                    <a:pt x="1861" y="1146"/>
                  </a:lnTo>
                  <a:lnTo>
                    <a:pt x="1856" y="1146"/>
                  </a:lnTo>
                  <a:close/>
                  <a:moveTo>
                    <a:pt x="1856" y="1014"/>
                  </a:moveTo>
                  <a:lnTo>
                    <a:pt x="1856" y="927"/>
                  </a:lnTo>
                  <a:lnTo>
                    <a:pt x="1861" y="927"/>
                  </a:lnTo>
                  <a:lnTo>
                    <a:pt x="1861" y="1014"/>
                  </a:lnTo>
                  <a:lnTo>
                    <a:pt x="1856" y="1014"/>
                  </a:lnTo>
                  <a:close/>
                  <a:moveTo>
                    <a:pt x="1856" y="883"/>
                  </a:moveTo>
                  <a:lnTo>
                    <a:pt x="1856" y="795"/>
                  </a:lnTo>
                  <a:lnTo>
                    <a:pt x="1861" y="795"/>
                  </a:lnTo>
                  <a:lnTo>
                    <a:pt x="1861" y="883"/>
                  </a:lnTo>
                  <a:lnTo>
                    <a:pt x="1856" y="883"/>
                  </a:lnTo>
                  <a:close/>
                  <a:moveTo>
                    <a:pt x="1856" y="751"/>
                  </a:moveTo>
                  <a:lnTo>
                    <a:pt x="1856" y="664"/>
                  </a:lnTo>
                  <a:lnTo>
                    <a:pt x="1861" y="664"/>
                  </a:lnTo>
                  <a:lnTo>
                    <a:pt x="1861" y="751"/>
                  </a:lnTo>
                  <a:lnTo>
                    <a:pt x="1856" y="751"/>
                  </a:lnTo>
                  <a:close/>
                  <a:moveTo>
                    <a:pt x="1856" y="620"/>
                  </a:moveTo>
                  <a:lnTo>
                    <a:pt x="1856" y="532"/>
                  </a:lnTo>
                  <a:lnTo>
                    <a:pt x="1861" y="532"/>
                  </a:lnTo>
                  <a:lnTo>
                    <a:pt x="1861" y="620"/>
                  </a:lnTo>
                  <a:lnTo>
                    <a:pt x="1856" y="620"/>
                  </a:lnTo>
                  <a:close/>
                  <a:moveTo>
                    <a:pt x="1856" y="488"/>
                  </a:moveTo>
                  <a:lnTo>
                    <a:pt x="1856" y="400"/>
                  </a:lnTo>
                  <a:lnTo>
                    <a:pt x="1861" y="400"/>
                  </a:lnTo>
                  <a:lnTo>
                    <a:pt x="1861" y="488"/>
                  </a:lnTo>
                  <a:lnTo>
                    <a:pt x="1856" y="488"/>
                  </a:lnTo>
                  <a:close/>
                  <a:moveTo>
                    <a:pt x="1856" y="357"/>
                  </a:moveTo>
                  <a:lnTo>
                    <a:pt x="1856" y="269"/>
                  </a:lnTo>
                  <a:lnTo>
                    <a:pt x="1861" y="269"/>
                  </a:lnTo>
                  <a:lnTo>
                    <a:pt x="1861" y="357"/>
                  </a:lnTo>
                  <a:lnTo>
                    <a:pt x="1856" y="357"/>
                  </a:lnTo>
                  <a:close/>
                  <a:moveTo>
                    <a:pt x="1856" y="225"/>
                  </a:moveTo>
                  <a:lnTo>
                    <a:pt x="1856" y="137"/>
                  </a:lnTo>
                  <a:lnTo>
                    <a:pt x="1861" y="137"/>
                  </a:lnTo>
                  <a:lnTo>
                    <a:pt x="1861" y="225"/>
                  </a:lnTo>
                  <a:lnTo>
                    <a:pt x="1856" y="225"/>
                  </a:lnTo>
                  <a:close/>
                  <a:moveTo>
                    <a:pt x="1856" y="93"/>
                  </a:moveTo>
                  <a:lnTo>
                    <a:pt x="1856" y="6"/>
                  </a:lnTo>
                  <a:lnTo>
                    <a:pt x="1861" y="6"/>
                  </a:lnTo>
                  <a:lnTo>
                    <a:pt x="1861" y="93"/>
                  </a:lnTo>
                  <a:lnTo>
                    <a:pt x="1856" y="93"/>
                  </a:lnTo>
                  <a:close/>
                  <a:moveTo>
                    <a:pt x="1817" y="6"/>
                  </a:moveTo>
                  <a:lnTo>
                    <a:pt x="1730" y="6"/>
                  </a:lnTo>
                  <a:lnTo>
                    <a:pt x="1730" y="0"/>
                  </a:lnTo>
                  <a:lnTo>
                    <a:pt x="1817" y="0"/>
                  </a:lnTo>
                  <a:lnTo>
                    <a:pt x="1817" y="6"/>
                  </a:lnTo>
                  <a:close/>
                  <a:moveTo>
                    <a:pt x="1686" y="6"/>
                  </a:moveTo>
                  <a:lnTo>
                    <a:pt x="1598" y="6"/>
                  </a:lnTo>
                  <a:lnTo>
                    <a:pt x="1598" y="0"/>
                  </a:lnTo>
                  <a:lnTo>
                    <a:pt x="1686" y="0"/>
                  </a:lnTo>
                  <a:lnTo>
                    <a:pt x="1686" y="6"/>
                  </a:lnTo>
                  <a:close/>
                  <a:moveTo>
                    <a:pt x="1554" y="6"/>
                  </a:moveTo>
                  <a:lnTo>
                    <a:pt x="1467" y="6"/>
                  </a:lnTo>
                  <a:lnTo>
                    <a:pt x="1467" y="0"/>
                  </a:lnTo>
                  <a:lnTo>
                    <a:pt x="1554" y="0"/>
                  </a:lnTo>
                  <a:lnTo>
                    <a:pt x="1554" y="6"/>
                  </a:lnTo>
                  <a:close/>
                  <a:moveTo>
                    <a:pt x="1423" y="6"/>
                  </a:moveTo>
                  <a:lnTo>
                    <a:pt x="1335" y="6"/>
                  </a:lnTo>
                  <a:lnTo>
                    <a:pt x="1335" y="0"/>
                  </a:lnTo>
                  <a:lnTo>
                    <a:pt x="1423" y="0"/>
                  </a:lnTo>
                  <a:lnTo>
                    <a:pt x="1423" y="6"/>
                  </a:lnTo>
                  <a:close/>
                  <a:moveTo>
                    <a:pt x="1291" y="6"/>
                  </a:moveTo>
                  <a:lnTo>
                    <a:pt x="1204" y="6"/>
                  </a:lnTo>
                  <a:lnTo>
                    <a:pt x="1204" y="0"/>
                  </a:lnTo>
                  <a:lnTo>
                    <a:pt x="1291" y="0"/>
                  </a:lnTo>
                  <a:lnTo>
                    <a:pt x="1291" y="6"/>
                  </a:lnTo>
                  <a:close/>
                  <a:moveTo>
                    <a:pt x="1160" y="6"/>
                  </a:moveTo>
                  <a:lnTo>
                    <a:pt x="1072" y="6"/>
                  </a:lnTo>
                  <a:lnTo>
                    <a:pt x="1072" y="0"/>
                  </a:lnTo>
                  <a:lnTo>
                    <a:pt x="1160" y="0"/>
                  </a:lnTo>
                  <a:lnTo>
                    <a:pt x="1160" y="6"/>
                  </a:lnTo>
                  <a:close/>
                  <a:moveTo>
                    <a:pt x="1028" y="6"/>
                  </a:moveTo>
                  <a:lnTo>
                    <a:pt x="940" y="6"/>
                  </a:lnTo>
                  <a:lnTo>
                    <a:pt x="940" y="0"/>
                  </a:lnTo>
                  <a:lnTo>
                    <a:pt x="1028" y="0"/>
                  </a:lnTo>
                  <a:lnTo>
                    <a:pt x="1028" y="6"/>
                  </a:lnTo>
                  <a:close/>
                  <a:moveTo>
                    <a:pt x="896" y="6"/>
                  </a:moveTo>
                  <a:lnTo>
                    <a:pt x="809" y="6"/>
                  </a:lnTo>
                  <a:lnTo>
                    <a:pt x="809" y="0"/>
                  </a:lnTo>
                  <a:lnTo>
                    <a:pt x="896" y="0"/>
                  </a:lnTo>
                  <a:lnTo>
                    <a:pt x="896" y="6"/>
                  </a:lnTo>
                  <a:close/>
                  <a:moveTo>
                    <a:pt x="765" y="6"/>
                  </a:moveTo>
                  <a:lnTo>
                    <a:pt x="677" y="6"/>
                  </a:lnTo>
                  <a:lnTo>
                    <a:pt x="677" y="0"/>
                  </a:lnTo>
                  <a:lnTo>
                    <a:pt x="765" y="0"/>
                  </a:lnTo>
                  <a:lnTo>
                    <a:pt x="765" y="6"/>
                  </a:lnTo>
                  <a:close/>
                  <a:moveTo>
                    <a:pt x="634" y="6"/>
                  </a:moveTo>
                  <a:lnTo>
                    <a:pt x="546" y="6"/>
                  </a:lnTo>
                  <a:lnTo>
                    <a:pt x="546" y="0"/>
                  </a:lnTo>
                  <a:lnTo>
                    <a:pt x="634" y="0"/>
                  </a:lnTo>
                  <a:lnTo>
                    <a:pt x="634" y="6"/>
                  </a:lnTo>
                  <a:close/>
                  <a:moveTo>
                    <a:pt x="502" y="6"/>
                  </a:moveTo>
                  <a:lnTo>
                    <a:pt x="414" y="6"/>
                  </a:lnTo>
                  <a:lnTo>
                    <a:pt x="414" y="0"/>
                  </a:lnTo>
                  <a:lnTo>
                    <a:pt x="502" y="0"/>
                  </a:lnTo>
                  <a:lnTo>
                    <a:pt x="502" y="6"/>
                  </a:lnTo>
                  <a:close/>
                  <a:moveTo>
                    <a:pt x="371" y="6"/>
                  </a:moveTo>
                  <a:lnTo>
                    <a:pt x="283" y="6"/>
                  </a:lnTo>
                  <a:lnTo>
                    <a:pt x="283" y="0"/>
                  </a:lnTo>
                  <a:lnTo>
                    <a:pt x="371" y="0"/>
                  </a:lnTo>
                  <a:lnTo>
                    <a:pt x="371" y="6"/>
                  </a:lnTo>
                  <a:close/>
                  <a:moveTo>
                    <a:pt x="239" y="6"/>
                  </a:moveTo>
                  <a:lnTo>
                    <a:pt x="151" y="6"/>
                  </a:lnTo>
                  <a:lnTo>
                    <a:pt x="151" y="0"/>
                  </a:lnTo>
                  <a:lnTo>
                    <a:pt x="239" y="0"/>
                  </a:lnTo>
                  <a:lnTo>
                    <a:pt x="239" y="6"/>
                  </a:lnTo>
                  <a:close/>
                  <a:moveTo>
                    <a:pt x="107" y="6"/>
                  </a:moveTo>
                  <a:lnTo>
                    <a:pt x="20" y="6"/>
                  </a:lnTo>
                  <a:lnTo>
                    <a:pt x="20" y="0"/>
                  </a:lnTo>
                  <a:lnTo>
                    <a:pt x="107" y="0"/>
                  </a:lnTo>
                  <a:lnTo>
                    <a:pt x="107" y="6"/>
                  </a:lnTo>
                  <a:close/>
                </a:path>
              </a:pathLst>
            </a:custGeom>
            <a:solidFill>
              <a:srgbClr val="70AD47"/>
            </a:solidFill>
            <a:ln w="0" cap="flat">
              <a:solidFill>
                <a:srgbClr val="70AD47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Rectangle 36">
              <a:extLst>
                <a:ext uri="{FF2B5EF4-FFF2-40B4-BE49-F238E27FC236}">
                  <a16:creationId xmlns:a16="http://schemas.microsoft.com/office/drawing/2014/main" id="{BB3129BB-5479-4B7C-B2D5-A138B64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932" y="3786425"/>
              <a:ext cx="452438" cy="174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Dfi</a:t>
              </a: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 SB&amp;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Rectangle 37">
              <a:extLst>
                <a:ext uri="{FF2B5EF4-FFF2-40B4-BE49-F238E27FC236}">
                  <a16:creationId xmlns:a16="http://schemas.microsoft.com/office/drawing/2014/main" id="{0CB0BF7F-7010-4748-A7DD-9789771F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56" y="3910449"/>
              <a:ext cx="506413" cy="174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Coverage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E4ABA96E-C95B-4F53-A73D-6F3AB458E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362" y="733563"/>
              <a:ext cx="1125538" cy="214313"/>
            </a:xfrm>
            <a:custGeom>
              <a:avLst/>
              <a:gdLst>
                <a:gd name="T0" fmla="*/ 0 w 709"/>
                <a:gd name="T1" fmla="*/ 134 h 135"/>
                <a:gd name="T2" fmla="*/ 109 w 709"/>
                <a:gd name="T3" fmla="*/ 1 h 135"/>
                <a:gd name="T4" fmla="*/ 709 w 709"/>
                <a:gd name="T5" fmla="*/ 0 h 135"/>
                <a:gd name="T6" fmla="*/ 709 w 709"/>
                <a:gd name="T7" fmla="*/ 135 h 135"/>
                <a:gd name="T8" fmla="*/ 0 w 709"/>
                <a:gd name="T9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9" h="135">
                  <a:moveTo>
                    <a:pt x="0" y="134"/>
                  </a:moveTo>
                  <a:lnTo>
                    <a:pt x="109" y="1"/>
                  </a:lnTo>
                  <a:lnTo>
                    <a:pt x="709" y="0"/>
                  </a:lnTo>
                  <a:lnTo>
                    <a:pt x="709" y="135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39">
              <a:extLst>
                <a:ext uri="{FF2B5EF4-FFF2-40B4-BE49-F238E27FC236}">
                  <a16:creationId xmlns:a16="http://schemas.microsoft.com/office/drawing/2014/main" id="{EB7DE545-B28F-4406-976B-D84754BA0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362" y="733563"/>
              <a:ext cx="1125538" cy="214313"/>
            </a:xfrm>
            <a:custGeom>
              <a:avLst/>
              <a:gdLst>
                <a:gd name="T0" fmla="*/ 0 w 709"/>
                <a:gd name="T1" fmla="*/ 134 h 135"/>
                <a:gd name="T2" fmla="*/ 109 w 709"/>
                <a:gd name="T3" fmla="*/ 1 h 135"/>
                <a:gd name="T4" fmla="*/ 709 w 709"/>
                <a:gd name="T5" fmla="*/ 0 h 135"/>
                <a:gd name="T6" fmla="*/ 709 w 709"/>
                <a:gd name="T7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9" h="135">
                  <a:moveTo>
                    <a:pt x="0" y="134"/>
                  </a:moveTo>
                  <a:lnTo>
                    <a:pt x="109" y="1"/>
                  </a:lnTo>
                  <a:lnTo>
                    <a:pt x="709" y="0"/>
                  </a:lnTo>
                  <a:lnTo>
                    <a:pt x="709" y="135"/>
                  </a:ln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12085E0D-3B21-41B4-BAC6-76E6BE6B2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512" y="1970226"/>
              <a:ext cx="1125538" cy="214313"/>
            </a:xfrm>
            <a:custGeom>
              <a:avLst/>
              <a:gdLst>
                <a:gd name="T0" fmla="*/ 0 w 709"/>
                <a:gd name="T1" fmla="*/ 134 h 135"/>
                <a:gd name="T2" fmla="*/ 120 w 709"/>
                <a:gd name="T3" fmla="*/ 1 h 135"/>
                <a:gd name="T4" fmla="*/ 709 w 709"/>
                <a:gd name="T5" fmla="*/ 0 h 135"/>
                <a:gd name="T6" fmla="*/ 709 w 709"/>
                <a:gd name="T7" fmla="*/ 135 h 135"/>
                <a:gd name="T8" fmla="*/ 0 w 709"/>
                <a:gd name="T9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9" h="135">
                  <a:moveTo>
                    <a:pt x="0" y="134"/>
                  </a:moveTo>
                  <a:lnTo>
                    <a:pt x="120" y="1"/>
                  </a:lnTo>
                  <a:lnTo>
                    <a:pt x="709" y="0"/>
                  </a:lnTo>
                  <a:lnTo>
                    <a:pt x="709" y="135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41">
              <a:extLst>
                <a:ext uri="{FF2B5EF4-FFF2-40B4-BE49-F238E27FC236}">
                  <a16:creationId xmlns:a16="http://schemas.microsoft.com/office/drawing/2014/main" id="{5CC9D31E-CA1A-430B-B03A-25476624F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512" y="1970226"/>
              <a:ext cx="1125538" cy="214313"/>
            </a:xfrm>
            <a:custGeom>
              <a:avLst/>
              <a:gdLst>
                <a:gd name="T0" fmla="*/ 0 w 709"/>
                <a:gd name="T1" fmla="*/ 134 h 135"/>
                <a:gd name="T2" fmla="*/ 120 w 709"/>
                <a:gd name="T3" fmla="*/ 1 h 135"/>
                <a:gd name="T4" fmla="*/ 709 w 709"/>
                <a:gd name="T5" fmla="*/ 0 h 135"/>
                <a:gd name="T6" fmla="*/ 709 w 709"/>
                <a:gd name="T7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9" h="135">
                  <a:moveTo>
                    <a:pt x="0" y="134"/>
                  </a:moveTo>
                  <a:lnTo>
                    <a:pt x="120" y="1"/>
                  </a:lnTo>
                  <a:lnTo>
                    <a:pt x="709" y="0"/>
                  </a:lnTo>
                  <a:lnTo>
                    <a:pt x="709" y="135"/>
                  </a:ln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42">
              <a:extLst>
                <a:ext uri="{FF2B5EF4-FFF2-40B4-BE49-F238E27FC236}">
                  <a16:creationId xmlns:a16="http://schemas.microsoft.com/office/drawing/2014/main" id="{90689507-3AF7-48B1-8378-63AF38C4F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325" y="2246563"/>
              <a:ext cx="1304592" cy="215900"/>
            </a:xfrm>
            <a:custGeom>
              <a:avLst/>
              <a:gdLst>
                <a:gd name="T0" fmla="*/ 0 w 781"/>
                <a:gd name="T1" fmla="*/ 134 h 136"/>
                <a:gd name="T2" fmla="*/ 106 w 781"/>
                <a:gd name="T3" fmla="*/ 2 h 136"/>
                <a:gd name="T4" fmla="*/ 781 w 781"/>
                <a:gd name="T5" fmla="*/ 0 h 136"/>
                <a:gd name="T6" fmla="*/ 781 w 781"/>
                <a:gd name="T7" fmla="*/ 136 h 136"/>
                <a:gd name="T8" fmla="*/ 0 w 781"/>
                <a:gd name="T9" fmla="*/ 134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1" h="136">
                  <a:moveTo>
                    <a:pt x="0" y="134"/>
                  </a:moveTo>
                  <a:lnTo>
                    <a:pt x="106" y="2"/>
                  </a:lnTo>
                  <a:lnTo>
                    <a:pt x="781" y="0"/>
                  </a:lnTo>
                  <a:lnTo>
                    <a:pt x="781" y="136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1200" dirty="0"/>
                <a:t>Agent #channel</a:t>
              </a:r>
            </a:p>
          </p:txBody>
        </p:sp>
        <p:sp>
          <p:nvSpPr>
            <p:cNvPr id="81" name="Freeform 43">
              <a:extLst>
                <a:ext uri="{FF2B5EF4-FFF2-40B4-BE49-F238E27FC236}">
                  <a16:creationId xmlns:a16="http://schemas.microsoft.com/office/drawing/2014/main" id="{D8B65B5B-32AD-4F71-9A2C-AAA0CF46C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325" y="2251213"/>
              <a:ext cx="1296239" cy="215900"/>
            </a:xfrm>
            <a:custGeom>
              <a:avLst/>
              <a:gdLst>
                <a:gd name="T0" fmla="*/ 0 w 781"/>
                <a:gd name="T1" fmla="*/ 134 h 136"/>
                <a:gd name="T2" fmla="*/ 106 w 781"/>
                <a:gd name="T3" fmla="*/ 2 h 136"/>
                <a:gd name="T4" fmla="*/ 781 w 781"/>
                <a:gd name="T5" fmla="*/ 0 h 136"/>
                <a:gd name="T6" fmla="*/ 781 w 781"/>
                <a:gd name="T7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1" h="136">
                  <a:moveTo>
                    <a:pt x="0" y="134"/>
                  </a:moveTo>
                  <a:lnTo>
                    <a:pt x="106" y="2"/>
                  </a:lnTo>
                  <a:lnTo>
                    <a:pt x="781" y="0"/>
                  </a:lnTo>
                  <a:lnTo>
                    <a:pt x="781" y="136"/>
                  </a:ln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Rectangle 44">
              <a:extLst>
                <a:ext uri="{FF2B5EF4-FFF2-40B4-BE49-F238E27FC236}">
                  <a16:creationId xmlns:a16="http://schemas.microsoft.com/office/drawing/2014/main" id="{A488B6F2-E9FA-48B3-997D-10C44C619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212" y="1582876"/>
              <a:ext cx="736600" cy="322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Rectangle 45">
              <a:extLst>
                <a:ext uri="{FF2B5EF4-FFF2-40B4-BE49-F238E27FC236}">
                  <a16:creationId xmlns:a16="http://schemas.microsoft.com/office/drawing/2014/main" id="{998426C7-6CBE-4882-BB46-583D8386A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212" y="1582876"/>
              <a:ext cx="736600" cy="322263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Rectangle 46">
              <a:extLst>
                <a:ext uri="{FF2B5EF4-FFF2-40B4-BE49-F238E27FC236}">
                  <a16:creationId xmlns:a16="http://schemas.microsoft.com/office/drawing/2014/main" id="{14A66048-0A74-45FE-B92C-4174E1D2E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7637" y="1611451"/>
              <a:ext cx="736600" cy="322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Rectangle 47">
              <a:extLst>
                <a:ext uri="{FF2B5EF4-FFF2-40B4-BE49-F238E27FC236}">
                  <a16:creationId xmlns:a16="http://schemas.microsoft.com/office/drawing/2014/main" id="{128D4F23-8B78-491F-8E60-6FD8612D3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7637" y="1611451"/>
              <a:ext cx="736600" cy="322263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Rectangle 48">
              <a:extLst>
                <a:ext uri="{FF2B5EF4-FFF2-40B4-BE49-F238E27FC236}">
                  <a16:creationId xmlns:a16="http://schemas.microsoft.com/office/drawing/2014/main" id="{D341AAE0-5676-4F9C-B36B-1BB5DBC8A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0650" y="1638438"/>
              <a:ext cx="736600" cy="322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Rectangle 49">
              <a:extLst>
                <a:ext uri="{FF2B5EF4-FFF2-40B4-BE49-F238E27FC236}">
                  <a16:creationId xmlns:a16="http://schemas.microsoft.com/office/drawing/2014/main" id="{F3C00C78-969B-4955-B3BA-FD6373F2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0650" y="1638438"/>
              <a:ext cx="736600" cy="322263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Rectangle 50">
              <a:extLst>
                <a:ext uri="{FF2B5EF4-FFF2-40B4-BE49-F238E27FC236}">
                  <a16:creationId xmlns:a16="http://schemas.microsoft.com/office/drawing/2014/main" id="{707A4364-A6C8-44BA-A12C-9669A95D0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3662" y="1667013"/>
              <a:ext cx="736600" cy="322263"/>
            </a:xfrm>
            <a:prstGeom prst="rect">
              <a:avLst/>
            </a:prstGeom>
            <a:solidFill>
              <a:srgbClr val="C5E0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Rectangle 51">
              <a:extLst>
                <a:ext uri="{FF2B5EF4-FFF2-40B4-BE49-F238E27FC236}">
                  <a16:creationId xmlns:a16="http://schemas.microsoft.com/office/drawing/2014/main" id="{5B253DCD-EF06-4F1E-9967-7139E5F49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3662" y="1667013"/>
              <a:ext cx="736600" cy="322263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Rectangle 52">
              <a:extLst>
                <a:ext uri="{FF2B5EF4-FFF2-40B4-BE49-F238E27FC236}">
                  <a16:creationId xmlns:a16="http://schemas.microsoft.com/office/drawing/2014/main" id="{B91CB25E-9FC9-4C10-BAE8-D64C23F5B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6225" y="1752738"/>
              <a:ext cx="444500" cy="174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dfi_seqs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1" name="Rectangle 53">
              <a:extLst>
                <a:ext uri="{FF2B5EF4-FFF2-40B4-BE49-F238E27FC236}">
                  <a16:creationId xmlns:a16="http://schemas.microsoft.com/office/drawing/2014/main" id="{8B223CFB-E332-4D5C-95BE-D85B38C71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937" y="1576526"/>
              <a:ext cx="736600" cy="322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Rectangle 54">
              <a:extLst>
                <a:ext uri="{FF2B5EF4-FFF2-40B4-BE49-F238E27FC236}">
                  <a16:creationId xmlns:a16="http://schemas.microsoft.com/office/drawing/2014/main" id="{042EBDB6-1D89-407B-A6F4-3B7067CE6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937" y="1576526"/>
              <a:ext cx="736600" cy="322263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Rectangle 55">
              <a:extLst>
                <a:ext uri="{FF2B5EF4-FFF2-40B4-BE49-F238E27FC236}">
                  <a16:creationId xmlns:a16="http://schemas.microsoft.com/office/drawing/2014/main" id="{C12C51E6-F6B8-4709-84C1-6456807E2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362" y="1603513"/>
              <a:ext cx="736600" cy="323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Rectangle 56">
              <a:extLst>
                <a:ext uri="{FF2B5EF4-FFF2-40B4-BE49-F238E27FC236}">
                  <a16:creationId xmlns:a16="http://schemas.microsoft.com/office/drawing/2014/main" id="{792D3D25-ADA2-458A-AE8D-EF20F219B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362" y="1603513"/>
              <a:ext cx="736600" cy="323850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AAB3EAC8-973D-4101-AAA2-858A136A3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8375" y="1632088"/>
              <a:ext cx="736600" cy="3222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Rectangle 58">
              <a:extLst>
                <a:ext uri="{FF2B5EF4-FFF2-40B4-BE49-F238E27FC236}">
                  <a16:creationId xmlns:a16="http://schemas.microsoft.com/office/drawing/2014/main" id="{84B8BAE1-EDEA-48CC-9FD1-0861BF1FB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8375" y="1632088"/>
              <a:ext cx="736600" cy="322263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Rectangle 59">
              <a:extLst>
                <a:ext uri="{FF2B5EF4-FFF2-40B4-BE49-F238E27FC236}">
                  <a16:creationId xmlns:a16="http://schemas.microsoft.com/office/drawing/2014/main" id="{1CAB854B-78B7-4220-82BB-9F70DF54E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9800" y="1659076"/>
              <a:ext cx="736600" cy="323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Rectangle 60">
              <a:extLst>
                <a:ext uri="{FF2B5EF4-FFF2-40B4-BE49-F238E27FC236}">
                  <a16:creationId xmlns:a16="http://schemas.microsoft.com/office/drawing/2014/main" id="{791E55E8-80CE-456D-8097-8E96816E2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9800" y="1659076"/>
              <a:ext cx="736600" cy="323850"/>
            </a:xfrm>
            <a:prstGeom prst="rect">
              <a:avLst/>
            </a:prstGeom>
            <a:noFill/>
            <a:ln w="158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Rectangle 61">
              <a:extLst>
                <a:ext uri="{FF2B5EF4-FFF2-40B4-BE49-F238E27FC236}">
                  <a16:creationId xmlns:a16="http://schemas.microsoft.com/office/drawing/2014/main" id="{CE465805-1BDF-4948-97B1-A607B2F53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675" y="1760676"/>
              <a:ext cx="557205" cy="117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LPDDR6 seqs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Rectangle 62">
              <a:extLst>
                <a:ext uri="{FF2B5EF4-FFF2-40B4-BE49-F238E27FC236}">
                  <a16:creationId xmlns:a16="http://schemas.microsoft.com/office/drawing/2014/main" id="{05CAA3B5-4546-4578-A290-29B91CC1B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6450" y="2559188"/>
              <a:ext cx="1127125" cy="1088735"/>
            </a:xfrm>
            <a:prstGeom prst="rect">
              <a:avLst/>
            </a:prstGeom>
            <a:solidFill>
              <a:srgbClr val="90AADB"/>
            </a:solidFill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1" name="Rectangle 63">
              <a:extLst>
                <a:ext uri="{FF2B5EF4-FFF2-40B4-BE49-F238E27FC236}">
                  <a16:creationId xmlns:a16="http://schemas.microsoft.com/office/drawing/2014/main" id="{6CA1AB77-0DF3-422C-B699-A6E354D4E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438" y="3377845"/>
              <a:ext cx="720174" cy="131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900" dirty="0">
                  <a:solidFill>
                    <a:srgbClr val="000000"/>
                  </a:solidFill>
                  <a:latin typeface="Corbel" panose="020B0503020204020204" pitchFamily="34" charset="0"/>
                </a:rPr>
                <a:t>LP6</a:t>
              </a: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-DFI _driver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" name="Rectangle 64">
              <a:extLst>
                <a:ext uri="{FF2B5EF4-FFF2-40B4-BE49-F238E27FC236}">
                  <a16:creationId xmlns:a16="http://schemas.microsoft.com/office/drawing/2014/main" id="{DEDE93D9-B01D-40C1-BBF3-BE356D682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543" y="3690919"/>
              <a:ext cx="1155700" cy="1362075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Rectangle 65">
              <a:extLst>
                <a:ext uri="{FF2B5EF4-FFF2-40B4-BE49-F238E27FC236}">
                  <a16:creationId xmlns:a16="http://schemas.microsoft.com/office/drawing/2014/main" id="{2613595B-FD18-4A9A-BA71-F84DC70BD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6155" y="4817646"/>
              <a:ext cx="943677" cy="146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000" dirty="0">
                  <a:solidFill>
                    <a:srgbClr val="000000"/>
                  </a:solidFill>
                  <a:latin typeface="Corbel" panose="020B0503020204020204" pitchFamily="34" charset="0"/>
                </a:rPr>
                <a:t>LPDDR6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 _monitor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" name="Rectangle 66">
              <a:extLst>
                <a:ext uri="{FF2B5EF4-FFF2-40B4-BE49-F238E27FC236}">
                  <a16:creationId xmlns:a16="http://schemas.microsoft.com/office/drawing/2014/main" id="{485EB6C0-6E7E-4ECE-99AA-7B3B90A3F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3316" y="1182541"/>
              <a:ext cx="63" cy="263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" name="Rectangle 67">
              <a:extLst>
                <a:ext uri="{FF2B5EF4-FFF2-40B4-BE49-F238E27FC236}">
                  <a16:creationId xmlns:a16="http://schemas.microsoft.com/office/drawing/2014/main" id="{184699EE-DBCC-48DF-9524-07F71713C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150" y="2648088"/>
              <a:ext cx="736600" cy="6445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Rectangle 68">
              <a:extLst>
                <a:ext uri="{FF2B5EF4-FFF2-40B4-BE49-F238E27FC236}">
                  <a16:creationId xmlns:a16="http://schemas.microsoft.com/office/drawing/2014/main" id="{4803A553-61CD-489E-9164-6B5A729A9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150" y="2648088"/>
              <a:ext cx="736600" cy="644525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Rectangle 69">
              <a:extLst>
                <a:ext uri="{FF2B5EF4-FFF2-40B4-BE49-F238E27FC236}">
                  <a16:creationId xmlns:a16="http://schemas.microsoft.com/office/drawing/2014/main" id="{2FC20586-B43C-434B-B2DD-8409ADC51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2625" y="2898913"/>
              <a:ext cx="558800" cy="174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Sequencer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8" name="Rectangle 70">
              <a:extLst>
                <a:ext uri="{FF2B5EF4-FFF2-40B4-BE49-F238E27FC236}">
                  <a16:creationId xmlns:a16="http://schemas.microsoft.com/office/drawing/2014/main" id="{14B6EE3E-8323-46EA-9AA4-A27F4C4FA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912" y="1984513"/>
              <a:ext cx="758825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uvm_env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" name="Rectangle 71">
              <a:extLst>
                <a:ext uri="{FF2B5EF4-FFF2-40B4-BE49-F238E27FC236}">
                  <a16:creationId xmlns:a16="http://schemas.microsoft.com/office/drawing/2014/main" id="{F396F479-4DBD-4930-B654-7742DF65F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416" y="758919"/>
              <a:ext cx="776288" cy="27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uvm_test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" name="Rectangle 81">
              <a:extLst>
                <a:ext uri="{FF2B5EF4-FFF2-40B4-BE49-F238E27FC236}">
                  <a16:creationId xmlns:a16="http://schemas.microsoft.com/office/drawing/2014/main" id="{D4567B69-7E76-4535-A127-9B6F92E62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467" y="2625082"/>
              <a:ext cx="895571" cy="384969"/>
            </a:xfrm>
            <a:prstGeom prst="rect">
              <a:avLst/>
            </a:prstGeom>
            <a:solidFill>
              <a:srgbClr val="C5E0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Rectangle 82">
              <a:extLst>
                <a:ext uri="{FF2B5EF4-FFF2-40B4-BE49-F238E27FC236}">
                  <a16:creationId xmlns:a16="http://schemas.microsoft.com/office/drawing/2014/main" id="{94C738BF-B5E4-4C61-9EC3-247B01061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929" y="2621381"/>
              <a:ext cx="915984" cy="384969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Rectangle 83">
              <a:extLst>
                <a:ext uri="{FF2B5EF4-FFF2-40B4-BE49-F238E27FC236}">
                  <a16:creationId xmlns:a16="http://schemas.microsoft.com/office/drawing/2014/main" id="{3BA5B222-D970-4047-84F5-180B1787D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408" y="2661863"/>
              <a:ext cx="848261" cy="234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800" dirty="0">
                  <a:solidFill>
                    <a:srgbClr val="000000"/>
                  </a:solidFill>
                  <a:latin typeface="Calibri" panose="020F0502020204030204" pitchFamily="34" charset="0"/>
                </a:rPr>
                <a:t>mem</a:t>
              </a: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-driver base code </a:t>
              </a:r>
              <a:endPara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2" name="Rectangle 84">
              <a:extLst>
                <a:ext uri="{FF2B5EF4-FFF2-40B4-BE49-F238E27FC236}">
                  <a16:creationId xmlns:a16="http://schemas.microsoft.com/office/drawing/2014/main" id="{10A795D6-121E-4C49-9284-35CA3BD2C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3426" y="2810294"/>
              <a:ext cx="44267" cy="160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6" name="Rectangle 88">
              <a:extLst>
                <a:ext uri="{FF2B5EF4-FFF2-40B4-BE49-F238E27FC236}">
                  <a16:creationId xmlns:a16="http://schemas.microsoft.com/office/drawing/2014/main" id="{8CA113CD-69A2-4AC6-93EE-AAE76F10F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8905" y="3815352"/>
              <a:ext cx="946668" cy="463896"/>
            </a:xfrm>
            <a:prstGeom prst="rect">
              <a:avLst/>
            </a:prstGeom>
            <a:solidFill>
              <a:srgbClr val="90AA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128" name="Rectangle 90">
              <a:extLst>
                <a:ext uri="{FF2B5EF4-FFF2-40B4-BE49-F238E27FC236}">
                  <a16:creationId xmlns:a16="http://schemas.microsoft.com/office/drawing/2014/main" id="{0A550F5F-74B8-455D-B535-685AA5F5E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833" y="3831617"/>
              <a:ext cx="904116" cy="263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Monitor&amp;Translate</a:t>
              </a: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DFI interface  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4" name="Freeform 96">
              <a:extLst>
                <a:ext uri="{FF2B5EF4-FFF2-40B4-BE49-F238E27FC236}">
                  <a16:creationId xmlns:a16="http://schemas.microsoft.com/office/drawing/2014/main" id="{7847580D-F299-4899-9631-0AB9DD96C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9780" y="4391581"/>
              <a:ext cx="82550" cy="82550"/>
            </a:xfrm>
            <a:custGeom>
              <a:avLst/>
              <a:gdLst>
                <a:gd name="T0" fmla="*/ 52 w 52"/>
                <a:gd name="T1" fmla="*/ 52 h 52"/>
                <a:gd name="T2" fmla="*/ 0 w 52"/>
                <a:gd name="T3" fmla="*/ 26 h 52"/>
                <a:gd name="T4" fmla="*/ 52 w 52"/>
                <a:gd name="T5" fmla="*/ 0 h 52"/>
                <a:gd name="T6" fmla="*/ 52 w 52"/>
                <a:gd name="T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52">
                  <a:moveTo>
                    <a:pt x="52" y="52"/>
                  </a:moveTo>
                  <a:lnTo>
                    <a:pt x="0" y="26"/>
                  </a:lnTo>
                  <a:lnTo>
                    <a:pt x="52" y="0"/>
                  </a:lnTo>
                  <a:lnTo>
                    <a:pt x="52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Line 101">
              <a:extLst>
                <a:ext uri="{FF2B5EF4-FFF2-40B4-BE49-F238E27FC236}">
                  <a16:creationId xmlns:a16="http://schemas.microsoft.com/office/drawing/2014/main" id="{C5153E8D-706C-4F9F-835F-B00010CDE5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07335" y="4894401"/>
              <a:ext cx="193385" cy="4763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02">
              <a:extLst>
                <a:ext uri="{FF2B5EF4-FFF2-40B4-BE49-F238E27FC236}">
                  <a16:creationId xmlns:a16="http://schemas.microsoft.com/office/drawing/2014/main" id="{52DD6F04-0F30-4D91-AA20-BFC7C896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312" y="4853126"/>
              <a:ext cx="82550" cy="82550"/>
            </a:xfrm>
            <a:custGeom>
              <a:avLst/>
              <a:gdLst>
                <a:gd name="T0" fmla="*/ 52 w 52"/>
                <a:gd name="T1" fmla="*/ 52 h 52"/>
                <a:gd name="T2" fmla="*/ 0 w 52"/>
                <a:gd name="T3" fmla="*/ 26 h 52"/>
                <a:gd name="T4" fmla="*/ 52 w 52"/>
                <a:gd name="T5" fmla="*/ 0 h 52"/>
                <a:gd name="T6" fmla="*/ 52 w 52"/>
                <a:gd name="T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52">
                  <a:moveTo>
                    <a:pt x="52" y="52"/>
                  </a:moveTo>
                  <a:lnTo>
                    <a:pt x="0" y="26"/>
                  </a:lnTo>
                  <a:lnTo>
                    <a:pt x="52" y="0"/>
                  </a:lnTo>
                  <a:lnTo>
                    <a:pt x="52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Line 105">
              <a:extLst>
                <a:ext uri="{FF2B5EF4-FFF2-40B4-BE49-F238E27FC236}">
                  <a16:creationId xmlns:a16="http://schemas.microsoft.com/office/drawing/2014/main" id="{1835F845-A173-4CC7-A79D-E9576356C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1575" y="2054363"/>
              <a:ext cx="0" cy="59372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06">
              <a:extLst>
                <a:ext uri="{FF2B5EF4-FFF2-40B4-BE49-F238E27FC236}">
                  <a16:creationId xmlns:a16="http://schemas.microsoft.com/office/drawing/2014/main" id="{BB688DA9-188E-416B-9753-0E952F694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300" y="1982926"/>
              <a:ext cx="82550" cy="80963"/>
            </a:xfrm>
            <a:custGeom>
              <a:avLst/>
              <a:gdLst>
                <a:gd name="T0" fmla="*/ 0 w 52"/>
                <a:gd name="T1" fmla="*/ 51 h 51"/>
                <a:gd name="T2" fmla="*/ 26 w 52"/>
                <a:gd name="T3" fmla="*/ 0 h 51"/>
                <a:gd name="T4" fmla="*/ 52 w 52"/>
                <a:gd name="T5" fmla="*/ 51 h 51"/>
                <a:gd name="T6" fmla="*/ 0 w 52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51">
                  <a:moveTo>
                    <a:pt x="0" y="51"/>
                  </a:moveTo>
                  <a:lnTo>
                    <a:pt x="26" y="0"/>
                  </a:lnTo>
                  <a:lnTo>
                    <a:pt x="52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Line 107">
              <a:extLst>
                <a:ext uri="{FF2B5EF4-FFF2-40B4-BE49-F238E27FC236}">
                  <a16:creationId xmlns:a16="http://schemas.microsoft.com/office/drawing/2014/main" id="{66411D63-48BF-452C-B04F-009DABDE39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6912" y="2060713"/>
              <a:ext cx="0" cy="587375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08">
              <a:extLst>
                <a:ext uri="{FF2B5EF4-FFF2-40B4-BE49-F238E27FC236}">
                  <a16:creationId xmlns:a16="http://schemas.microsoft.com/office/drawing/2014/main" id="{50726C37-B860-4772-BD58-F9844C13C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225" y="1989276"/>
              <a:ext cx="80963" cy="80963"/>
            </a:xfrm>
            <a:custGeom>
              <a:avLst/>
              <a:gdLst>
                <a:gd name="T0" fmla="*/ 0 w 51"/>
                <a:gd name="T1" fmla="*/ 51 h 51"/>
                <a:gd name="T2" fmla="*/ 25 w 51"/>
                <a:gd name="T3" fmla="*/ 0 h 51"/>
                <a:gd name="T4" fmla="*/ 51 w 51"/>
                <a:gd name="T5" fmla="*/ 51 h 51"/>
                <a:gd name="T6" fmla="*/ 0 w 51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51">
                  <a:moveTo>
                    <a:pt x="0" y="51"/>
                  </a:moveTo>
                  <a:lnTo>
                    <a:pt x="25" y="0"/>
                  </a:lnTo>
                  <a:lnTo>
                    <a:pt x="51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Line 109">
              <a:extLst>
                <a:ext uri="{FF2B5EF4-FFF2-40B4-BE49-F238E27FC236}">
                  <a16:creationId xmlns:a16="http://schemas.microsoft.com/office/drawing/2014/main" id="{21CFE225-875E-49E8-91DE-1FB50225C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1750" y="2938601"/>
              <a:ext cx="703263" cy="0"/>
            </a:xfrm>
            <a:prstGeom prst="line">
              <a:avLst/>
            </a:pr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10">
              <a:extLst>
                <a:ext uri="{FF2B5EF4-FFF2-40B4-BE49-F238E27FC236}">
                  <a16:creationId xmlns:a16="http://schemas.microsoft.com/office/drawing/2014/main" id="{2FCFB817-980A-41A5-8003-EAD07ED9B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487" y="2897326"/>
              <a:ext cx="80963" cy="82550"/>
            </a:xfrm>
            <a:custGeom>
              <a:avLst/>
              <a:gdLst>
                <a:gd name="T0" fmla="*/ 0 w 51"/>
                <a:gd name="T1" fmla="*/ 0 h 52"/>
                <a:gd name="T2" fmla="*/ 51 w 51"/>
                <a:gd name="T3" fmla="*/ 26 h 52"/>
                <a:gd name="T4" fmla="*/ 0 w 51"/>
                <a:gd name="T5" fmla="*/ 52 h 52"/>
                <a:gd name="T6" fmla="*/ 0 w 51"/>
                <a:gd name="T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52">
                  <a:moveTo>
                    <a:pt x="0" y="0"/>
                  </a:moveTo>
                  <a:lnTo>
                    <a:pt x="51" y="26"/>
                  </a:lnTo>
                  <a:lnTo>
                    <a:pt x="0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Rectangle 111">
              <a:extLst>
                <a:ext uri="{FF2B5EF4-FFF2-40B4-BE49-F238E27FC236}">
                  <a16:creationId xmlns:a16="http://schemas.microsoft.com/office/drawing/2014/main" id="{0377CF20-B970-4628-B616-EB31D9106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612" y="2854463"/>
              <a:ext cx="180975" cy="168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Rectangle 112">
              <a:extLst>
                <a:ext uri="{FF2B5EF4-FFF2-40B4-BE49-F238E27FC236}">
                  <a16:creationId xmlns:a16="http://schemas.microsoft.com/office/drawing/2014/main" id="{5FBBCFA3-69FC-4435-BD14-C1A9EC3E0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3375" y="2854463"/>
              <a:ext cx="252413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txn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7" name="Rectangle 119">
              <a:extLst>
                <a:ext uri="{FF2B5EF4-FFF2-40B4-BE49-F238E27FC236}">
                  <a16:creationId xmlns:a16="http://schemas.microsoft.com/office/drawing/2014/main" id="{A6CA96CF-4436-496C-A9BD-C2A3945A7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387" y="2282963"/>
              <a:ext cx="946150" cy="781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8" name="Rectangle 120">
              <a:extLst>
                <a:ext uri="{FF2B5EF4-FFF2-40B4-BE49-F238E27FC236}">
                  <a16:creationId xmlns:a16="http://schemas.microsoft.com/office/drawing/2014/main" id="{CF434FC5-5D88-4503-A96F-A77661124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387" y="2282963"/>
              <a:ext cx="946150" cy="781050"/>
            </a:xfrm>
            <a:prstGeom prst="rect">
              <a:avLst/>
            </a:prstGeom>
            <a:noFill/>
            <a:ln w="1588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Rectangle 121">
              <a:extLst>
                <a:ext uri="{FF2B5EF4-FFF2-40B4-BE49-F238E27FC236}">
                  <a16:creationId xmlns:a16="http://schemas.microsoft.com/office/drawing/2014/main" id="{707D18A7-D514-4E89-93AB-D5DEFBAFC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00" y="2611576"/>
              <a:ext cx="630153" cy="117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800" dirty="0">
                  <a:solidFill>
                    <a:srgbClr val="000000"/>
                  </a:solidFill>
                  <a:latin typeface="Corbel" panose="020B0503020204020204" pitchFamily="34" charset="0"/>
                </a:rPr>
                <a:t>LPDDR6</a:t>
              </a: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rbel" panose="020B0503020204020204" pitchFamily="34" charset="0"/>
                </a:rPr>
                <a:t> config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0" name="Rectangle 122">
              <a:extLst>
                <a:ext uri="{FF2B5EF4-FFF2-40B4-BE49-F238E27FC236}">
                  <a16:creationId xmlns:a16="http://schemas.microsoft.com/office/drawing/2014/main" id="{5FE55B46-E54C-4E1D-A75A-A2654D17C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262" y="2763976"/>
              <a:ext cx="549275" cy="412750"/>
            </a:xfrm>
            <a:prstGeom prst="rect">
              <a:avLst/>
            </a:prstGeom>
            <a:solidFill>
              <a:srgbClr val="9CC3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Rectangle 123">
              <a:extLst>
                <a:ext uri="{FF2B5EF4-FFF2-40B4-BE49-F238E27FC236}">
                  <a16:creationId xmlns:a16="http://schemas.microsoft.com/office/drawing/2014/main" id="{583A6D66-619C-4C9F-9DD0-65B1AFDD6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262" y="2763976"/>
              <a:ext cx="549275" cy="412750"/>
            </a:xfrm>
            <a:prstGeom prst="rect">
              <a:avLst/>
            </a:pr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Rectangle 124">
              <a:extLst>
                <a:ext uri="{FF2B5EF4-FFF2-40B4-BE49-F238E27FC236}">
                  <a16:creationId xmlns:a16="http://schemas.microsoft.com/office/drawing/2014/main" id="{BDA51121-FEE4-48EA-B760-A5149488D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000" y="2800488"/>
              <a:ext cx="287338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DFI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3" name="Rectangle 125">
              <a:extLst>
                <a:ext uri="{FF2B5EF4-FFF2-40B4-BE49-F238E27FC236}">
                  <a16:creationId xmlns:a16="http://schemas.microsoft.com/office/drawing/2014/main" id="{3B99CB42-4C22-4AE8-98B8-E805F5970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037" y="2970351"/>
              <a:ext cx="446088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config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8" name="Rectangle 130">
              <a:extLst>
                <a:ext uri="{FF2B5EF4-FFF2-40B4-BE49-F238E27FC236}">
                  <a16:creationId xmlns:a16="http://schemas.microsoft.com/office/drawing/2014/main" id="{F539C998-80C2-4751-BD9D-E20452525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226" y="6048399"/>
              <a:ext cx="327354" cy="188913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Rectangle 132">
              <a:extLst>
                <a:ext uri="{FF2B5EF4-FFF2-40B4-BE49-F238E27FC236}">
                  <a16:creationId xmlns:a16="http://schemas.microsoft.com/office/drawing/2014/main" id="{246AE720-25E9-4057-93C2-C4978720A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613" y="5518288"/>
              <a:ext cx="63" cy="35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1" name="Rectangle 133">
              <a:extLst>
                <a:ext uri="{FF2B5EF4-FFF2-40B4-BE49-F238E27FC236}">
                  <a16:creationId xmlns:a16="http://schemas.microsoft.com/office/drawing/2014/main" id="{ADD4A6BB-4B96-4DFB-A9EE-83250A81A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613" y="5772507"/>
              <a:ext cx="63" cy="146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2" name="Rectangle 134">
              <a:extLst>
                <a:ext uri="{FF2B5EF4-FFF2-40B4-BE49-F238E27FC236}">
                  <a16:creationId xmlns:a16="http://schemas.microsoft.com/office/drawing/2014/main" id="{3F43AB5F-CC93-4F68-AFD8-A5874D1D2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304" y="6047420"/>
              <a:ext cx="63" cy="35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6" name="Rectangle 65">
            <a:extLst>
              <a:ext uri="{FF2B5EF4-FFF2-40B4-BE49-F238E27FC236}">
                <a16:creationId xmlns:a16="http://schemas.microsoft.com/office/drawing/2014/main" id="{5507CFFA-CF3A-23EB-2114-19CC8F4D6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360" y="4839544"/>
            <a:ext cx="107401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900" dirty="0">
                <a:solidFill>
                  <a:srgbClr val="000000"/>
                </a:solidFill>
                <a:latin typeface="Corbel" panose="020B0503020204020204" pitchFamily="34" charset="0"/>
              </a:rPr>
              <a:t>LPDDR6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-DFI _monitor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Line 109">
            <a:extLst>
              <a:ext uri="{FF2B5EF4-FFF2-40B4-BE49-F238E27FC236}">
                <a16:creationId xmlns:a16="http://schemas.microsoft.com/office/drawing/2014/main" id="{243DD5FF-E512-014F-942E-4634E9162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2107" y="4541625"/>
            <a:ext cx="483671" cy="0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112">
            <a:extLst>
              <a:ext uri="{FF2B5EF4-FFF2-40B4-BE49-F238E27FC236}">
                <a16:creationId xmlns:a16="http://schemas.microsoft.com/office/drawing/2014/main" id="{EAB8CBDD-E768-1815-CF38-11ECCEC9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077" y="4407755"/>
            <a:ext cx="4831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Mem-IF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txn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Line 101">
            <a:extLst>
              <a:ext uri="{FF2B5EF4-FFF2-40B4-BE49-F238E27FC236}">
                <a16:creationId xmlns:a16="http://schemas.microsoft.com/office/drawing/2014/main" id="{4D978427-51ED-7DF9-7F44-9B713DFE8F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6259" y="4123656"/>
            <a:ext cx="1847217" cy="8751"/>
          </a:xfrm>
          <a:prstGeom prst="line">
            <a:avLst/>
          </a:prstGeom>
          <a:noFill/>
          <a:ln w="11113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02">
            <a:extLst>
              <a:ext uri="{FF2B5EF4-FFF2-40B4-BE49-F238E27FC236}">
                <a16:creationId xmlns:a16="http://schemas.microsoft.com/office/drawing/2014/main" id="{C2A842B9-19C8-48E0-45EF-8F69B700657C}"/>
              </a:ext>
            </a:extLst>
          </p:cNvPr>
          <p:cNvSpPr>
            <a:spLocks/>
          </p:cNvSpPr>
          <p:nvPr/>
        </p:nvSpPr>
        <p:spPr bwMode="auto">
          <a:xfrm flipV="1">
            <a:off x="1453320" y="4077242"/>
            <a:ext cx="45719" cy="117639"/>
          </a:xfrm>
          <a:custGeom>
            <a:avLst/>
            <a:gdLst>
              <a:gd name="T0" fmla="*/ 52 w 52"/>
              <a:gd name="T1" fmla="*/ 52 h 52"/>
              <a:gd name="T2" fmla="*/ 0 w 52"/>
              <a:gd name="T3" fmla="*/ 26 h 52"/>
              <a:gd name="T4" fmla="*/ 52 w 52"/>
              <a:gd name="T5" fmla="*/ 0 h 52"/>
              <a:gd name="T6" fmla="*/ 52 w 52"/>
              <a:gd name="T7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52">
                <a:moveTo>
                  <a:pt x="52" y="52"/>
                </a:moveTo>
                <a:lnTo>
                  <a:pt x="0" y="26"/>
                </a:lnTo>
                <a:lnTo>
                  <a:pt x="52" y="0"/>
                </a:lnTo>
                <a:lnTo>
                  <a:pt x="52" y="5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12">
            <a:extLst>
              <a:ext uri="{FF2B5EF4-FFF2-40B4-BE49-F238E27FC236}">
                <a16:creationId xmlns:a16="http://schemas.microsoft.com/office/drawing/2014/main" id="{3559AE36-F450-9C4C-3E05-7D12FD9E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237" y="4102892"/>
            <a:ext cx="260691" cy="228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txn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12">
            <a:extLst>
              <a:ext uri="{FF2B5EF4-FFF2-40B4-BE49-F238E27FC236}">
                <a16:creationId xmlns:a16="http://schemas.microsoft.com/office/drawing/2014/main" id="{BABAD871-8ADD-B768-70CC-16D9C4EEA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550" y="4838723"/>
            <a:ext cx="260691" cy="228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txn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7E21420D-5E25-7CE3-C9D2-6C7676FF643F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4551833" y="4611740"/>
            <a:ext cx="1732554" cy="28653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5FE34C3-F69C-2905-F595-1B0B8B458E6F}"/>
              </a:ext>
            </a:extLst>
          </p:cNvPr>
          <p:cNvSpPr txBox="1"/>
          <p:nvPr/>
        </p:nvSpPr>
        <p:spPr>
          <a:xfrm>
            <a:off x="6284320" y="2544665"/>
            <a:ext cx="10603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Driver BFM #channel</a:t>
            </a:r>
          </a:p>
        </p:txBody>
      </p:sp>
      <p:sp>
        <p:nvSpPr>
          <p:cNvPr id="26" name="Rectangle 65">
            <a:extLst>
              <a:ext uri="{FF2B5EF4-FFF2-40B4-BE49-F238E27FC236}">
                <a16:creationId xmlns:a16="http://schemas.microsoft.com/office/drawing/2014/main" id="{6A177D28-19A7-FD3B-1E96-75CDB83F1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842" y="3393263"/>
            <a:ext cx="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0C66BE-9C31-DAB6-7E75-8EE582EA22E3}"/>
              </a:ext>
            </a:extLst>
          </p:cNvPr>
          <p:cNvCxnSpPr>
            <a:cxnSpLocks/>
            <a:endCxn id="100" idx="3"/>
          </p:cNvCxnSpPr>
          <p:nvPr/>
        </p:nvCxnSpPr>
        <p:spPr>
          <a:xfrm flipH="1">
            <a:off x="4553473" y="3154716"/>
            <a:ext cx="1730914" cy="46315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3">
            <a:extLst>
              <a:ext uri="{FF2B5EF4-FFF2-40B4-BE49-F238E27FC236}">
                <a16:creationId xmlns:a16="http://schemas.microsoft.com/office/drawing/2014/main" id="{0B04146F-733E-230A-86B5-75AA44178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90" y="4811903"/>
            <a:ext cx="749281" cy="455812"/>
          </a:xfrm>
          <a:prstGeom prst="rect">
            <a:avLst/>
          </a:prstGeom>
          <a:noFill/>
          <a:ln w="1588" cap="sq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Rectangle 37">
            <a:extLst>
              <a:ext uri="{FF2B5EF4-FFF2-40B4-BE49-F238E27FC236}">
                <a16:creationId xmlns:a16="http://schemas.microsoft.com/office/drawing/2014/main" id="{9E4F7C96-8E85-EEF3-4F7B-D5DA282F6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606" y="4909394"/>
            <a:ext cx="6308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LP6 SB (#channel)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6DC456-1123-489E-BF0C-2D4AE42ACDEC}"/>
              </a:ext>
            </a:extLst>
          </p:cNvPr>
          <p:cNvSpPr/>
          <p:nvPr/>
        </p:nvSpPr>
        <p:spPr>
          <a:xfrm>
            <a:off x="6284387" y="3990570"/>
            <a:ext cx="1069675" cy="1242339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91751D-6BFE-58F3-C869-7B16E39A3C64}"/>
              </a:ext>
            </a:extLst>
          </p:cNvPr>
          <p:cNvSpPr/>
          <p:nvPr/>
        </p:nvSpPr>
        <p:spPr>
          <a:xfrm>
            <a:off x="6293626" y="2460819"/>
            <a:ext cx="1069675" cy="1242339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928F76-F095-E33D-F47B-6D3F2FFEB1B4}"/>
              </a:ext>
            </a:extLst>
          </p:cNvPr>
          <p:cNvSpPr txBox="1"/>
          <p:nvPr/>
        </p:nvSpPr>
        <p:spPr>
          <a:xfrm>
            <a:off x="6302932" y="4131282"/>
            <a:ext cx="10603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Monitor BFM #channel</a:t>
            </a:r>
          </a:p>
        </p:txBody>
      </p:sp>
    </p:spTree>
    <p:extLst>
      <p:ext uri="{BB962C8B-B14F-4D97-AF65-F5344CB8AC3E}">
        <p14:creationId xmlns:p14="http://schemas.microsoft.com/office/powerpoint/2010/main" val="819342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711CE-07BE-8128-3697-8F8D0B26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LPDDR6 DFI UVM environment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9373-CC54-AE30-80CE-7B9CFBD19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0620759" cy="4752000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DFI driver will extend the mem base driver overwriting the main </a:t>
            </a:r>
            <a:r>
              <a:rPr lang="en-US" dirty="0" err="1"/>
              <a:t>cmd</a:t>
            </a:r>
            <a:r>
              <a:rPr lang="en-US" dirty="0"/>
              <a:t>/data driving functions (</a:t>
            </a:r>
            <a:r>
              <a:rPr lang="en-US"/>
              <a:t>similar to</a:t>
            </a:r>
            <a:r>
              <a:rPr lang="en-US" dirty="0"/>
              <a:t> the device driver 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/>
              <a:t>DFI Monitor will be written</a:t>
            </a:r>
            <a:r>
              <a:rPr lang="en-US" dirty="0"/>
              <a:t> to translate the DFI </a:t>
            </a:r>
            <a:r>
              <a:rPr lang="en-US" dirty="0" err="1"/>
              <a:t>txn</a:t>
            </a:r>
            <a:r>
              <a:rPr lang="en-US" dirty="0"/>
              <a:t> on the DFI interface to a device </a:t>
            </a:r>
            <a:r>
              <a:rPr lang="en-US" dirty="0" err="1"/>
              <a:t>txn</a:t>
            </a:r>
            <a:r>
              <a:rPr lang="en-US" dirty="0"/>
              <a:t> that can be executed by the scoreboard </a:t>
            </a:r>
            <a:endParaRPr lang="en-US">
              <a:cs typeface="Arial"/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monitor will read from the DFI monitor instead of the device interface</a:t>
            </a:r>
            <a:endParaRPr lang="en-US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same sequences of LP6 can be reused on the UVM environment in addition to some DFI specific sequences (DFI </a:t>
            </a:r>
            <a:r>
              <a:rPr lang="en-US" dirty="0" err="1"/>
              <a:t>init</a:t>
            </a:r>
            <a:r>
              <a:rPr lang="en-US" dirty="0"/>
              <a:t>, DFI </a:t>
            </a:r>
            <a:r>
              <a:rPr lang="en-US" dirty="0" err="1"/>
              <a:t>freq</a:t>
            </a:r>
            <a:r>
              <a:rPr lang="en-US" dirty="0"/>
              <a:t> change ,….)</a:t>
            </a:r>
            <a:endParaRPr lang="en-US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environment will have number of agents equals to number of channels (2 agents in LP6)</a:t>
            </a:r>
            <a:endParaRPr lang="en-US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the efficiency mode only one agent will be active (similar to LP6 environment)</a:t>
            </a:r>
            <a:endParaRPr lang="en-US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6692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AA62-489B-48B2-B7BA-F6BCB9549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Clocking in UVM unified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B84A5-0DA1-C2EF-5839-1F8C3C683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140758" cy="4752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G7 DFI environment we have </a:t>
            </a:r>
            <a:r>
              <a:rPr lang="en-US" dirty="0" err="1"/>
              <a:t>dfi_drv_clk</a:t>
            </a:r>
            <a:r>
              <a:rPr lang="en-US" dirty="0"/>
              <a:t> (ahead from </a:t>
            </a:r>
            <a:r>
              <a:rPr lang="en-US" dirty="0" err="1"/>
              <a:t>dfi_clk</a:t>
            </a:r>
            <a:r>
              <a:rPr lang="en-US" dirty="0"/>
              <a:t> ) and </a:t>
            </a:r>
            <a:r>
              <a:rPr lang="en-US" dirty="0" err="1"/>
              <a:t>dfi_mon_clk</a:t>
            </a:r>
            <a:r>
              <a:rPr lang="en-US" dirty="0"/>
              <a:t> (delayed from </a:t>
            </a:r>
            <a:r>
              <a:rPr lang="en-US" dirty="0" err="1"/>
              <a:t>dfi_clk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LP6 environment we are using one version of </a:t>
            </a:r>
            <a:r>
              <a:rPr lang="en-US" dirty="0" err="1"/>
              <a:t>clk</a:t>
            </a:r>
            <a:r>
              <a:rPr lang="en-US" dirty="0"/>
              <a:t> on both driver and monitor (driving on the </a:t>
            </a:r>
            <a:r>
              <a:rPr lang="en-US" dirty="0" err="1"/>
              <a:t>negedge</a:t>
            </a:r>
            <a:r>
              <a:rPr lang="en-US" dirty="0"/>
              <a:t> and the monitoring on the next </a:t>
            </a:r>
            <a:r>
              <a:rPr lang="en-US" dirty="0" err="1"/>
              <a:t>posedge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using the same clocking scheme as the LP6 device environment we will have 3 main clock domains </a:t>
            </a:r>
          </a:p>
          <a:p>
            <a:pPr marL="465750" lvl="1" indent="-285750"/>
            <a:r>
              <a:rPr lang="en-US" dirty="0"/>
              <a:t>DFI clock </a:t>
            </a:r>
          </a:p>
          <a:p>
            <a:pPr marL="465750" lvl="1" indent="-285750"/>
            <a:r>
              <a:rPr lang="en-US" dirty="0" err="1"/>
              <a:t>Phy</a:t>
            </a:r>
            <a:r>
              <a:rPr lang="en-US" dirty="0"/>
              <a:t> </a:t>
            </a:r>
            <a:r>
              <a:rPr lang="en-US" dirty="0" err="1"/>
              <a:t>clk</a:t>
            </a:r>
            <a:r>
              <a:rPr lang="en-US" dirty="0"/>
              <a:t> – </a:t>
            </a:r>
            <a:r>
              <a:rPr lang="en-US" dirty="0" err="1"/>
              <a:t>cmd</a:t>
            </a:r>
            <a:r>
              <a:rPr lang="en-US" dirty="0"/>
              <a:t> </a:t>
            </a:r>
            <a:r>
              <a:rPr lang="en-US" dirty="0" err="1"/>
              <a:t>clk</a:t>
            </a:r>
            <a:r>
              <a:rPr lang="en-US" dirty="0"/>
              <a:t> </a:t>
            </a:r>
          </a:p>
          <a:p>
            <a:pPr marL="465750" lvl="1" indent="-285750"/>
            <a:r>
              <a:rPr lang="en-US" dirty="0" err="1"/>
              <a:t>Wck</a:t>
            </a:r>
            <a:r>
              <a:rPr lang="en-US" dirty="0"/>
              <a:t> </a:t>
            </a:r>
          </a:p>
          <a:p>
            <a:pPr lvl="1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The </a:t>
            </a:r>
            <a:r>
              <a:rPr lang="en-US" dirty="0" err="1"/>
              <a:t>dfi_driver</a:t>
            </a:r>
            <a:r>
              <a:rPr lang="en-US" dirty="0"/>
              <a:t> and </a:t>
            </a:r>
            <a:r>
              <a:rPr lang="en-US" dirty="0" err="1"/>
              <a:t>dfi_monitor</a:t>
            </a:r>
            <a:r>
              <a:rPr lang="en-US" dirty="0"/>
              <a:t> will be working in the </a:t>
            </a:r>
            <a:r>
              <a:rPr lang="en-US" dirty="0" err="1"/>
              <a:t>dfi_clk</a:t>
            </a:r>
            <a:r>
              <a:rPr lang="en-US" dirty="0"/>
              <a:t> domain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LP6 monitor will be working on the </a:t>
            </a:r>
            <a:r>
              <a:rPr lang="en-US" dirty="0" err="1"/>
              <a:t>phy_clk</a:t>
            </a:r>
            <a:r>
              <a:rPr lang="en-US" dirty="0"/>
              <a:t> (</a:t>
            </a:r>
            <a:r>
              <a:rPr lang="en-US" dirty="0" err="1"/>
              <a:t>cmd_clk</a:t>
            </a:r>
            <a:r>
              <a:rPr lang="en-US" dirty="0"/>
              <a:t>) domain , a transaction will be sent on every edge on this clock contains a command its data (the data is double the rate of </a:t>
            </a:r>
            <a:r>
              <a:rPr lang="en-US" dirty="0" err="1"/>
              <a:t>cmd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465750" lvl="1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4657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75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1253-70FA-55D8-D729-0E31AD7D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 in UVM unified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B8FA1-1B09-A0C3-E1B4-A87210014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150918" cy="4752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DFI driver has a queue of the command transactions sent by sequences and it uses </a:t>
            </a:r>
            <a:r>
              <a:rPr lang="en-US" dirty="0" err="1"/>
              <a:t>pop_front</a:t>
            </a:r>
            <a:r>
              <a:rPr lang="en-US" dirty="0"/>
              <a:t> function to get the next item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semaphore  will be used to lock / unlock getting the next transaction from the queue (multiple threads can call the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driver will send </a:t>
            </a:r>
            <a:r>
              <a:rPr lang="en-US" dirty="0" err="1"/>
              <a:t>cmd</a:t>
            </a:r>
            <a:r>
              <a:rPr lang="en-US" dirty="0"/>
              <a:t> and data phases on the </a:t>
            </a:r>
            <a:r>
              <a:rPr lang="en-US" dirty="0" err="1"/>
              <a:t>dfi_clk</a:t>
            </a:r>
            <a:r>
              <a:rPr lang="en-US" dirty="0"/>
              <a:t> </a:t>
            </a:r>
            <a:r>
              <a:rPr lang="en-US" dirty="0" err="1"/>
              <a:t>posedge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command transaction will contain the </a:t>
            </a:r>
            <a:r>
              <a:rPr lang="en-US" dirty="0" err="1"/>
              <a:t>cmd_type</a:t>
            </a:r>
            <a:r>
              <a:rPr lang="en-US" dirty="0"/>
              <a:t> that can be either </a:t>
            </a:r>
            <a:r>
              <a:rPr lang="en-US" dirty="0" err="1"/>
              <a:t>DFI_cmd</a:t>
            </a:r>
            <a:r>
              <a:rPr lang="en-US" dirty="0"/>
              <a:t> or LP6_cmd</a:t>
            </a:r>
          </a:p>
        </p:txBody>
      </p:sp>
    </p:spTree>
    <p:extLst>
      <p:ext uri="{BB962C8B-B14F-4D97-AF65-F5344CB8AC3E}">
        <p14:creationId xmlns:p14="http://schemas.microsoft.com/office/powerpoint/2010/main" val="591609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8D22A-2F7D-0901-CE07-FF68CCA8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in UVM unified environment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4584C-A0FB-0DE6-27D6-68AAE9FAA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0592118" cy="4752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DFI monitor will sample the </a:t>
            </a:r>
            <a:r>
              <a:rPr lang="en-US" dirty="0" err="1"/>
              <a:t>dfi</a:t>
            </a:r>
            <a:r>
              <a:rPr lang="en-US" dirty="0"/>
              <a:t> bus on the edge of DFI clock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DFI monitor send the </a:t>
            </a:r>
            <a:r>
              <a:rPr lang="en-US" dirty="0" err="1"/>
              <a:t>txn</a:t>
            </a:r>
            <a:r>
              <a:rPr lang="en-US" dirty="0"/>
              <a:t> to the device monitor on the edge of the </a:t>
            </a:r>
            <a:r>
              <a:rPr lang="en-US" dirty="0" err="1"/>
              <a:t>phy_clk</a:t>
            </a:r>
            <a:r>
              <a:rPr lang="en-US" dirty="0"/>
              <a:t> (</a:t>
            </a:r>
            <a:r>
              <a:rPr lang="en-US" dirty="0" err="1"/>
              <a:t>cmd_clk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device monitor will sample the transactions sent from the </a:t>
            </a:r>
            <a:r>
              <a:rPr lang="en-US" dirty="0" err="1"/>
              <a:t>dfi</a:t>
            </a:r>
            <a:r>
              <a:rPr lang="en-US" dirty="0"/>
              <a:t> monitor (instead of the device interface in the usual device environment)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device monitor send the transactions to the mem scoreboard for checking (similar to the usual device environment)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dfi</a:t>
            </a:r>
            <a:r>
              <a:rPr lang="en-US" dirty="0"/>
              <a:t> scoreboard checks for DFI specific functionality (like LP or DFI error)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G7 the DFI monitor send the transaction on </a:t>
            </a:r>
            <a:r>
              <a:rPr lang="en-US" dirty="0" err="1"/>
              <a:t>phy_clk</a:t>
            </a:r>
            <a:r>
              <a:rPr lang="en-US" dirty="0"/>
              <a:t> and the device monitor samples on </a:t>
            </a:r>
            <a:r>
              <a:rPr lang="en-US" dirty="0" err="1"/>
              <a:t>phy_clk_ahead</a:t>
            </a:r>
            <a:r>
              <a:rPr lang="en-US" dirty="0"/>
              <a:t> (an advance version from the same clock)</a:t>
            </a:r>
          </a:p>
        </p:txBody>
      </p:sp>
    </p:spTree>
    <p:extLst>
      <p:ext uri="{BB962C8B-B14F-4D97-AF65-F5344CB8AC3E}">
        <p14:creationId xmlns:p14="http://schemas.microsoft.com/office/powerpoint/2010/main" val="3475547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234B1-4039-19B8-005E-2FCEF237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B661B-213C-4AD3-BD96-50D158FC8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00" y="1306800"/>
            <a:ext cx="9048524" cy="4752000"/>
          </a:xfrm>
        </p:spPr>
        <p:txBody>
          <a:bodyPr/>
          <a:lstStyle/>
          <a:p>
            <a:r>
              <a:rPr lang="en-US" b="1" dirty="0"/>
              <a:t>Phase 1</a:t>
            </a:r>
          </a:p>
          <a:p>
            <a:pPr marL="465750" lvl="1" indent="-285750"/>
            <a:r>
              <a:rPr lang="en-US" sz="1400" dirty="0"/>
              <a:t>Split command and frequency ratios in common code.</a:t>
            </a:r>
          </a:p>
          <a:p>
            <a:pPr marL="645750" lvl="2" indent="-285750"/>
            <a:r>
              <a:rPr lang="en-US" sz="1400" dirty="0"/>
              <a:t>Add 1:8 data frequency ratio .</a:t>
            </a:r>
          </a:p>
          <a:p>
            <a:pPr marL="457200" lvl="2" indent="-282575">
              <a:tabLst>
                <a:tab pos="174625" algn="l"/>
              </a:tabLst>
            </a:pPr>
            <a:r>
              <a:rPr lang="en-US" sz="1400" dirty="0"/>
              <a:t>Support update interface (Frequency ratios update)</a:t>
            </a:r>
          </a:p>
          <a:p>
            <a:pPr marL="465750" lvl="1" indent="-285750"/>
            <a:r>
              <a:rPr lang="en-US" sz="1400" dirty="0"/>
              <a:t>Control Commands (No data commands).</a:t>
            </a:r>
          </a:p>
          <a:p>
            <a:pPr marL="465750" lvl="1" indent="-285750"/>
            <a:r>
              <a:rPr lang="en-US" sz="1400" dirty="0"/>
              <a:t>Read operation with all frequencies (RD_LAT=0 , Read data rotation) .</a:t>
            </a:r>
          </a:p>
          <a:p>
            <a:pPr marL="465750" lvl="1" indent="-285750"/>
            <a:r>
              <a:rPr lang="en-US" sz="1400" dirty="0"/>
              <a:t>Write operation with all frequencies.</a:t>
            </a:r>
          </a:p>
          <a:p>
            <a:pPr marL="465750" lvl="1" indent="-285750"/>
            <a:endParaRPr lang="en-US" sz="1400" dirty="0"/>
          </a:p>
          <a:p>
            <a:pPr marL="179388" lvl="1" indent="-125413">
              <a:buNone/>
            </a:pPr>
            <a:r>
              <a:rPr lang="en-US" b="1" dirty="0"/>
              <a:t>Phase 2</a:t>
            </a:r>
          </a:p>
          <a:p>
            <a:pPr marL="460375" lvl="1" indent="-285750"/>
            <a:r>
              <a:rPr lang="en-US" sz="1400" dirty="0"/>
              <a:t>Dram clock (CK) disable and enable .</a:t>
            </a:r>
          </a:p>
          <a:p>
            <a:pPr marL="460375" lvl="1" indent="-285750"/>
            <a:r>
              <a:rPr lang="en-US" sz="1400" dirty="0"/>
              <a:t>RD_LAT =1 , No Read data rotation </a:t>
            </a:r>
          </a:p>
          <a:p>
            <a:pPr marL="460375" lvl="1" indent="-285750"/>
            <a:r>
              <a:rPr lang="en-US" sz="1400" dirty="0"/>
              <a:t>Low power interface.</a:t>
            </a:r>
          </a:p>
          <a:p>
            <a:pPr marL="460375" lvl="1" indent="-285750"/>
            <a:r>
              <a:rPr lang="en-US" sz="1400" dirty="0"/>
              <a:t>Alert support .</a:t>
            </a:r>
          </a:p>
          <a:p>
            <a:pPr marL="460375" lvl="1" indent="-285750"/>
            <a:endParaRPr lang="en-US" sz="1400" dirty="0"/>
          </a:p>
          <a:p>
            <a:pPr marL="465750" lvl="1" indent="-285750"/>
            <a:endParaRPr lang="en-US" b="1" dirty="0"/>
          </a:p>
          <a:p>
            <a:pPr marL="465750" lvl="1" indent="-285750"/>
            <a:endParaRPr lang="en-US" b="1" dirty="0"/>
          </a:p>
          <a:p>
            <a:pPr marL="465750" lvl="1" indent="-285750"/>
            <a:endParaRPr lang="en-US" b="1" dirty="0"/>
          </a:p>
          <a:p>
            <a:pPr marL="465750" lvl="1" indent="-285750"/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F936D-9EC3-45D0-2B02-7D64347458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2025-11-10 | LPDDR6 DFI </a:t>
            </a:r>
            <a:r>
              <a:rPr lang="en-US" dirty="0" err="1"/>
              <a:t>Softmodel</a:t>
            </a:r>
            <a:r>
              <a:rPr lang="en-US" dirty="0"/>
              <a:t> | Siemens Digital Industries Software | Where today meets tomorrow.</a:t>
            </a:r>
          </a:p>
        </p:txBody>
      </p:sp>
    </p:spTree>
    <p:extLst>
      <p:ext uri="{BB962C8B-B14F-4D97-AF65-F5344CB8AC3E}">
        <p14:creationId xmlns:p14="http://schemas.microsoft.com/office/powerpoint/2010/main" val="2527899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9286-1451-EBAA-D230-AE6B3E306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3"/>
            <a:ext cx="9288000" cy="615553"/>
          </a:xfrm>
        </p:spPr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48FDF-96D2-2C0C-B8B9-1797103F6F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E9417-F648-AB46-D084-53DEC28915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2021 | 2025-11-10 | LPDDR6 DFI Softmodel | Siemens Digital Industries Software | Where today meets tomorrow.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022814"/>
      </p:ext>
    </p:extLst>
  </p:cSld>
  <p:clrMapOvr>
    <a:masterClrMapping/>
  </p:clrMapOvr>
</p:sld>
</file>

<file path=ppt/theme/theme1.xml><?xml version="1.0" encoding="utf-8"?>
<a:theme xmlns:a="http://schemas.openxmlformats.org/drawingml/2006/main" name="mentor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mentor theme" id="{FC29B71F-95FF-4C17-ACA9-A112937E2DBC}" vid="{919E92BA-D868-486E-8F33-631E242F7F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mentor theme</Template>
  <TotalTime>0</TotalTime>
  <Words>2269</Words>
  <Application>Microsoft Office PowerPoint</Application>
  <PresentationFormat>Widescreen</PresentationFormat>
  <Paragraphs>319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Arial</vt:lpstr>
      <vt:lpstr>Blackadder ITC</vt:lpstr>
      <vt:lpstr>Bradley Hand ITC</vt:lpstr>
      <vt:lpstr>Calibri</vt:lpstr>
      <vt:lpstr>Cambria Math</vt:lpstr>
      <vt:lpstr>Corbel</vt:lpstr>
      <vt:lpstr>Wingdings</vt:lpstr>
      <vt:lpstr>mentor theme</vt:lpstr>
      <vt:lpstr>LPDDR6 DFI Kickoff</vt:lpstr>
      <vt:lpstr>Agenda </vt:lpstr>
      <vt:lpstr>LPDDR6 DFI interface</vt:lpstr>
      <vt:lpstr>LPDDR6 DFI interface.</vt:lpstr>
      <vt:lpstr>Frequency Ratios (Cmd freq ratio , Data freq ratio)</vt:lpstr>
      <vt:lpstr>Frequency Ratios (Cmd freq ratio , Data freq ratio)</vt:lpstr>
      <vt:lpstr>Frequency Ratios (Cmd freq ratio , Data freq ratio)</vt:lpstr>
      <vt:lpstr>Frequency Ratios (Cmd freq ratio , Data freq ratio)</vt:lpstr>
      <vt:lpstr>DBI Inversion</vt:lpstr>
      <vt:lpstr>DBI Inversion</vt:lpstr>
      <vt:lpstr>Even Cycle command only</vt:lpstr>
      <vt:lpstr>Even Cycle command only</vt:lpstr>
      <vt:lpstr>Read data rotation</vt:lpstr>
      <vt:lpstr>Read Data Rotation Rules</vt:lpstr>
      <vt:lpstr>Read Data Rotation: Simple, Moderate, and Extreme</vt:lpstr>
      <vt:lpstr>LPDDR6 DFI UVM Environment</vt:lpstr>
      <vt:lpstr>UVM Unified Environment</vt:lpstr>
      <vt:lpstr>LPDDR6 DFI Architecture</vt:lpstr>
      <vt:lpstr>LPDDR6 DFI UVM environment notes</vt:lpstr>
      <vt:lpstr>Clocking in UVM unified environment</vt:lpstr>
      <vt:lpstr>Driving in UVM unified environment</vt:lpstr>
      <vt:lpstr>Monitoring in UVM unified environment </vt:lpstr>
      <vt:lpstr>Development Phases</vt:lpstr>
      <vt:lpstr>Thanks</vt:lpstr>
    </vt:vector>
  </TitlesOfParts>
  <Company>DI SW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GDDR7 Verification Kickoff</dc:title>
  <dc:creator>Sobhy, Kirolos (DI SW ICS MNA RD HAV5 SM1)</dc:creator>
  <cp:lastModifiedBy>Mohamed, Ibrahim (ext) (DI SW EDA IC MNA HAV1 HAV4 VER)</cp:lastModifiedBy>
  <cp:revision>67</cp:revision>
  <dcterms:created xsi:type="dcterms:W3CDTF">2023-03-07T14:16:21Z</dcterms:created>
  <dcterms:modified xsi:type="dcterms:W3CDTF">2026-08-04T10:57:16Z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d258917-277f-42cd-a3cd-14c4e9ee58bc_Enabled">
    <vt:lpwstr>true</vt:lpwstr>
  </property>
  <property fmtid="{D5CDD505-2E9C-101B-9397-08002B2CF9AE}" pid="3" name="MSIP_Label_9d258917-277f-42cd-a3cd-14c4e9ee58bc_SetDate">
    <vt:lpwstr>2023-03-07T15:03:29Z</vt:lpwstr>
  </property>
  <property fmtid="{D5CDD505-2E9C-101B-9397-08002B2CF9AE}" pid="4" name="MSIP_Label_9d258917-277f-42cd-a3cd-14c4e9ee58bc_Method">
    <vt:lpwstr>Standard</vt:lpwstr>
  </property>
  <property fmtid="{D5CDD505-2E9C-101B-9397-08002B2CF9AE}" pid="5" name="MSIP_Label_9d258917-277f-42cd-a3cd-14c4e9ee58bc_Name">
    <vt:lpwstr>restricted</vt:lpwstr>
  </property>
  <property fmtid="{D5CDD505-2E9C-101B-9397-08002B2CF9AE}" pid="6" name="MSIP_Label_9d258917-277f-42cd-a3cd-14c4e9ee58bc_SiteId">
    <vt:lpwstr>38ae3bcd-9579-4fd4-adda-b42e1495d55a</vt:lpwstr>
  </property>
  <property fmtid="{D5CDD505-2E9C-101B-9397-08002B2CF9AE}" pid="7" name="MSIP_Label_9d258917-277f-42cd-a3cd-14c4e9ee58bc_ActionId">
    <vt:lpwstr>9fb5003f-2a29-4588-8f7a-2a5f9002a38d</vt:lpwstr>
  </property>
  <property fmtid="{D5CDD505-2E9C-101B-9397-08002B2CF9AE}" pid="8" name="MSIP_Label_9d258917-277f-42cd-a3cd-14c4e9ee58bc_ContentBits">
    <vt:lpwstr>0</vt:lpwstr>
  </property>
</Properties>
</file>